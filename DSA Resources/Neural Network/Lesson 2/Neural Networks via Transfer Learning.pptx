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12192000"/>
  <p:notesSz cx="6858000" cy="9144000"/>
  <p:embeddedFontLst>
    <p:embeddedFont>
      <p:font typeface="Inter SemiBold"/>
      <p:regular r:id="rId36"/>
      <p:bold r:id="rId37"/>
      <p:italic r:id="rId38"/>
      <p:boldItalic r:id="rId39"/>
    </p:embeddedFont>
    <p:embeddedFont>
      <p:font typeface="Playfair Display"/>
      <p:regular r:id="rId40"/>
      <p:bold r:id="rId41"/>
      <p:italic r:id="rId42"/>
      <p:boldItalic r:id="rId43"/>
    </p:embeddedFont>
    <p:embeddedFont>
      <p:font typeface="Inter"/>
      <p:regular r:id="rId44"/>
      <p:bold r:id="rId45"/>
      <p:italic r:id="rId46"/>
      <p:boldItalic r:id="rId47"/>
    </p:embeddedFont>
    <p:embeddedFont>
      <p:font typeface="Inter Medium"/>
      <p:regular r:id="rId48"/>
      <p:bold r:id="rId49"/>
      <p:italic r:id="rId50"/>
      <p:boldItalic r:id="rId51"/>
    </p:embeddedFont>
    <p:embeddedFont>
      <p:font typeface="Playfair Display SemiBold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layfairDisplay-regular.fntdata"/><Relationship Id="rId42" Type="http://schemas.openxmlformats.org/officeDocument/2006/relationships/font" Target="fonts/PlayfairDisplay-italic.fntdata"/><Relationship Id="rId41" Type="http://schemas.openxmlformats.org/officeDocument/2006/relationships/font" Target="fonts/PlayfairDisplay-bold.fntdata"/><Relationship Id="rId44" Type="http://schemas.openxmlformats.org/officeDocument/2006/relationships/font" Target="fonts/Inter-regular.fntdata"/><Relationship Id="rId43" Type="http://schemas.openxmlformats.org/officeDocument/2006/relationships/font" Target="fonts/PlayfairDisplay-boldItalic.fntdata"/><Relationship Id="rId46" Type="http://schemas.openxmlformats.org/officeDocument/2006/relationships/font" Target="fonts/Inter-italic.fntdata"/><Relationship Id="rId45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InterMedium-regular.fntdata"/><Relationship Id="rId47" Type="http://schemas.openxmlformats.org/officeDocument/2006/relationships/font" Target="fonts/Inter-boldItalic.fntdata"/><Relationship Id="rId49" Type="http://schemas.openxmlformats.org/officeDocument/2006/relationships/font" Target="fonts/Inter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font" Target="fonts/InterSemiBold-bold.fntdata"/><Relationship Id="rId36" Type="http://schemas.openxmlformats.org/officeDocument/2006/relationships/font" Target="fonts/InterSemiBold-regular.fntdata"/><Relationship Id="rId39" Type="http://schemas.openxmlformats.org/officeDocument/2006/relationships/font" Target="fonts/InterSemiBold-boldItalic.fntdata"/><Relationship Id="rId38" Type="http://schemas.openxmlformats.org/officeDocument/2006/relationships/font" Target="fonts/InterSemiBold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InterMedium-boldItalic.fntdata"/><Relationship Id="rId50" Type="http://schemas.openxmlformats.org/officeDocument/2006/relationships/font" Target="fonts/InterMedium-italic.fntdata"/><Relationship Id="rId53" Type="http://schemas.openxmlformats.org/officeDocument/2006/relationships/font" Target="fonts/PlayfairDisplaySemiBold-bold.fntdata"/><Relationship Id="rId52" Type="http://schemas.openxmlformats.org/officeDocument/2006/relationships/font" Target="fonts/PlayfairDisplaySemiBold-regular.fntdata"/><Relationship Id="rId11" Type="http://schemas.openxmlformats.org/officeDocument/2006/relationships/slide" Target="slides/slide6.xml"/><Relationship Id="rId55" Type="http://schemas.openxmlformats.org/officeDocument/2006/relationships/font" Target="fonts/PlayfairDisplaySemiBold-boldItalic.fntdata"/><Relationship Id="rId10" Type="http://schemas.openxmlformats.org/officeDocument/2006/relationships/slide" Target="slides/slide5.xml"/><Relationship Id="rId54" Type="http://schemas.openxmlformats.org/officeDocument/2006/relationships/font" Target="fonts/PlayfairDisplaySemiBold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14.png"/><Relationship Id="rId7" Type="http://schemas.openxmlformats.org/officeDocument/2006/relationships/image" Target="../media/image13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Relationship Id="rId6" Type="http://schemas.openxmlformats.org/officeDocument/2006/relationships/image" Target="../media/image6.png"/><Relationship Id="rId7" Type="http://schemas.openxmlformats.org/officeDocument/2006/relationships/image" Target="../media/image17.png"/><Relationship Id="rId8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image" Target="../media/image20.png"/><Relationship Id="rId6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Relationship Id="rId6" Type="http://schemas.openxmlformats.org/officeDocument/2006/relationships/image" Target="../media/image40.png"/><Relationship Id="rId7" Type="http://schemas.openxmlformats.org/officeDocument/2006/relationships/image" Target="../media/image39.png"/><Relationship Id="rId8" Type="http://schemas.openxmlformats.org/officeDocument/2006/relationships/image" Target="../media/image4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3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png"/><Relationship Id="rId4" Type="http://schemas.openxmlformats.org/officeDocument/2006/relationships/image" Target="../media/image33.png"/><Relationship Id="rId5" Type="http://schemas.openxmlformats.org/officeDocument/2006/relationships/image" Target="../media/image32.png"/><Relationship Id="rId6" Type="http://schemas.openxmlformats.org/officeDocument/2006/relationships/image" Target="../media/image38.png"/><Relationship Id="rId7" Type="http://schemas.openxmlformats.org/officeDocument/2006/relationships/image" Target="../media/image3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7.png"/><Relationship Id="rId4" Type="http://schemas.openxmlformats.org/officeDocument/2006/relationships/image" Target="../media/image44.png"/><Relationship Id="rId5" Type="http://schemas.openxmlformats.org/officeDocument/2006/relationships/image" Target="../media/image42.png"/><Relationship Id="rId6" Type="http://schemas.openxmlformats.org/officeDocument/2006/relationships/image" Target="../media/image46.png"/><Relationship Id="rId7" Type="http://schemas.openxmlformats.org/officeDocument/2006/relationships/image" Target="../media/image4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595412" y="2556301"/>
            <a:ext cx="9001200" cy="17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Neural Networks via Transfer Learning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1809750" y="4633763"/>
            <a:ext cx="857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/>
          <p:nvPr/>
        </p:nvSpPr>
        <p:spPr>
          <a:xfrm>
            <a:off x="5524500" y="2427982"/>
            <a:ext cx="1143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2630566" y="2866132"/>
            <a:ext cx="693086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Part 1: The Refresher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2286000" y="4018657"/>
            <a:ext cx="76200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quick look at standard Neural Network architectures before we transfer knowledge.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05012"/>
            <a:ext cx="3429000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005012"/>
            <a:ext cx="3429000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005012"/>
            <a:ext cx="3429000" cy="381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925829" y="3252787"/>
            <a:ext cx="272034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Neurons &amp; Layers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866775" y="3767137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fundamental units of computation. Arranged in Input, Hidden, and Output layers to process hierarchical representations of data.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4765833" y="3252787"/>
            <a:ext cx="266033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Weights &amp; Biases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4676775" y="3767137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learnable parameters. They dictate the strength of connections and shift activation thresholds to map inputs to accurate outputs.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035891" y="3252787"/>
            <a:ext cx="174021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Activations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486775" y="3767137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Non-linear functions (like ReLU, Sigmoid) that allow the network to learn complex, non-linear relationships in real-world data.</a:t>
            </a:r>
            <a:endParaRPr/>
          </a:p>
        </p:txBody>
      </p:sp>
      <p:pic>
        <p:nvPicPr>
          <p:cNvPr descr="image.png" id="106" name="Google Shape;10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28825" y="2443162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72150" y="2443162"/>
            <a:ext cx="6477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82162" y="2443162"/>
            <a:ext cx="447675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Core Components of NNs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914525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571500" y="1914525"/>
            <a:ext cx="5238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Training from scratch involves initializing weights randomly and updating them iteratively: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704850" y="2667000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809625" y="2667000"/>
            <a:ext cx="5000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Forward Pass:</a:t>
            </a: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Data flows through the network to generate a prediction.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704850" y="3448050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809625" y="3448050"/>
            <a:ext cx="5000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Loss Calculation:</a:t>
            </a: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The prediction is compared to the ground truth using a Loss Function.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704850" y="4229100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809625" y="4229100"/>
            <a:ext cx="5000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Backpropagation:</a:t>
            </a: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Gradients of the loss with respect to each weight are calculated backwards.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704850" y="5010150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809625" y="5010150"/>
            <a:ext cx="5000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Optimization:</a:t>
            </a: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Gradient Descent (e.g., Adam, SGD) updates the weights to minimize future loss.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14525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571500" y="571500"/>
            <a:ext cx="116016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Standard NNs Learn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/>
          <p:nvPr/>
        </p:nvSpPr>
        <p:spPr>
          <a:xfrm>
            <a:off x="571500" y="1957387"/>
            <a:ext cx="52387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10M+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571500" y="3576637"/>
            <a:ext cx="5238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Typical Parameter Count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6381750" y="1957387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Why Starting Over is Expensive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6381750" y="247173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Modern architectures like ResNet, VGG, or Transformers contain tens to hundreds of millions of parameters. Training them from absolute zero requires: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6467475" y="35290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6572250" y="35290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Massive, annotated datasets (e.g., ImageNet with 1.2M+ images).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467475" y="43100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6572250" y="43100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Weeks of continuous training on high-end GPU clusters.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6467475" y="50911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6572250" y="50911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High risk of overfitting if the dataset isn't perfectly balanced and exceptionally large.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Cost of Training from Scratch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3C5FD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/>
          <p:nvPr/>
        </p:nvSpPr>
        <p:spPr>
          <a:xfrm>
            <a:off x="5524500" y="2626072"/>
            <a:ext cx="1143000" cy="5715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915352" y="3064222"/>
            <a:ext cx="103612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Part 2: Enter Transfer Learning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2300287" y="4216747"/>
            <a:ext cx="75914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Leveraging existing knowledge to solve new problems efficiently.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/>
        </p:nvSpPr>
        <p:spPr>
          <a:xfrm>
            <a:off x="1971675" y="2496591"/>
            <a:ext cx="8248650" cy="2160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0F172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Transfer learning will be the next driver of ML commercial success after supervised learning.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3638550" y="5037683"/>
            <a:ext cx="49149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— Andrew Ng, Machine Learning Pioneer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1209675" y="2877591"/>
            <a:ext cx="542032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10440295" y="4561430"/>
            <a:ext cx="542032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 Paradigm Shift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938337"/>
            <a:ext cx="5238750" cy="395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38337"/>
            <a:ext cx="5238750" cy="395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/>
        </p:nvSpPr>
        <p:spPr>
          <a:xfrm>
            <a:off x="850582" y="2424112"/>
            <a:ext cx="468058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Traditional Machine Learning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962025" y="2938462"/>
            <a:ext cx="4457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Learning is completely isolated. A model trained to recognize cars starts with zero knowledge when asked to recognize trucks. It requires a massive new dataset and full retraining from a random state.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962025" y="4652962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Result: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High data dependency, high compute cost, slower deployment cycles.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6660832" y="2424112"/>
            <a:ext cx="468058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Transfer Learning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6772275" y="2938462"/>
            <a:ext cx="4457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Knowledge is retained. A model trained on millions of generic images already understands edges, shapes, and textures. We transfer this "world view" to a new, specific task (like medical scans).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6772275" y="4652962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Result: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Less data needed, faster convergence, higher accuracy on small datasets.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Traditional ML vs. Transfer Learning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914525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1"/>
          <p:cNvSpPr txBox="1"/>
          <p:nvPr/>
        </p:nvSpPr>
        <p:spPr>
          <a:xfrm>
            <a:off x="571500" y="191452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Transfer learning mimics human learning. If you know how to ride a bicycle, learning to ride a motorcycle is much easier than starting from scratch.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704850" y="29718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809625" y="297180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 take a model trained on a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 Task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(e.g., general object recognition).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704850" y="37528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809625" y="3752850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 extract its learned weights and architecture.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704850" y="42291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809625" y="422910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 apply it to our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Target Task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(e.g., identifying specific dog breeds).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704850" y="50101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809625" y="501015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model already knows how to "see"; it just needs to learn the new specific classes.</a:t>
            </a:r>
            <a:endParaRPr/>
          </a:p>
        </p:txBody>
      </p:sp>
      <p:pic>
        <p:nvPicPr>
          <p:cNvPr descr="image.png" id="184" name="Google Shape;18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14525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Intuition Behind the Transfer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/>
          <p:nvPr/>
        </p:nvSpPr>
        <p:spPr>
          <a:xfrm>
            <a:off x="5524500" y="2427982"/>
            <a:ext cx="1143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2515552" y="2866132"/>
            <a:ext cx="71608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Part 3: Core Concepts</a:t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2286000" y="4018657"/>
            <a:ext cx="76200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Understanding the vocabulary and mechanisms of knowledge transfer.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00212"/>
            <a:ext cx="3429000" cy="442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1700212"/>
            <a:ext cx="3429000" cy="442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1700212"/>
            <a:ext cx="3429000" cy="442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3"/>
          <p:cNvSpPr txBox="1"/>
          <p:nvPr/>
        </p:nvSpPr>
        <p:spPr>
          <a:xfrm>
            <a:off x="1110853" y="2947987"/>
            <a:ext cx="235029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0A5F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Source Domain</a:t>
            </a:r>
            <a:endParaRPr/>
          </a:p>
        </p:txBody>
      </p:sp>
      <p:sp>
        <p:nvSpPr>
          <p:cNvPr id="201" name="Google Shape;201;p23"/>
          <p:cNvSpPr txBox="1"/>
          <p:nvPr/>
        </p:nvSpPr>
        <p:spPr>
          <a:xfrm>
            <a:off x="866775" y="3462337"/>
            <a:ext cx="28386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 original environment where the model was initially trained. Typically characterized by massive datasets (e.g., Wikipedia for NLP, ImageNet for Vision) and vast compute resources.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4975860" y="2947987"/>
            <a:ext cx="224028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0A5F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Target Domain</a:t>
            </a:r>
            <a:endParaRPr/>
          </a:p>
        </p:txBody>
      </p:sp>
      <p:sp>
        <p:nvSpPr>
          <p:cNvPr id="203" name="Google Shape;203;p23"/>
          <p:cNvSpPr txBox="1"/>
          <p:nvPr/>
        </p:nvSpPr>
        <p:spPr>
          <a:xfrm>
            <a:off x="4676775" y="3462337"/>
            <a:ext cx="28386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Your specific problem space. This domain usually has far less labeled data available and requires specialized classification based on the general features learned from the Source Domain.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9005887" y="2947987"/>
            <a:ext cx="18002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0A5F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Base Model</a:t>
            </a:r>
            <a:endParaRPr/>
          </a:p>
        </p:txBody>
      </p:sp>
      <p:sp>
        <p:nvSpPr>
          <p:cNvPr id="205" name="Google Shape;205;p23"/>
          <p:cNvSpPr txBox="1"/>
          <p:nvPr/>
        </p:nvSpPr>
        <p:spPr>
          <a:xfrm>
            <a:off x="8486775" y="3462337"/>
            <a:ext cx="28386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 pre-trained architecture (e.g., ResNet50, BERT). We usually strip away its final classification layer and replace it with a new one suited for the Target Domain.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image.png" id="206" name="Google Shape;20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62162" y="2138362"/>
            <a:ext cx="44767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38825" y="2138362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15487" y="2138362"/>
            <a:ext cx="581025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3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Key Terminology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43050"/>
            <a:ext cx="1104900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4"/>
          <p:cNvSpPr txBox="1"/>
          <p:nvPr/>
        </p:nvSpPr>
        <p:spPr>
          <a:xfrm>
            <a:off x="1123950" y="4276725"/>
            <a:ext cx="9944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Transfer learning allows models to start closer to the global minimum of the loss function, drastically reducing the number of epochs required to achieve high accuracy.</a:t>
            </a:r>
            <a:endParaRPr/>
          </a:p>
        </p:txBody>
      </p:sp>
      <p:sp>
        <p:nvSpPr>
          <p:cNvPr id="216" name="Google Shape;216;p24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Time to Convergence: Scratch vs Transfer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685925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5"/>
          <p:cNvSpPr txBox="1"/>
          <p:nvPr/>
        </p:nvSpPr>
        <p:spPr>
          <a:xfrm>
            <a:off x="571500" y="168592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 Deep Convolutional Neural Networks (CNNs), layers learn hierarchical features:</a:t>
            </a:r>
            <a:endParaRPr/>
          </a:p>
        </p:txBody>
      </p:sp>
      <p:sp>
        <p:nvSpPr>
          <p:cNvPr id="223" name="Google Shape;223;p25"/>
          <p:cNvSpPr txBox="1"/>
          <p:nvPr/>
        </p:nvSpPr>
        <p:spPr>
          <a:xfrm>
            <a:off x="571500" y="539115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Transfer learning capitalizes heavily on reusing those robust early and middle layer feature extractors.</a:t>
            </a:r>
            <a:endParaRPr/>
          </a:p>
        </p:txBody>
      </p:sp>
      <p:sp>
        <p:nvSpPr>
          <p:cNvPr id="224" name="Google Shape;224;p25"/>
          <p:cNvSpPr txBox="1"/>
          <p:nvPr/>
        </p:nvSpPr>
        <p:spPr>
          <a:xfrm>
            <a:off x="704850" y="24384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5" name="Google Shape;225;p25"/>
          <p:cNvSpPr txBox="1"/>
          <p:nvPr/>
        </p:nvSpPr>
        <p:spPr>
          <a:xfrm>
            <a:off x="809625" y="2438400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Early Layers: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Learn generic, low-level features like edges, gradients, and basic color blobs. (Highly transferable).</a:t>
            </a:r>
            <a:endParaRPr/>
          </a:p>
        </p:txBody>
      </p:sp>
      <p:sp>
        <p:nvSpPr>
          <p:cNvPr id="226" name="Google Shape;226;p25"/>
          <p:cNvSpPr txBox="1"/>
          <p:nvPr/>
        </p:nvSpPr>
        <p:spPr>
          <a:xfrm>
            <a:off x="704850" y="35242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7" name="Google Shape;227;p25"/>
          <p:cNvSpPr txBox="1"/>
          <p:nvPr/>
        </p:nvSpPr>
        <p:spPr>
          <a:xfrm>
            <a:off x="809625" y="352425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Middle Layers: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Combine edges into basic shapes, patterns, and textures.</a:t>
            </a:r>
            <a:endParaRPr/>
          </a:p>
        </p:txBody>
      </p:sp>
      <p:sp>
        <p:nvSpPr>
          <p:cNvPr id="228" name="Google Shape;228;p25"/>
          <p:cNvSpPr txBox="1"/>
          <p:nvPr/>
        </p:nvSpPr>
        <p:spPr>
          <a:xfrm>
            <a:off x="704850" y="43053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9" name="Google Shape;229;p25"/>
          <p:cNvSpPr txBox="1"/>
          <p:nvPr/>
        </p:nvSpPr>
        <p:spPr>
          <a:xfrm>
            <a:off x="809625" y="4305300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Deep Layers: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Learn highly task-specific features (e.g., dog faces, car wheels). (Less transferable to vastly different tasks).</a:t>
            </a:r>
            <a:endParaRPr/>
          </a:p>
        </p:txBody>
      </p:sp>
      <p:pic>
        <p:nvPicPr>
          <p:cNvPr descr="image.png" id="230" name="Google Shape;23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685925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Exactly is Transferred?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"/>
          <p:cNvSpPr txBox="1"/>
          <p:nvPr/>
        </p:nvSpPr>
        <p:spPr>
          <a:xfrm>
            <a:off x="2047875" y="2219325"/>
            <a:ext cx="8572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Limited Target Data:</a:t>
            </a: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You have only hundreds or thousands of labeled examples, making training from scratch prone to severe overfitting.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7" name="Google Shape;237;p26"/>
          <p:cNvSpPr txBox="1"/>
          <p:nvPr/>
        </p:nvSpPr>
        <p:spPr>
          <a:xfrm>
            <a:off x="2047875" y="3067050"/>
            <a:ext cx="8572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Compute Constraints:</a:t>
            </a: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You lack the GPU clusters or time budget required to train a deep network over weeks.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8" name="Google Shape;238;p26"/>
          <p:cNvSpPr txBox="1"/>
          <p:nvPr/>
        </p:nvSpPr>
        <p:spPr>
          <a:xfrm>
            <a:off x="2047875" y="3914775"/>
            <a:ext cx="8572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Similar Domains:</a:t>
            </a: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The source task and target task share underlying data modalities (e.g., transferring from standard photography to satellite imagery).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9" name="Google Shape;239;p26"/>
          <p:cNvSpPr txBox="1"/>
          <p:nvPr/>
        </p:nvSpPr>
        <p:spPr>
          <a:xfrm>
            <a:off x="2047875" y="4762500"/>
            <a:ext cx="8572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When NOT to use:</a:t>
            </a: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If your target domain is fundamentally completely different from the source domain (e.g., transferring from audio processing to medical image analysis).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image.png" id="240" name="Google Shape;24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1625" y="2233612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1625" y="3081337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1625" y="3929062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1625" y="4776787"/>
            <a:ext cx="2095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6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When to Use Transfer Learning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0" y="1433512"/>
            <a:ext cx="342900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1500" y="1433512"/>
            <a:ext cx="3429000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7"/>
          <p:cNvSpPr txBox="1"/>
          <p:nvPr/>
        </p:nvSpPr>
        <p:spPr>
          <a:xfrm>
            <a:off x="485775" y="4148137"/>
            <a:ext cx="36004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ResNet (Residual Networks)</a:t>
            </a:r>
            <a:endParaRPr/>
          </a:p>
        </p:txBody>
      </p:sp>
      <p:sp>
        <p:nvSpPr>
          <p:cNvPr id="252" name="Google Shape;252;p27"/>
          <p:cNvSpPr txBox="1"/>
          <p:nvPr/>
        </p:nvSpPr>
        <p:spPr>
          <a:xfrm>
            <a:off x="571500" y="5033962"/>
            <a:ext cx="3429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Introduced skip connections to solve the vanishing gradient problem. The standard for robust image feature extraction.</a:t>
            </a:r>
            <a:endParaRPr/>
          </a:p>
        </p:txBody>
      </p:sp>
      <p:sp>
        <p:nvSpPr>
          <p:cNvPr id="253" name="Google Shape;253;p27"/>
          <p:cNvSpPr txBox="1"/>
          <p:nvPr/>
        </p:nvSpPr>
        <p:spPr>
          <a:xfrm>
            <a:off x="4295775" y="4148137"/>
            <a:ext cx="36004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VGG Series</a:t>
            </a:r>
            <a:endParaRPr/>
          </a:p>
        </p:txBody>
      </p:sp>
      <p:sp>
        <p:nvSpPr>
          <p:cNvPr id="254" name="Google Shape;254;p27"/>
          <p:cNvSpPr txBox="1"/>
          <p:nvPr/>
        </p:nvSpPr>
        <p:spPr>
          <a:xfrm>
            <a:off x="4381500" y="4662487"/>
            <a:ext cx="3429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Known for its elegant, uniform architecture using 3x3 convolutions. Excellent for extracting stylistic features.</a:t>
            </a:r>
            <a:endParaRPr/>
          </a:p>
        </p:txBody>
      </p:sp>
      <p:sp>
        <p:nvSpPr>
          <p:cNvPr id="255" name="Google Shape;255;p27"/>
          <p:cNvSpPr txBox="1"/>
          <p:nvPr/>
        </p:nvSpPr>
        <p:spPr>
          <a:xfrm>
            <a:off x="8105775" y="4148137"/>
            <a:ext cx="36004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Transformers (BERT/GPT)</a:t>
            </a:r>
            <a:endParaRPr/>
          </a:p>
        </p:txBody>
      </p:sp>
      <p:sp>
        <p:nvSpPr>
          <p:cNvPr id="256" name="Google Shape;256;p27"/>
          <p:cNvSpPr txBox="1"/>
          <p:nvPr/>
        </p:nvSpPr>
        <p:spPr>
          <a:xfrm>
            <a:off x="8191500" y="5033962"/>
            <a:ext cx="3429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Revolutionized NLP. Pre-trained on massive text corpora, they provide deep contextual understanding for language tasks.</a:t>
            </a:r>
            <a:endParaRPr/>
          </a:p>
        </p:txBody>
      </p:sp>
      <p:pic>
        <p:nvPicPr>
          <p:cNvPr descr="image.png" id="257" name="Google Shape;25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1433512"/>
            <a:ext cx="342900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1433512"/>
            <a:ext cx="3429000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7"/>
          <p:cNvSpPr txBox="1"/>
          <p:nvPr/>
        </p:nvSpPr>
        <p:spPr>
          <a:xfrm>
            <a:off x="571500" y="461962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Titans of Transfer Learning</a:t>
            </a:r>
            <a:endParaRPr/>
          </a:p>
        </p:txBody>
      </p:sp>
      <p:pic>
        <p:nvPicPr>
          <p:cNvPr id="260" name="Google Shape;260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0763" y="1690687"/>
            <a:ext cx="3170464" cy="221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8A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"/>
          <p:cNvSpPr/>
          <p:nvPr/>
        </p:nvSpPr>
        <p:spPr>
          <a:xfrm>
            <a:off x="5524500" y="2626072"/>
            <a:ext cx="1143000" cy="5715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8"/>
          <p:cNvSpPr txBox="1"/>
          <p:nvPr/>
        </p:nvSpPr>
        <p:spPr>
          <a:xfrm>
            <a:off x="540305" y="3064222"/>
            <a:ext cx="1111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Part 4: Implementation Strategies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7" name="Google Shape;267;p28"/>
          <p:cNvSpPr txBox="1"/>
          <p:nvPr/>
        </p:nvSpPr>
        <p:spPr>
          <a:xfrm>
            <a:off x="3205162" y="4216747"/>
            <a:ext cx="5781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How do we actually perform the transfer in code?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2" name="Google Shape;27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14500"/>
            <a:ext cx="5238750" cy="440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14500"/>
            <a:ext cx="5238750" cy="440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9"/>
          <p:cNvSpPr txBox="1"/>
          <p:nvPr/>
        </p:nvSpPr>
        <p:spPr>
          <a:xfrm>
            <a:off x="850582" y="2200275"/>
            <a:ext cx="468058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Feature Extraction</a:t>
            </a:r>
            <a:endParaRPr/>
          </a:p>
        </p:txBody>
      </p:sp>
      <p:sp>
        <p:nvSpPr>
          <p:cNvPr id="275" name="Google Shape;275;p29"/>
          <p:cNvSpPr txBox="1"/>
          <p:nvPr/>
        </p:nvSpPr>
        <p:spPr>
          <a:xfrm>
            <a:off x="962025" y="2714625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pre-trained model is treated as a static feature extractor. We freeze all the weights of the convolutional base.</a:t>
            </a:r>
            <a:endParaRPr/>
          </a:p>
        </p:txBody>
      </p:sp>
      <p:sp>
        <p:nvSpPr>
          <p:cNvPr id="276" name="Google Shape;276;p29"/>
          <p:cNvSpPr txBox="1"/>
          <p:nvPr/>
        </p:nvSpPr>
        <p:spPr>
          <a:xfrm>
            <a:off x="962025" y="3771900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 only add a new, untrained dense (fully connected) layer at the top and train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only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those new weights.</a:t>
            </a:r>
            <a:endParaRPr/>
          </a:p>
        </p:txBody>
      </p:sp>
      <p:sp>
        <p:nvSpPr>
          <p:cNvPr id="277" name="Google Shape;277;p29"/>
          <p:cNvSpPr txBox="1"/>
          <p:nvPr/>
        </p:nvSpPr>
        <p:spPr>
          <a:xfrm>
            <a:off x="962025" y="4876800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Best when: Target dataset is very small.</a:t>
            </a:r>
            <a:endParaRPr/>
          </a:p>
        </p:txBody>
      </p:sp>
      <p:sp>
        <p:nvSpPr>
          <p:cNvPr id="278" name="Google Shape;278;p29"/>
          <p:cNvSpPr txBox="1"/>
          <p:nvPr/>
        </p:nvSpPr>
        <p:spPr>
          <a:xfrm>
            <a:off x="6660832" y="2200275"/>
            <a:ext cx="468058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Fine-Tuning</a:t>
            </a:r>
            <a:endParaRPr/>
          </a:p>
        </p:txBody>
      </p:sp>
      <p:sp>
        <p:nvSpPr>
          <p:cNvPr id="279" name="Google Shape;279;p29"/>
          <p:cNvSpPr txBox="1"/>
          <p:nvPr/>
        </p:nvSpPr>
        <p:spPr>
          <a:xfrm>
            <a:off x="6772275" y="2714625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 unfreeze some (or all) of the top layers of the pre-trained base and jointly train both the newly added classifier and the unfreezed base layers.</a:t>
            </a:r>
            <a:endParaRPr/>
          </a:p>
        </p:txBody>
      </p:sp>
      <p:sp>
        <p:nvSpPr>
          <p:cNvPr id="280" name="Google Shape;280;p29"/>
          <p:cNvSpPr txBox="1"/>
          <p:nvPr/>
        </p:nvSpPr>
        <p:spPr>
          <a:xfrm>
            <a:off x="6772275" y="4076700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This allows the model to adjust its higher-order feature representations specifically for the new task.</a:t>
            </a:r>
            <a:endParaRPr/>
          </a:p>
        </p:txBody>
      </p:sp>
      <p:sp>
        <p:nvSpPr>
          <p:cNvPr id="281" name="Google Shape;281;p29"/>
          <p:cNvSpPr txBox="1"/>
          <p:nvPr/>
        </p:nvSpPr>
        <p:spPr>
          <a:xfrm>
            <a:off x="6772275" y="5181600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Best when: Target dataset is large and similar.</a:t>
            </a:r>
            <a:endParaRPr/>
          </a:p>
        </p:txBody>
      </p:sp>
      <p:sp>
        <p:nvSpPr>
          <p:cNvPr id="282" name="Google Shape;282;p29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Two Main Approaches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7" name="Google Shape;28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828800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0"/>
          <p:cNvSpPr txBox="1"/>
          <p:nvPr/>
        </p:nvSpPr>
        <p:spPr>
          <a:xfrm>
            <a:off x="571500" y="1828800"/>
            <a:ext cx="5238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 this strategy, the base network's weights are "frozen" (layer.trainable = False).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9" name="Google Shape;289;p30"/>
          <p:cNvSpPr txBox="1"/>
          <p:nvPr/>
        </p:nvSpPr>
        <p:spPr>
          <a:xfrm>
            <a:off x="571500" y="5248275"/>
            <a:ext cx="5238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It prevents overfitting on small datasets because the powerful base cannot memorize the new data.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0" name="Google Shape;290;p30"/>
          <p:cNvSpPr txBox="1"/>
          <p:nvPr/>
        </p:nvSpPr>
        <p:spPr>
          <a:xfrm>
            <a:off x="704850" y="25812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1" name="Google Shape;291;p30"/>
          <p:cNvSpPr txBox="1"/>
          <p:nvPr/>
        </p:nvSpPr>
        <p:spPr>
          <a:xfrm>
            <a:off x="809625" y="2581275"/>
            <a:ext cx="50007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 frozen base acts as an incredibly complex, non-linear function that turns raw pixels into a dense vector (features).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2" name="Google Shape;292;p30"/>
          <p:cNvSpPr txBox="1"/>
          <p:nvPr/>
        </p:nvSpPr>
        <p:spPr>
          <a:xfrm>
            <a:off x="704850" y="36671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809625" y="3667125"/>
            <a:ext cx="5000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These features are passed to a newly initialized dense layer.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704850" y="44481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5" name="Google Shape;295;p30"/>
          <p:cNvSpPr txBox="1"/>
          <p:nvPr/>
        </p:nvSpPr>
        <p:spPr>
          <a:xfrm>
            <a:off x="809625" y="4448175"/>
            <a:ext cx="5000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Because the massive base isn't updating, training is remarkably fast and requires minimal VRAM.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image.png" id="296" name="Google Shape;29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28800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0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Deep Dive: Feature Extraction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1"/>
          <p:cNvSpPr txBox="1"/>
          <p:nvPr/>
        </p:nvSpPr>
        <p:spPr>
          <a:xfrm>
            <a:off x="571500" y="2138362"/>
            <a:ext cx="52387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Size</a:t>
            </a:r>
            <a:endParaRPr/>
          </a:p>
        </p:txBody>
      </p:sp>
      <p:sp>
        <p:nvSpPr>
          <p:cNvPr id="303" name="Google Shape;303;p31"/>
          <p:cNvSpPr txBox="1"/>
          <p:nvPr/>
        </p:nvSpPr>
        <p:spPr>
          <a:xfrm>
            <a:off x="571500" y="3757612"/>
            <a:ext cx="5238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vs. Similarity</a:t>
            </a:r>
            <a:endParaRPr/>
          </a:p>
        </p:txBody>
      </p:sp>
      <p:sp>
        <p:nvSpPr>
          <p:cNvPr id="304" name="Google Shape;304;p31"/>
          <p:cNvSpPr txBox="1"/>
          <p:nvPr/>
        </p:nvSpPr>
        <p:spPr>
          <a:xfrm>
            <a:off x="6381750" y="2138362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How to choose your strategy:</a:t>
            </a:r>
            <a:endParaRPr/>
          </a:p>
        </p:txBody>
      </p:sp>
      <p:sp>
        <p:nvSpPr>
          <p:cNvPr id="305" name="Google Shape;305;p31"/>
          <p:cNvSpPr txBox="1"/>
          <p:nvPr/>
        </p:nvSpPr>
        <p:spPr>
          <a:xfrm>
            <a:off x="6467475" y="26527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6" name="Google Shape;306;p31"/>
          <p:cNvSpPr txBox="1"/>
          <p:nvPr/>
        </p:nvSpPr>
        <p:spPr>
          <a:xfrm>
            <a:off x="6572250" y="26527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Small Data, Similar Task: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Feature Extraction. Target data is too small to fine-tune without overfitting.</a:t>
            </a:r>
            <a:endParaRPr/>
          </a:p>
        </p:txBody>
      </p:sp>
      <p:sp>
        <p:nvSpPr>
          <p:cNvPr id="307" name="Google Shape;307;p31"/>
          <p:cNvSpPr txBox="1"/>
          <p:nvPr/>
        </p:nvSpPr>
        <p:spPr>
          <a:xfrm>
            <a:off x="6467475" y="340518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8" name="Google Shape;308;p31"/>
          <p:cNvSpPr txBox="1"/>
          <p:nvPr/>
        </p:nvSpPr>
        <p:spPr>
          <a:xfrm>
            <a:off x="6572250" y="340518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Large Data, Similar Task: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Fine-Tuning. Enough data to adjust weights without overfitting.</a:t>
            </a:r>
            <a:endParaRPr/>
          </a:p>
        </p:txBody>
      </p:sp>
      <p:sp>
        <p:nvSpPr>
          <p:cNvPr id="309" name="Google Shape;309;p31"/>
          <p:cNvSpPr txBox="1"/>
          <p:nvPr/>
        </p:nvSpPr>
        <p:spPr>
          <a:xfrm>
            <a:off x="6467475" y="41576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0" name="Google Shape;310;p31"/>
          <p:cNvSpPr txBox="1"/>
          <p:nvPr/>
        </p:nvSpPr>
        <p:spPr>
          <a:xfrm>
            <a:off x="6572250" y="41576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Small Data, Different Task: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Hardest scenario. Extract features from earlier layers (not deep layers).</a:t>
            </a:r>
            <a:endParaRPr/>
          </a:p>
        </p:txBody>
      </p:sp>
      <p:sp>
        <p:nvSpPr>
          <p:cNvPr id="311" name="Google Shape;311;p31"/>
          <p:cNvSpPr txBox="1"/>
          <p:nvPr/>
        </p:nvSpPr>
        <p:spPr>
          <a:xfrm>
            <a:off x="6467475" y="49101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2" name="Google Shape;312;p31"/>
          <p:cNvSpPr txBox="1"/>
          <p:nvPr/>
        </p:nvSpPr>
        <p:spPr>
          <a:xfrm>
            <a:off x="6572250" y="491013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Large Data, Different Task: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Fine-tune across the entire network, or train from scratch.</a:t>
            </a:r>
            <a:endParaRPr/>
          </a:p>
        </p:txBody>
      </p:sp>
      <p:sp>
        <p:nvSpPr>
          <p:cNvPr id="313" name="Google Shape;313;p31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Decision Matrix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2"/>
          <p:cNvSpPr/>
          <p:nvPr/>
        </p:nvSpPr>
        <p:spPr>
          <a:xfrm>
            <a:off x="5524500" y="2626072"/>
            <a:ext cx="1143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2"/>
          <p:cNvSpPr txBox="1"/>
          <p:nvPr/>
        </p:nvSpPr>
        <p:spPr>
          <a:xfrm>
            <a:off x="3910726" y="3064222"/>
            <a:ext cx="437054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Lab Session 1</a:t>
            </a:r>
            <a:endParaRPr/>
          </a:p>
        </p:txBody>
      </p:sp>
      <p:sp>
        <p:nvSpPr>
          <p:cNvPr id="320" name="Google Shape;320;p32"/>
          <p:cNvSpPr txBox="1"/>
          <p:nvPr/>
        </p:nvSpPr>
        <p:spPr>
          <a:xfrm>
            <a:off x="3819525" y="4216747"/>
            <a:ext cx="4552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Applying Feature Extraction in Practice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/>
          <p:cNvSpPr txBox="1"/>
          <p:nvPr/>
        </p:nvSpPr>
        <p:spPr>
          <a:xfrm>
            <a:off x="1595437" y="2379315"/>
            <a:ext cx="90012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Lab 1: Image Classification via Feature Extraction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4"/>
          <p:cNvSpPr/>
          <p:nvPr/>
        </p:nvSpPr>
        <p:spPr>
          <a:xfrm>
            <a:off x="5524500" y="2626072"/>
            <a:ext cx="1143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4"/>
          <p:cNvSpPr txBox="1"/>
          <p:nvPr/>
        </p:nvSpPr>
        <p:spPr>
          <a:xfrm>
            <a:off x="330279" y="3064222"/>
            <a:ext cx="11531441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Part 5: Deep Dive into Fine-Tuning</a:t>
            </a:r>
            <a:endParaRPr/>
          </a:p>
        </p:txBody>
      </p:sp>
      <p:sp>
        <p:nvSpPr>
          <p:cNvPr id="332" name="Google Shape;332;p34"/>
          <p:cNvSpPr txBox="1"/>
          <p:nvPr/>
        </p:nvSpPr>
        <p:spPr>
          <a:xfrm>
            <a:off x="3195637" y="4216747"/>
            <a:ext cx="58007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Unlocking the full potential of pre-trained models.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7" name="Google Shape;3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19275"/>
            <a:ext cx="3429000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1819275"/>
            <a:ext cx="3429000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1819275"/>
            <a:ext cx="3429000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5"/>
          <p:cNvSpPr txBox="1"/>
          <p:nvPr/>
        </p:nvSpPr>
        <p:spPr>
          <a:xfrm>
            <a:off x="795813" y="3067050"/>
            <a:ext cx="2980372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Micro Learning Rates</a:t>
            </a:r>
            <a:endParaRPr/>
          </a:p>
        </p:txBody>
      </p:sp>
      <p:sp>
        <p:nvSpPr>
          <p:cNvPr id="341" name="Google Shape;341;p35"/>
          <p:cNvSpPr txBox="1"/>
          <p:nvPr/>
        </p:nvSpPr>
        <p:spPr>
          <a:xfrm>
            <a:off x="866775" y="3952875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Use an extremely small learning rate (e.g., 1e-5). Large weight updates will destroy the carefully learned features of the pre-trained base.</a:t>
            </a:r>
            <a:endParaRPr/>
          </a:p>
        </p:txBody>
      </p:sp>
      <p:sp>
        <p:nvSpPr>
          <p:cNvPr id="342" name="Google Shape;342;p35"/>
          <p:cNvSpPr txBox="1"/>
          <p:nvPr/>
        </p:nvSpPr>
        <p:spPr>
          <a:xfrm>
            <a:off x="4605813" y="3067050"/>
            <a:ext cx="2980372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Top-Down Unfreezing</a:t>
            </a:r>
            <a:endParaRPr/>
          </a:p>
        </p:txBody>
      </p:sp>
      <p:sp>
        <p:nvSpPr>
          <p:cNvPr id="343" name="Google Shape;343;p35"/>
          <p:cNvSpPr txBox="1"/>
          <p:nvPr/>
        </p:nvSpPr>
        <p:spPr>
          <a:xfrm>
            <a:off x="4676775" y="3952875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Only unfreeze the top few layers first. Earlier layers contain generic features you likely want to keep static.</a:t>
            </a:r>
            <a:endParaRPr/>
          </a:p>
        </p:txBody>
      </p:sp>
      <p:sp>
        <p:nvSpPr>
          <p:cNvPr id="344" name="Google Shape;344;p35"/>
          <p:cNvSpPr txBox="1"/>
          <p:nvPr/>
        </p:nvSpPr>
        <p:spPr>
          <a:xfrm>
            <a:off x="8655843" y="3067050"/>
            <a:ext cx="250031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Warm-up Phase</a:t>
            </a:r>
            <a:endParaRPr/>
          </a:p>
        </p:txBody>
      </p:sp>
      <p:sp>
        <p:nvSpPr>
          <p:cNvPr id="345" name="Google Shape;345;p35"/>
          <p:cNvSpPr txBox="1"/>
          <p:nvPr/>
        </p:nvSpPr>
        <p:spPr>
          <a:xfrm>
            <a:off x="8486775" y="3581400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Always train the new classifier head (Feature Extraction) fully BEFORE unfreezing the base layers for fine-tuning.</a:t>
            </a:r>
            <a:endParaRPr/>
          </a:p>
        </p:txBody>
      </p:sp>
      <p:pic>
        <p:nvPicPr>
          <p:cNvPr descr="image.png" id="346" name="Google Shape;346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28825" y="2257425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05487" y="2257425"/>
            <a:ext cx="58102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48825" y="2257425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5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Fine-Tuning Best Practices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4" name="Google Shape;35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12689"/>
            <a:ext cx="11049000" cy="480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6"/>
          <p:cNvSpPr txBox="1"/>
          <p:nvPr/>
        </p:nvSpPr>
        <p:spPr>
          <a:xfrm>
            <a:off x="1123950" y="5564534"/>
            <a:ext cx="9944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Solid Blue: Transfer Learning starts with high accuracy and converges rapidly. Dashed Green: Training from scratch requires many epochs to catch up.</a:t>
            </a:r>
            <a:endParaRPr/>
          </a:p>
        </p:txBody>
      </p:sp>
      <p:sp>
        <p:nvSpPr>
          <p:cNvPr id="356" name="Google Shape;356;p36"/>
          <p:cNvSpPr txBox="1"/>
          <p:nvPr/>
        </p:nvSpPr>
        <p:spPr>
          <a:xfrm>
            <a:off x="571500" y="541139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Validation Accuracy over Epochs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1" name="Google Shape;36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914525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7"/>
          <p:cNvSpPr txBox="1"/>
          <p:nvPr/>
        </p:nvSpPr>
        <p:spPr>
          <a:xfrm>
            <a:off x="571500" y="191452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When fine-tuning, the model attempts to minimize loss on the new dataset. If not controlled, it will aggressively overwrite the weights in the pre-trained base.</a:t>
            </a:r>
            <a:endParaRPr/>
          </a:p>
        </p:txBody>
      </p:sp>
      <p:sp>
        <p:nvSpPr>
          <p:cNvPr id="363" name="Google Shape;363;p37"/>
          <p:cNvSpPr txBox="1"/>
          <p:nvPr/>
        </p:nvSpPr>
        <p:spPr>
          <a:xfrm>
            <a:off x="704850" y="29718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4" name="Google Shape;364;p37"/>
          <p:cNvSpPr txBox="1"/>
          <p:nvPr/>
        </p:nvSpPr>
        <p:spPr>
          <a:xfrm>
            <a:off x="809625" y="297180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model "forgets" the generalized knowledge it previously had.</a:t>
            </a:r>
            <a:endParaRPr/>
          </a:p>
        </p:txBody>
      </p:sp>
      <p:sp>
        <p:nvSpPr>
          <p:cNvPr id="365" name="Google Shape;365;p37"/>
          <p:cNvSpPr txBox="1"/>
          <p:nvPr/>
        </p:nvSpPr>
        <p:spPr>
          <a:xfrm>
            <a:off x="704850" y="37528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6" name="Google Shape;366;p37"/>
          <p:cNvSpPr txBox="1"/>
          <p:nvPr/>
        </p:nvSpPr>
        <p:spPr>
          <a:xfrm>
            <a:off x="809625" y="3752850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This leads to rapid overfitting on the target dataset.</a:t>
            </a:r>
            <a:endParaRPr/>
          </a:p>
        </p:txBody>
      </p:sp>
      <p:sp>
        <p:nvSpPr>
          <p:cNvPr id="367" name="Google Shape;367;p37"/>
          <p:cNvSpPr txBox="1"/>
          <p:nvPr/>
        </p:nvSpPr>
        <p:spPr>
          <a:xfrm>
            <a:off x="704850" y="42291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8" name="Google Shape;368;p37"/>
          <p:cNvSpPr txBox="1"/>
          <p:nvPr/>
        </p:nvSpPr>
        <p:spPr>
          <a:xfrm>
            <a:off x="809625" y="422910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It essentially degrades back into a model trained from scratch, negating the benefits of transfer learning.</a:t>
            </a:r>
            <a:endParaRPr/>
          </a:p>
        </p:txBody>
      </p:sp>
      <p:pic>
        <p:nvPicPr>
          <p:cNvPr descr="image.png" id="369" name="Google Shape;36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14525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7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Danger: Catastrophic Forgetting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8"/>
          <p:cNvSpPr txBox="1"/>
          <p:nvPr/>
        </p:nvSpPr>
        <p:spPr>
          <a:xfrm>
            <a:off x="2047875" y="2490787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Gradual Unfreezing: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Unfreeze the network one layer at a time from top to bottom, training briefly after each unfreeze. This provides a gentle adjustment.</a:t>
            </a:r>
            <a:endParaRPr/>
          </a:p>
        </p:txBody>
      </p:sp>
      <p:sp>
        <p:nvSpPr>
          <p:cNvPr id="376" name="Google Shape;376;p38"/>
          <p:cNvSpPr txBox="1"/>
          <p:nvPr/>
        </p:nvSpPr>
        <p:spPr>
          <a:xfrm>
            <a:off x="2047875" y="3338512"/>
            <a:ext cx="857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Discriminative Learning Rates: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Apply different learning rates to different layers. The newly added head gets a higher rate ( ), while deeper base layers get a much lower rate ( ).</a:t>
            </a:r>
            <a:endParaRPr/>
          </a:p>
        </p:txBody>
      </p:sp>
      <p:sp>
        <p:nvSpPr>
          <p:cNvPr id="377" name="Google Shape;377;p38"/>
          <p:cNvSpPr txBox="1"/>
          <p:nvPr/>
        </p:nvSpPr>
        <p:spPr>
          <a:xfrm>
            <a:off x="2047875" y="4491037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Weight Decay (L2 Regularization):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Penalize large changes to the weights during the fine-tuning process, forcing the model to rely on existing feature representations.</a:t>
            </a:r>
            <a:endParaRPr/>
          </a:p>
        </p:txBody>
      </p:sp>
      <p:pic>
        <p:nvPicPr>
          <p:cNvPr descr="image.png" id="378" name="Google Shape;37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2050" y="3677394"/>
            <a:ext cx="415081" cy="1849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9" name="Google Shape;379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92481" y="3677394"/>
            <a:ext cx="415081" cy="1849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0" name="Google Shape;380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71625" y="2505075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1" name="Google Shape;381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71625" y="3352800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2" name="Google Shape;382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71625" y="4505325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8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Mitigating Catastrophic Forgetting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9"/>
          <p:cNvSpPr/>
          <p:nvPr/>
        </p:nvSpPr>
        <p:spPr>
          <a:xfrm>
            <a:off x="5524500" y="2626072"/>
            <a:ext cx="1143000" cy="5715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9"/>
          <p:cNvSpPr txBox="1"/>
          <p:nvPr/>
        </p:nvSpPr>
        <p:spPr>
          <a:xfrm>
            <a:off x="470296" y="3064222"/>
            <a:ext cx="1125140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Part 6: Real-World Impact &amp; Stats</a:t>
            </a:r>
            <a:endParaRPr/>
          </a:p>
        </p:txBody>
      </p:sp>
      <p:sp>
        <p:nvSpPr>
          <p:cNvPr id="390" name="Google Shape;390;p39"/>
          <p:cNvSpPr txBox="1"/>
          <p:nvPr/>
        </p:nvSpPr>
        <p:spPr>
          <a:xfrm>
            <a:off x="2300287" y="4216747"/>
            <a:ext cx="75914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Why industry relies almost exclusively on transfer learning today.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5" name="Google Shape;39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395412"/>
            <a:ext cx="11049000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40"/>
          <p:cNvSpPr txBox="1"/>
          <p:nvPr/>
        </p:nvSpPr>
        <p:spPr>
          <a:xfrm>
            <a:off x="1123950" y="5681662"/>
            <a:ext cx="9944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 estimated 82% of commercial NLP and Computer Vision systems deployed today utilize a pre-trained base model rather than training entirely from scratch.</a:t>
            </a:r>
            <a:endParaRPr/>
          </a:p>
        </p:txBody>
      </p:sp>
      <p:sp>
        <p:nvSpPr>
          <p:cNvPr id="397" name="Google Shape;397;p40"/>
          <p:cNvSpPr txBox="1"/>
          <p:nvPr/>
        </p:nvSpPr>
        <p:spPr>
          <a:xfrm>
            <a:off x="571500" y="423862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Adoption in Commercial ML Systems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2" name="Google Shape;40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466850"/>
            <a:ext cx="342900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3" name="Google Shape;403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1466850"/>
            <a:ext cx="342900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4" name="Google Shape;404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0" y="1466850"/>
            <a:ext cx="3429000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41"/>
          <p:cNvSpPr txBox="1"/>
          <p:nvPr/>
        </p:nvSpPr>
        <p:spPr>
          <a:xfrm>
            <a:off x="485775" y="4181475"/>
            <a:ext cx="36004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Medical Imaging</a:t>
            </a:r>
            <a:endParaRPr/>
          </a:p>
        </p:txBody>
      </p:sp>
      <p:sp>
        <p:nvSpPr>
          <p:cNvPr id="406" name="Google Shape;406;p41"/>
          <p:cNvSpPr txBox="1"/>
          <p:nvPr/>
        </p:nvSpPr>
        <p:spPr>
          <a:xfrm>
            <a:off x="571500" y="4695825"/>
            <a:ext cx="3429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Transferring general vision knowledge to detect tumors in X-rays where labeled datasets are incredibly scarce.</a:t>
            </a:r>
            <a:endParaRPr/>
          </a:p>
        </p:txBody>
      </p:sp>
      <p:sp>
        <p:nvSpPr>
          <p:cNvPr id="407" name="Google Shape;407;p41"/>
          <p:cNvSpPr txBox="1"/>
          <p:nvPr/>
        </p:nvSpPr>
        <p:spPr>
          <a:xfrm>
            <a:off x="4295775" y="4181475"/>
            <a:ext cx="36004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Autonomous Systems</a:t>
            </a:r>
            <a:endParaRPr/>
          </a:p>
        </p:txBody>
      </p:sp>
      <p:sp>
        <p:nvSpPr>
          <p:cNvPr id="408" name="Google Shape;408;p41"/>
          <p:cNvSpPr txBox="1"/>
          <p:nvPr/>
        </p:nvSpPr>
        <p:spPr>
          <a:xfrm>
            <a:off x="4381500" y="4695825"/>
            <a:ext cx="3429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Sim-to-real transfer: Training self-driving agents in virtual simulation environments and transferring the policy to physical cars.</a:t>
            </a:r>
            <a:endParaRPr/>
          </a:p>
        </p:txBody>
      </p:sp>
      <p:sp>
        <p:nvSpPr>
          <p:cNvPr id="409" name="Google Shape;409;p41"/>
          <p:cNvSpPr txBox="1"/>
          <p:nvPr/>
        </p:nvSpPr>
        <p:spPr>
          <a:xfrm>
            <a:off x="8105775" y="4181475"/>
            <a:ext cx="36004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Generative AI &amp; NLP</a:t>
            </a:r>
            <a:endParaRPr/>
          </a:p>
        </p:txBody>
      </p:sp>
      <p:sp>
        <p:nvSpPr>
          <p:cNvPr id="410" name="Google Shape;410;p41"/>
          <p:cNvSpPr txBox="1"/>
          <p:nvPr/>
        </p:nvSpPr>
        <p:spPr>
          <a:xfrm>
            <a:off x="8191500" y="469582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LLMs like GPT-4 are massive foundation models fine-tuned for specific tasks like coding, summarizing, or acting as customer service agents.</a:t>
            </a:r>
            <a:endParaRPr/>
          </a:p>
        </p:txBody>
      </p:sp>
      <p:pic>
        <p:nvPicPr>
          <p:cNvPr descr="image.png" id="411" name="Google Shape;411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3975" y="1466850"/>
            <a:ext cx="19240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81500" y="1466850"/>
            <a:ext cx="342900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3" name="Google Shape;413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77312" y="1466850"/>
            <a:ext cx="18573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41"/>
          <p:cNvSpPr txBox="1"/>
          <p:nvPr/>
        </p:nvSpPr>
        <p:spPr>
          <a:xfrm>
            <a:off x="571500" y="4953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Transfer Learning in Action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2"/>
          <p:cNvSpPr txBox="1"/>
          <p:nvPr/>
        </p:nvSpPr>
        <p:spPr>
          <a:xfrm>
            <a:off x="1595437" y="2379315"/>
            <a:ext cx="90012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Lab 2: End-to-End Fine-Tuning of a CNN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