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Fira Code"/>
      <p:regular r:id="rId36"/>
      <p:bold r:id="rId37"/>
    </p:embeddedFont>
    <p:embeddedFont>
      <p:font typeface="Merriweather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5.xml"/><Relationship Id="rId42" Type="http://schemas.openxmlformats.org/officeDocument/2006/relationships/font" Target="fonts/DMSans-regular.fntdata"/><Relationship Id="rId41" Type="http://schemas.openxmlformats.org/officeDocument/2006/relationships/font" Target="fonts/Merriweather-boldItalic.fntdata"/><Relationship Id="rId22" Type="http://schemas.openxmlformats.org/officeDocument/2006/relationships/slide" Target="slides/slide17.xml"/><Relationship Id="rId44" Type="http://schemas.openxmlformats.org/officeDocument/2006/relationships/font" Target="fonts/DMSans-italic.fntdata"/><Relationship Id="rId21" Type="http://schemas.openxmlformats.org/officeDocument/2006/relationships/slide" Target="slides/slide16.xml"/><Relationship Id="rId43" Type="http://schemas.openxmlformats.org/officeDocument/2006/relationships/font" Target="fonts/DM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FiraCode-bold.fntdata"/><Relationship Id="rId14" Type="http://schemas.openxmlformats.org/officeDocument/2006/relationships/slide" Target="slides/slide9.xml"/><Relationship Id="rId36" Type="http://schemas.openxmlformats.org/officeDocument/2006/relationships/font" Target="fonts/FiraCode-regular.fntdata"/><Relationship Id="rId17" Type="http://schemas.openxmlformats.org/officeDocument/2006/relationships/slide" Target="slides/slide12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1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9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52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56.png"/><Relationship Id="rId8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6.png"/><Relationship Id="rId6" Type="http://schemas.openxmlformats.org/officeDocument/2006/relationships/image" Target="../media/image57.png"/><Relationship Id="rId7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30616" y="2217539"/>
            <a:ext cx="6130766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Networks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D16B3F"/>
                </a:solidFill>
                <a:latin typeface="Merriweather"/>
                <a:ea typeface="Merriweather"/>
                <a:cs typeface="Merriweather"/>
                <a:sym typeface="Merriweather"/>
              </a:rPr>
              <a:t>from Scratch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81387" y="4101405"/>
            <a:ext cx="52292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Session 1: Foundations &amp; Forward Propagation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1 Agenda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190625" y="2462510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Biological Inspiration: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Understanding the origins of artificial neurons.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90625" y="3035796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The Perceptron: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Weights, biases, and the fundamental unit of learning.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90625" y="3609082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Activation Functions: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Introducing non-linearity (Sigmoid, ReLU).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90625" y="418236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Forward Propagation: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Passing data through the architecture.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90625" y="475565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Lab 1: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Building the forward pipeline in NumPy.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910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64371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3765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21094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784228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 Neural Network?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18954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Artificial Neural Networks (ANNs) are computing systems inspired by the biological neural networks that constitute animal brains.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2952750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Just as biological neurons receive signals via dendrites and transmit them via axons, artificial neurons receive numerical inputs, apply a mathematical transformation, and pass the output forward.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43148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This biomimicry allows modern algorithms to recognize complex patterns in vast amounts of data.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95475"/>
            <a:ext cx="5048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19350"/>
            <a:ext cx="504825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19350"/>
            <a:ext cx="50482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The Perceptron Concept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52525" y="2809875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Weights &amp; Bias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52525" y="3314700"/>
            <a:ext cx="4267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perceptron computes a weighted sum of its inputs.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weights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dictate the importance of each input feature.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bias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shifts the activation threshold, allowing the model to fit data that doesn't pass through the origin.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72275" y="2809875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Transformation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72275" y="3314700"/>
            <a:ext cx="4267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Mathematically, the core of a neuron is a simple linear equation. However, a purely linear system, no matter how deep, acts merely as a single linear transformation. We need a way to capture complex relationships.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33587"/>
            <a:ext cx="3302049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2033587"/>
            <a:ext cx="3302049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33587"/>
            <a:ext cx="3302049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Activation Functions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792872" y="3243262"/>
            <a:ext cx="12401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Sigmoid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09650" y="3748087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Squashes values between 0 and 1. Great for output layers in binary classification, but suffers from the vanishing gradient problem in deep networks.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05951" y="3243262"/>
            <a:ext cx="7800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ReLU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92699" y="3748087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Rectified Linear Unit outputs the input if positive, else zero. It is highly computationally efficient and mitigates vanishing gradients.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389000" y="3243262"/>
            <a:ext cx="7800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Tanh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375749" y="3748087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Similar to Sigmoid but squashes values between -1 and 1. Generally preferred over Sigmoid for hidden layers as data is centered around zero.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5312" y="2433637"/>
            <a:ext cx="2952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450" y="243363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79012" y="2433637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Code: Sigmoid &amp; ReLU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62000" y="261937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NumPy Implementation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31242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Building neural networks from scratch requires us to define these mathematical functions in code. We rely heavily on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NumPy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for fast, vectorized operations.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41814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By using NumPy arrays, we avoid slow Python loops and perform calculations over entire datasets simultaneously.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29400" y="28765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867650" y="28765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629400" y="33337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010400" y="3333750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sigmoid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010400" y="3562350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Maps any real value into (0, 1)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010400" y="37909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677150" y="37909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1.0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05815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343900" y="37909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1.0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72490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8215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29400" y="42481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010400" y="424815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010400" y="4476750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Returns max of 0 and input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010400" y="47053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724900" y="4705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3302049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99" y="2062162"/>
            <a:ext cx="3302049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Network Architecture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79448" y="5000625"/>
            <a:ext cx="3467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Input Layer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5476862"/>
            <a:ext cx="330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Receives raw data features.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362498" y="5000637"/>
            <a:ext cx="3467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Hidden Layers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445049" y="5505462"/>
            <a:ext cx="330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Extracts hierarchical patterns.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045547" y="5000637"/>
            <a:ext cx="3467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Output Layer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128099" y="5505462"/>
            <a:ext cx="330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Produces final predictions.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5888" y="1311645"/>
            <a:ext cx="4620225" cy="34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Forward Propagation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18954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Forward propagation is the process of passing input data sequentially through the network's layers to generate a prediction.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29527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At each layer, the network computes the dot product of the inputs and weights, adds the bias, and applies the activation function.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40100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output of one layer becomes the immediate input for the next layer.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95475"/>
            <a:ext cx="5048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28937"/>
            <a:ext cx="504825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29062"/>
            <a:ext cx="50482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Math of Forward Pass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762000" y="2738437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&amp; Non-Linear Steps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62000" y="32432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For a given layer, we first compute the linear combination (Z). We represent inputs as X (or A from the previous layer), Weights as W, and bias as b.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43005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Next, we pass Z through our chosen activation function (denoted by sigma) to get the activation output (A).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9483" y="3224212"/>
            <a:ext cx="1792634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9444" y="4224337"/>
            <a:ext cx="1452711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Code: Forward Pass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62000" y="227647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Building the Pipeline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762000" y="2781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Here we define a 2-layer network forward pass.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762000" y="32289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Notice how we save a cache of intermediate variables (Z1, A1, Z2, A2). We will desperately need these values later when we calculate gradients during backpropagation.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629400" y="25336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010400" y="2533650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forward_prop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010400" y="2762250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Layer 1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296150" y="29908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820150" y="29908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296150" y="32194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010400" y="3676650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Layer 2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7296150" y="39052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8915400" y="39052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296150" y="41338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7010400" y="4591050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Store values for backprop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581900" y="48196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010400" y="50482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71750"/>
            <a:ext cx="5048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71750"/>
            <a:ext cx="50482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Loss Functions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1152525" y="2962275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Mean Squared Error (MSE)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152525" y="3467100"/>
            <a:ext cx="4267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Calculates the average squared difference between predictions and actual targets. It is the standard loss function used for continuous numerical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regression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tasks.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772275" y="2962275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Binary Cross-Entropy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772275" y="3467100"/>
            <a:ext cx="4267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Measures the performance of a classification model where output is a probability between 0 and 1. It heavily penalizes confident but incorrect predictions. Used for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classification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Code: MSE Loss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762000" y="239077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Measuring Error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62000" y="28956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To evaluate how well our network is performing, we implement the Mean Squared Error (MSE).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62000" y="36480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variable m represents the number of training examples in our dataset. We divide by 2*m to make the derivative cleaner later on.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6629400" y="26479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7010400" y="2647950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mse_loss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7010400" y="2876550"/>
            <a:ext cx="342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Y_hat: predictions, Y: true labels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200900" y="31051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8153400" y="31051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7010400" y="3562350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Compute squared error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58190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43915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915400" y="3790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**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920115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7010400" y="4248150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Average over all examples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748665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777240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796290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824865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843915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901065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7010400" y="49339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5000863" y="2700337"/>
            <a:ext cx="21902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Lab 1 Introduction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524500" y="3328987"/>
            <a:ext cx="1143000" cy="47625"/>
          </a:xfrm>
          <a:prstGeom prst="rect">
            <a:avLst/>
          </a:prstGeom>
          <a:solidFill>
            <a:srgbClr val="D16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4400550" y="3709987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Constructing the Forward Architecture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Lab 1 Tasks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190625" y="2413992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Environment Setup: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Initialize your Jupyter notebook and import NumPy.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190625" y="2987278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Parameter Initialization: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Write a function to randomly initialize W1, b1, W2, and b2 with the correct matrix dimensions.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190625" y="3895725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Activation Functions: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Code the Sigmoid and ReLU functions.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1190625" y="4469010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Forward Pipeline: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Combine these elements to push dummy input data X through the network and print the output shape.</a:t>
            </a:r>
            <a:endParaRPr/>
          </a:p>
        </p:txBody>
      </p:sp>
      <p:pic>
        <p:nvPicPr>
          <p:cNvPr descr="image.png" id="286" name="Google Shape;2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4256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158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243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49758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3650694" y="2566987"/>
            <a:ext cx="4890611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5072062" y="3843337"/>
            <a:ext cx="2047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End of Session 1 Theory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/>
          <p:nvPr/>
        </p:nvSpPr>
        <p:spPr>
          <a:xfrm>
            <a:off x="3030616" y="2217539"/>
            <a:ext cx="6130766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Networks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D16B3F"/>
                </a:solidFill>
                <a:latin typeface="Merriweather"/>
                <a:ea typeface="Merriweather"/>
                <a:cs typeface="Merriweather"/>
                <a:sym typeface="Merriweather"/>
              </a:rPr>
              <a:t>from Scratch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3133725" y="4101405"/>
            <a:ext cx="59245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Session 2: Backpropagation, Optimization &amp; Training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2 Agenda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1190625" y="2462510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The Learning Problem: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Visualizing the loss landscape.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1190625" y="3035796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Gradient Descent: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Mathematical optimization and updating weights.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1190625" y="3609082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Backpropagation: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Applying the calculus chain rule.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1190625" y="418236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The Training Loop: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Putting the entire puzzle together.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1190625" y="475565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Lab 2: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Training the network on data.</a:t>
            </a:r>
            <a:endParaRPr/>
          </a:p>
        </p:txBody>
      </p:sp>
      <p:pic>
        <p:nvPicPr>
          <p:cNvPr descr="image.png" id="315" name="Google Shape;3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910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6437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3765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2109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784228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571500" y="19050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Learning Problem</a:t>
            </a:r>
            <a:endParaRPr/>
          </a:p>
        </p:txBody>
      </p:sp>
      <p:pic>
        <p:nvPicPr>
          <p:cNvPr descr="image.png" id="326" name="Google Shape;3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0"/>
          <p:cNvSpPr txBox="1"/>
          <p:nvPr/>
        </p:nvSpPr>
        <p:spPr>
          <a:xfrm>
            <a:off x="571500" y="28384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Training a neural network is an optimization problem. Our goal is to find the exact combination of weights and biases that minimizes the overall loss.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571500" y="38957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Imagine a complex, multi-dimensional hilly landscape. The "altitude" represents our error. We need to find the lowest possible valley.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19350"/>
            <a:ext cx="504825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19350"/>
            <a:ext cx="50482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Descent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1152525" y="2809875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The Gradient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1152525" y="3314700"/>
            <a:ext cx="4267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gradient is a vector containing partial derivatives. It points in the direction of the steepest ascent of our loss function. To reduce error, we step in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opposite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direction of the gradient.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6772275" y="2962275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Rate (α)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6772275" y="3467100"/>
            <a:ext cx="4267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hyperparameter that determines the size of the step we take. If it's too large, we overshoot the minimum. If it's too small, training takes forever or gets stuck.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Code: Parameter Update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762000" y="250507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Applying the Rule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762000" y="30099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Once we calculate the derivatives (dW, db) using backpropagation, updating the parameters is a simple subtraction.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762000" y="40671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alpha represents our learning rate.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6629400" y="27622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7010400" y="2762250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update_params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6629400" y="2990850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W_new = W_old - (learning_rate * gradient)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7200900" y="34480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7581900" y="34480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8343900" y="34480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6629400" y="3905250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b_new = b_old - (learning_rate * gradient)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7200900" y="43624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7581900" y="43624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8343900" y="43624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7010400" y="48196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3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Backpropagation Intuition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762000" y="18954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Backpropagation is the heart of Neural Network training. It tells us exactly how much a change in a specific weight will impact the final loss.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762000" y="29527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It works backwards from the output layer to the input layer, distributing the "blame" for the error across all the weights using the calculus Chain Rule.</a:t>
            </a:r>
            <a:endParaRPr/>
          </a:p>
        </p:txBody>
      </p:sp>
      <p:pic>
        <p:nvPicPr>
          <p:cNvPr descr="image.png" id="370" name="Google Shape;37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95475"/>
            <a:ext cx="5048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28937"/>
            <a:ext cx="5048250" cy="97809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Math of Backpropagation</a:t>
            </a:r>
            <a:endParaRPr/>
          </a:p>
        </p:txBody>
      </p:sp>
      <p:sp>
        <p:nvSpPr>
          <p:cNvPr id="378" name="Google Shape;378;p34"/>
          <p:cNvSpPr txBox="1"/>
          <p:nvPr/>
        </p:nvSpPr>
        <p:spPr>
          <a:xfrm>
            <a:off x="762000" y="2738437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Chain Rule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762000" y="32432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To find the derivative of the Loss (L) with respect to a Weight (W), we must multiply the derivatives of all intermediate operations.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762000" y="43005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This sequential multiplication is efficiently calculated from right to left (output to input).</a:t>
            </a:r>
            <a:endParaRPr/>
          </a:p>
        </p:txBody>
      </p:sp>
      <p:pic>
        <p:nvPicPr>
          <p:cNvPr descr="image.png" id="381" name="Google Shape;38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5237" y="3224212"/>
            <a:ext cx="2581126" cy="387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5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Code: Backward Pass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762000" y="170497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Calculating Gradients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762000" y="22098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We retrieve our stored values from the cache.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762000" y="26574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We calculate the error at the output layer (dZ2), derive gradients for layer 2, then propagate the error back to layer 1 (dZ1) through the ReLU derivative.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6629400" y="19621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7010400" y="1962150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backward_prop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8439150" y="2190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7200900" y="2419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8153400" y="2419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7010400" y="2876550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Layer 2 gradients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7391400" y="31051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7867650" y="31051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7391400" y="3333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7677150" y="3333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7772400" y="3333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8153400" y="3333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7391400" y="3562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7677150" y="3562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7772400" y="3562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406" name="Google Shape;406;p35"/>
          <p:cNvSpPr txBox="1"/>
          <p:nvPr/>
        </p:nvSpPr>
        <p:spPr>
          <a:xfrm>
            <a:off x="8153400" y="3562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407" name="Google Shape;407;p35"/>
          <p:cNvSpPr txBox="1"/>
          <p:nvPr/>
        </p:nvSpPr>
        <p:spPr>
          <a:xfrm>
            <a:off x="9867900" y="3562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9963150" y="3562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7391400" y="3790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10" name="Google Shape;410;p35"/>
          <p:cNvSpPr txBox="1"/>
          <p:nvPr/>
        </p:nvSpPr>
        <p:spPr>
          <a:xfrm>
            <a:off x="7486650" y="379095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endParaRPr/>
          </a:p>
        </p:txBody>
      </p:sp>
      <p:sp>
        <p:nvSpPr>
          <p:cNvPr id="411" name="Google Shape;411;p35"/>
          <p:cNvSpPr txBox="1"/>
          <p:nvPr/>
        </p:nvSpPr>
        <p:spPr>
          <a:xfrm>
            <a:off x="7010400" y="4248150"/>
            <a:ext cx="390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Layer 1 gradients (includes ReLU deriv)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739140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13" name="Google Shape;413;p35"/>
          <p:cNvSpPr txBox="1"/>
          <p:nvPr/>
        </p:nvSpPr>
        <p:spPr>
          <a:xfrm>
            <a:off x="929640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986790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10058400" y="44767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7391400" y="4705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7677150" y="4705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418" name="Google Shape;418;p35"/>
          <p:cNvSpPr txBox="1"/>
          <p:nvPr/>
        </p:nvSpPr>
        <p:spPr>
          <a:xfrm>
            <a:off x="7772400" y="4705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8153400" y="47053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7391400" y="4933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7677150" y="4933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7772400" y="4933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8153400" y="4933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endParaRPr/>
          </a:p>
        </p:txBody>
      </p:sp>
      <p:sp>
        <p:nvSpPr>
          <p:cNvPr id="424" name="Google Shape;424;p35"/>
          <p:cNvSpPr txBox="1"/>
          <p:nvPr/>
        </p:nvSpPr>
        <p:spPr>
          <a:xfrm>
            <a:off x="9867900" y="4933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25" name="Google Shape;425;p35"/>
          <p:cNvSpPr txBox="1"/>
          <p:nvPr/>
        </p:nvSpPr>
        <p:spPr>
          <a:xfrm>
            <a:off x="9963150" y="49339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426" name="Google Shape;426;p35"/>
          <p:cNvSpPr txBox="1"/>
          <p:nvPr/>
        </p:nvSpPr>
        <p:spPr>
          <a:xfrm>
            <a:off x="7391400" y="516255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27" name="Google Shape;427;p35"/>
          <p:cNvSpPr txBox="1"/>
          <p:nvPr/>
        </p:nvSpPr>
        <p:spPr>
          <a:xfrm>
            <a:off x="7486650" y="516255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endParaRPr/>
          </a:p>
        </p:txBody>
      </p:sp>
      <p:sp>
        <p:nvSpPr>
          <p:cNvPr id="428" name="Google Shape;428;p35"/>
          <p:cNvSpPr txBox="1"/>
          <p:nvPr/>
        </p:nvSpPr>
        <p:spPr>
          <a:xfrm>
            <a:off x="7010400" y="56197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6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Training Loop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1190625" y="217586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Initialize: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Set weights and biases to small random values.</a:t>
            </a:r>
            <a:endParaRPr/>
          </a:p>
        </p:txBody>
      </p:sp>
      <p:sp>
        <p:nvSpPr>
          <p:cNvPr id="436" name="Google Shape;436;p36"/>
          <p:cNvSpPr txBox="1"/>
          <p:nvPr/>
        </p:nvSpPr>
        <p:spPr>
          <a:xfrm>
            <a:off x="1190625" y="274915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Forward Pass: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Push data through the network to get a prediction.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1190625" y="3322439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Compute Loss: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Measure how wrong the prediction was.</a:t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1190625" y="3895725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Backward Pass: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Calculate the gradients for all parameters.</a:t>
            </a:r>
            <a:endParaRPr/>
          </a:p>
        </p:txBody>
      </p:sp>
      <p:sp>
        <p:nvSpPr>
          <p:cNvPr id="439" name="Google Shape;439;p36"/>
          <p:cNvSpPr txBox="1"/>
          <p:nvPr/>
        </p:nvSpPr>
        <p:spPr>
          <a:xfrm>
            <a:off x="1190625" y="4469010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Update Parameters: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Adjust weights using Gradient Descent.</a:t>
            </a:r>
            <a:endParaRPr/>
          </a:p>
        </p:txBody>
      </p:sp>
      <p:sp>
        <p:nvSpPr>
          <p:cNvPr id="440" name="Google Shape;440;p36"/>
          <p:cNvSpPr txBox="1"/>
          <p:nvPr/>
        </p:nvSpPr>
        <p:spPr>
          <a:xfrm>
            <a:off x="1190625" y="5042296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Repeat: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Do this thousands of times (Epochs).</a:t>
            </a:r>
            <a:endParaRPr/>
          </a:p>
        </p:txBody>
      </p:sp>
      <p:pic>
        <p:nvPicPr>
          <p:cNvPr descr="image.png" id="441" name="Google Shape;44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4442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77728"/>
            <a:ext cx="152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35101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92430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49758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07087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7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Code: Training Loop</a:t>
            </a:r>
            <a:endParaRPr/>
          </a:p>
        </p:txBody>
      </p:sp>
      <p:sp>
        <p:nvSpPr>
          <p:cNvPr id="453" name="Google Shape;453;p37"/>
          <p:cNvSpPr txBox="1"/>
          <p:nvPr/>
        </p:nvSpPr>
        <p:spPr>
          <a:xfrm>
            <a:off x="762000" y="1504950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Bringing it together</a:t>
            </a:r>
            <a:endParaRPr/>
          </a:p>
        </p:txBody>
      </p:sp>
      <p:sp>
        <p:nvSpPr>
          <p:cNvPr id="454" name="Google Shape;454;p37"/>
          <p:cNvSpPr txBox="1"/>
          <p:nvPr/>
        </p:nvSpPr>
        <p:spPr>
          <a:xfrm>
            <a:off x="762000" y="20097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This is the core training orchestrator. We iterate for a set number of epochs.</a:t>
            </a:r>
            <a:endParaRPr/>
          </a:p>
        </p:txBody>
      </p:sp>
      <p:sp>
        <p:nvSpPr>
          <p:cNvPr id="455" name="Google Shape;455;p37"/>
          <p:cNvSpPr txBox="1"/>
          <p:nvPr/>
        </p:nvSpPr>
        <p:spPr>
          <a:xfrm>
            <a:off x="762000" y="2762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Printing the loss every 100 epochs helps us ensure our model is actually learning and our gradients are correct.</a:t>
            </a:r>
            <a:endParaRPr/>
          </a:p>
        </p:txBody>
      </p:sp>
      <p:sp>
        <p:nvSpPr>
          <p:cNvPr id="456" name="Google Shape;456;p37"/>
          <p:cNvSpPr txBox="1"/>
          <p:nvPr/>
        </p:nvSpPr>
        <p:spPr>
          <a:xfrm>
            <a:off x="6629400" y="17621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endParaRPr/>
          </a:p>
        </p:txBody>
      </p:sp>
      <p:sp>
        <p:nvSpPr>
          <p:cNvPr id="457" name="Google Shape;457;p37"/>
          <p:cNvSpPr txBox="1"/>
          <p:nvPr/>
        </p:nvSpPr>
        <p:spPr>
          <a:xfrm>
            <a:off x="7200900" y="17621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endParaRPr/>
          </a:p>
        </p:txBody>
      </p:sp>
      <p:sp>
        <p:nvSpPr>
          <p:cNvPr id="458" name="Google Shape;458;p37"/>
          <p:cNvSpPr txBox="1"/>
          <p:nvPr/>
        </p:nvSpPr>
        <p:spPr>
          <a:xfrm>
            <a:off x="7486650" y="1762125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range</a:t>
            </a:r>
            <a:endParaRPr/>
          </a:p>
        </p:txBody>
      </p:sp>
      <p:sp>
        <p:nvSpPr>
          <p:cNvPr id="459" name="Google Shape;459;p37"/>
          <p:cNvSpPr txBox="1"/>
          <p:nvPr/>
        </p:nvSpPr>
        <p:spPr>
          <a:xfrm>
            <a:off x="7010400" y="1990725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1. Forward Pass</a:t>
            </a:r>
            <a:endParaRPr/>
          </a:p>
        </p:txBody>
      </p:sp>
      <p:sp>
        <p:nvSpPr>
          <p:cNvPr id="460" name="Google Shape;460;p37"/>
          <p:cNvSpPr txBox="1"/>
          <p:nvPr/>
        </p:nvSpPr>
        <p:spPr>
          <a:xfrm>
            <a:off x="7962900" y="22193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61" name="Google Shape;461;p37"/>
          <p:cNvSpPr txBox="1"/>
          <p:nvPr/>
        </p:nvSpPr>
        <p:spPr>
          <a:xfrm>
            <a:off x="7010400" y="2676525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2. Compute Loss</a:t>
            </a:r>
            <a:endParaRPr/>
          </a:p>
        </p:txBody>
      </p:sp>
      <p:sp>
        <p:nvSpPr>
          <p:cNvPr id="462" name="Google Shape;462;p37"/>
          <p:cNvSpPr txBox="1"/>
          <p:nvPr/>
        </p:nvSpPr>
        <p:spPr>
          <a:xfrm>
            <a:off x="7486650" y="29051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63" name="Google Shape;463;p37"/>
          <p:cNvSpPr txBox="1"/>
          <p:nvPr/>
        </p:nvSpPr>
        <p:spPr>
          <a:xfrm>
            <a:off x="7010400" y="336232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3. Backward Pass</a:t>
            </a:r>
            <a:endParaRPr/>
          </a:p>
        </p:txBody>
      </p:sp>
      <p:sp>
        <p:nvSpPr>
          <p:cNvPr id="464" name="Google Shape;464;p37"/>
          <p:cNvSpPr txBox="1"/>
          <p:nvPr/>
        </p:nvSpPr>
        <p:spPr>
          <a:xfrm>
            <a:off x="7581900" y="35909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65" name="Google Shape;465;p37"/>
          <p:cNvSpPr txBox="1"/>
          <p:nvPr/>
        </p:nvSpPr>
        <p:spPr>
          <a:xfrm>
            <a:off x="8820150" y="38195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66" name="Google Shape;466;p37"/>
          <p:cNvSpPr txBox="1"/>
          <p:nvPr/>
        </p:nvSpPr>
        <p:spPr>
          <a:xfrm>
            <a:off x="7010400" y="4276725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4. Update Weights</a:t>
            </a:r>
            <a:endParaRPr/>
          </a:p>
        </p:txBody>
      </p:sp>
      <p:sp>
        <p:nvSpPr>
          <p:cNvPr id="467" name="Google Shape;467;p37"/>
          <p:cNvSpPr txBox="1"/>
          <p:nvPr/>
        </p:nvSpPr>
        <p:spPr>
          <a:xfrm>
            <a:off x="7677150" y="45053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68" name="Google Shape;468;p37"/>
          <p:cNvSpPr txBox="1"/>
          <p:nvPr/>
        </p:nvSpPr>
        <p:spPr>
          <a:xfrm>
            <a:off x="7677150" y="49625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endParaRPr/>
          </a:p>
        </p:txBody>
      </p:sp>
      <p:sp>
        <p:nvSpPr>
          <p:cNvPr id="469" name="Google Shape;469;p37"/>
          <p:cNvSpPr txBox="1"/>
          <p:nvPr/>
        </p:nvSpPr>
        <p:spPr>
          <a:xfrm>
            <a:off x="7010400" y="56483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470" name="Google Shape;470;p37"/>
          <p:cNvSpPr txBox="1"/>
          <p:nvPr/>
        </p:nvSpPr>
        <p:spPr>
          <a:xfrm>
            <a:off x="7486650" y="56483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%</a:t>
            </a:r>
            <a:endParaRPr/>
          </a:p>
        </p:txBody>
      </p:sp>
      <p:sp>
        <p:nvSpPr>
          <p:cNvPr id="471" name="Google Shape;471;p37"/>
          <p:cNvSpPr txBox="1"/>
          <p:nvPr/>
        </p:nvSpPr>
        <p:spPr>
          <a:xfrm>
            <a:off x="7677150" y="56483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100</a:t>
            </a:r>
            <a:endParaRPr/>
          </a:p>
        </p:txBody>
      </p:sp>
      <p:sp>
        <p:nvSpPr>
          <p:cNvPr id="472" name="Google Shape;472;p37"/>
          <p:cNvSpPr txBox="1"/>
          <p:nvPr/>
        </p:nvSpPr>
        <p:spPr>
          <a:xfrm>
            <a:off x="8058150" y="56483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endParaRPr/>
          </a:p>
        </p:txBody>
      </p:sp>
      <p:sp>
        <p:nvSpPr>
          <p:cNvPr id="473" name="Google Shape;473;p37"/>
          <p:cNvSpPr txBox="1"/>
          <p:nvPr/>
        </p:nvSpPr>
        <p:spPr>
          <a:xfrm>
            <a:off x="8343900" y="56483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474" name="Google Shape;474;p37"/>
          <p:cNvSpPr txBox="1"/>
          <p:nvPr/>
        </p:nvSpPr>
        <p:spPr>
          <a:xfrm>
            <a:off x="7391400" y="5876925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7962900" y="5876925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f"Epoch {i}: Loss {loss}"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0" name="Google Shape;4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33587"/>
            <a:ext cx="3302049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2033587"/>
            <a:ext cx="3302049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33587"/>
            <a:ext cx="3302049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8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Overfitting &amp; Regularization</a:t>
            </a:r>
            <a:endParaRPr/>
          </a:p>
        </p:txBody>
      </p:sp>
      <p:sp>
        <p:nvSpPr>
          <p:cNvPr id="485" name="Google Shape;485;p38"/>
          <p:cNvSpPr txBox="1"/>
          <p:nvPr/>
        </p:nvSpPr>
        <p:spPr>
          <a:xfrm>
            <a:off x="1082784" y="3243262"/>
            <a:ext cx="266033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L2 Regularization</a:t>
            </a:r>
            <a:endParaRPr/>
          </a:p>
        </p:txBody>
      </p:sp>
      <p:sp>
        <p:nvSpPr>
          <p:cNvPr id="486" name="Google Shape;486;p38"/>
          <p:cNvSpPr txBox="1"/>
          <p:nvPr/>
        </p:nvSpPr>
        <p:spPr>
          <a:xfrm>
            <a:off x="1009650" y="37480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Adds a penalty to the loss function based on the size of the weights, preventing any single feature from dominating.</a:t>
            </a:r>
            <a:endParaRPr/>
          </a:p>
        </p:txBody>
      </p:sp>
      <p:sp>
        <p:nvSpPr>
          <p:cNvPr id="487" name="Google Shape;487;p38"/>
          <p:cNvSpPr txBox="1"/>
          <p:nvPr/>
        </p:nvSpPr>
        <p:spPr>
          <a:xfrm>
            <a:off x="5480923" y="3243262"/>
            <a:ext cx="123015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Dropout</a:t>
            </a:r>
            <a:endParaRPr/>
          </a:p>
        </p:txBody>
      </p:sp>
      <p:sp>
        <p:nvSpPr>
          <p:cNvPr id="488" name="Google Shape;488;p38"/>
          <p:cNvSpPr txBox="1"/>
          <p:nvPr/>
        </p:nvSpPr>
        <p:spPr>
          <a:xfrm>
            <a:off x="4692699" y="3748087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Randomly disables a percentage of neurons during training, forcing the network to learn robust, distributed features.</a:t>
            </a:r>
            <a:endParaRPr/>
          </a:p>
        </p:txBody>
      </p:sp>
      <p:sp>
        <p:nvSpPr>
          <p:cNvPr id="489" name="Google Shape;489;p38"/>
          <p:cNvSpPr txBox="1"/>
          <p:nvPr/>
        </p:nvSpPr>
        <p:spPr>
          <a:xfrm>
            <a:off x="8678912" y="3243262"/>
            <a:ext cx="22002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Early Stopping</a:t>
            </a:r>
            <a:endParaRPr/>
          </a:p>
        </p:txBody>
      </p:sp>
      <p:sp>
        <p:nvSpPr>
          <p:cNvPr id="490" name="Google Shape;490;p38"/>
          <p:cNvSpPr txBox="1"/>
          <p:nvPr/>
        </p:nvSpPr>
        <p:spPr>
          <a:xfrm>
            <a:off x="8375749" y="37480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Monitors validation error and halts training as soon as the model begins to perform worse on unseen data.</a:t>
            </a:r>
            <a:endParaRPr/>
          </a:p>
        </p:txBody>
      </p:sp>
      <p:pic>
        <p:nvPicPr>
          <p:cNvPr descr="image.png" id="491" name="Google Shape;491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4825" y="24336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4336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3" name="Google Shape;493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9499" y="2433637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8" name="Google Shape;49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9"/>
          <p:cNvSpPr txBox="1"/>
          <p:nvPr/>
        </p:nvSpPr>
        <p:spPr>
          <a:xfrm>
            <a:off x="4985861" y="2700337"/>
            <a:ext cx="222027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Lab 2 Introduction</a:t>
            </a:r>
            <a:endParaRPr/>
          </a:p>
        </p:txBody>
      </p:sp>
      <p:sp>
        <p:nvSpPr>
          <p:cNvPr id="500" name="Google Shape;500;p39"/>
          <p:cNvSpPr/>
          <p:nvPr/>
        </p:nvSpPr>
        <p:spPr>
          <a:xfrm>
            <a:off x="5524500" y="3328987"/>
            <a:ext cx="1143000" cy="47625"/>
          </a:xfrm>
          <a:prstGeom prst="rect">
            <a:avLst/>
          </a:prstGeom>
          <a:solidFill>
            <a:srgbClr val="D16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4533900" y="3709987"/>
            <a:ext cx="312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Training and Evaluating the Network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Lab 2 Tasks</a:t>
            </a:r>
            <a:endParaRPr/>
          </a:p>
        </p:txBody>
      </p:sp>
      <p:sp>
        <p:nvSpPr>
          <p:cNvPr id="508" name="Google Shape;508;p40"/>
          <p:cNvSpPr txBox="1"/>
          <p:nvPr/>
        </p:nvSpPr>
        <p:spPr>
          <a:xfrm>
            <a:off x="1190625" y="274915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Loss &amp; Gradients: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Implement mse_loss and the backward_prop functions in NumPy.</a:t>
            </a:r>
            <a:endParaRPr/>
          </a:p>
        </p:txBody>
      </p:sp>
      <p:sp>
        <p:nvSpPr>
          <p:cNvPr id="509" name="Google Shape;509;p40"/>
          <p:cNvSpPr txBox="1"/>
          <p:nvPr/>
        </p:nvSpPr>
        <p:spPr>
          <a:xfrm>
            <a:off x="1190625" y="3322439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Optimization: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Write the update_params function.</a:t>
            </a:r>
            <a:endParaRPr/>
          </a:p>
        </p:txBody>
      </p:sp>
      <p:sp>
        <p:nvSpPr>
          <p:cNvPr id="510" name="Google Shape;510;p40"/>
          <p:cNvSpPr txBox="1"/>
          <p:nvPr/>
        </p:nvSpPr>
        <p:spPr>
          <a:xfrm>
            <a:off x="1190625" y="3895725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Dummy Data: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Create a simple non-linear dataset (like an XOR logic gate).</a:t>
            </a:r>
            <a:endParaRPr/>
          </a:p>
        </p:txBody>
      </p:sp>
      <p:sp>
        <p:nvSpPr>
          <p:cNvPr id="511" name="Google Shape;511;p40"/>
          <p:cNvSpPr txBox="1"/>
          <p:nvPr/>
        </p:nvSpPr>
        <p:spPr>
          <a:xfrm>
            <a:off x="1190625" y="4469010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6B3F"/>
                </a:solidFill>
                <a:latin typeface="DM Sans"/>
                <a:ea typeface="DM Sans"/>
                <a:cs typeface="DM Sans"/>
                <a:sym typeface="DM Sans"/>
              </a:rPr>
              <a:t>Execution: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Write the full training loop, run it for 1000 epochs, and verify the loss decreases.</a:t>
            </a:r>
            <a:endParaRPr/>
          </a:p>
        </p:txBody>
      </p:sp>
      <p:pic>
        <p:nvPicPr>
          <p:cNvPr descr="image.png" id="512" name="Google Shape;51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7772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5101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243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497585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0" name="Google Shape;52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1"/>
          <p:cNvSpPr/>
          <p:nvPr/>
        </p:nvSpPr>
        <p:spPr>
          <a:xfrm>
            <a:off x="1821135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9FA"/>
          </a:solidFill>
          <a:ln cap="flat" cmpd="sng" w="47625">
            <a:solidFill>
              <a:srgbClr val="D16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1"/>
          <p:cNvSpPr/>
          <p:nvPr/>
        </p:nvSpPr>
        <p:spPr>
          <a:xfrm>
            <a:off x="4594845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9FA"/>
          </a:solidFill>
          <a:ln cap="flat" cmpd="sng" w="47625">
            <a:solidFill>
              <a:srgbClr val="D16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7368554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9FA"/>
          </a:solidFill>
          <a:ln cap="flat" cmpd="sng" w="47625">
            <a:solidFill>
              <a:srgbClr val="D16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10142264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9FA"/>
          </a:solidFill>
          <a:ln cap="flat" cmpd="sng" w="47625">
            <a:solidFill>
              <a:srgbClr val="D16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1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Course Summary</a:t>
            </a:r>
            <a:endParaRPr/>
          </a:p>
        </p:txBody>
      </p:sp>
      <p:sp>
        <p:nvSpPr>
          <p:cNvPr id="526" name="Google Shape;526;p41"/>
          <p:cNvSpPr/>
          <p:nvPr/>
        </p:nvSpPr>
        <p:spPr>
          <a:xfrm>
            <a:off x="762000" y="4067175"/>
            <a:ext cx="10668000" cy="38100"/>
          </a:xfrm>
          <a:prstGeom prst="rect">
            <a:avLst/>
          </a:prstGeom>
          <a:solidFill>
            <a:srgbClr val="D16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1"/>
          <p:cNvSpPr txBox="1"/>
          <p:nvPr/>
        </p:nvSpPr>
        <p:spPr>
          <a:xfrm>
            <a:off x="703328" y="4419600"/>
            <a:ext cx="24642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1. Architecture</a:t>
            </a:r>
            <a:endParaRPr/>
          </a:p>
        </p:txBody>
      </p:sp>
      <p:sp>
        <p:nvSpPr>
          <p:cNvPr id="528" name="Google Shape;528;p41"/>
          <p:cNvSpPr txBox="1"/>
          <p:nvPr/>
        </p:nvSpPr>
        <p:spPr>
          <a:xfrm>
            <a:off x="762000" y="4857750"/>
            <a:ext cx="23468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Defining network shape, initializing weights &amp; bias matrices.</a:t>
            </a:r>
            <a:endParaRPr/>
          </a:p>
        </p:txBody>
      </p:sp>
      <p:sp>
        <p:nvSpPr>
          <p:cNvPr id="529" name="Google Shape;529;p41"/>
          <p:cNvSpPr txBox="1"/>
          <p:nvPr/>
        </p:nvSpPr>
        <p:spPr>
          <a:xfrm>
            <a:off x="3477037" y="2257425"/>
            <a:ext cx="24642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2. Forward Pass</a:t>
            </a:r>
            <a:endParaRPr/>
          </a:p>
        </p:txBody>
      </p:sp>
      <p:sp>
        <p:nvSpPr>
          <p:cNvPr id="530" name="Google Shape;530;p41"/>
          <p:cNvSpPr txBox="1"/>
          <p:nvPr/>
        </p:nvSpPr>
        <p:spPr>
          <a:xfrm>
            <a:off x="3535709" y="2695575"/>
            <a:ext cx="23468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Linear steps &amp; activation functions to get a prediction.</a:t>
            </a:r>
            <a:endParaRPr/>
          </a:p>
        </p:txBody>
      </p:sp>
      <p:sp>
        <p:nvSpPr>
          <p:cNvPr id="531" name="Google Shape;531;p41"/>
          <p:cNvSpPr txBox="1"/>
          <p:nvPr/>
        </p:nvSpPr>
        <p:spPr>
          <a:xfrm>
            <a:off x="6250747" y="4419600"/>
            <a:ext cx="24642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3. Backward Pass</a:t>
            </a:r>
            <a:endParaRPr/>
          </a:p>
        </p:txBody>
      </p:sp>
      <p:sp>
        <p:nvSpPr>
          <p:cNvPr id="532" name="Google Shape;532;p41"/>
          <p:cNvSpPr txBox="1"/>
          <p:nvPr/>
        </p:nvSpPr>
        <p:spPr>
          <a:xfrm>
            <a:off x="6309419" y="4857750"/>
            <a:ext cx="23468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Calculating loss and distributing error via chain rule.</a:t>
            </a:r>
            <a:endParaRPr/>
          </a:p>
        </p:txBody>
      </p:sp>
      <p:sp>
        <p:nvSpPr>
          <p:cNvPr id="533" name="Google Shape;533;p41"/>
          <p:cNvSpPr txBox="1"/>
          <p:nvPr/>
        </p:nvSpPr>
        <p:spPr>
          <a:xfrm>
            <a:off x="9024457" y="2257425"/>
            <a:ext cx="24642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4D"/>
                </a:solidFill>
                <a:latin typeface="Merriweather"/>
                <a:ea typeface="Merriweather"/>
                <a:cs typeface="Merriweather"/>
                <a:sym typeface="Merriweather"/>
              </a:rPr>
              <a:t>4. Optimization</a:t>
            </a:r>
            <a:endParaRPr/>
          </a:p>
        </p:txBody>
      </p:sp>
      <p:sp>
        <p:nvSpPr>
          <p:cNvPr id="534" name="Google Shape;534;p41"/>
          <p:cNvSpPr txBox="1"/>
          <p:nvPr/>
        </p:nvSpPr>
        <p:spPr>
          <a:xfrm>
            <a:off x="9083129" y="2695575"/>
            <a:ext cx="23468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Updating parameters with gradient descent iteratively.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D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/>
        </p:nvSpPr>
        <p:spPr>
          <a:xfrm>
            <a:off x="3650694" y="2566987"/>
            <a:ext cx="4890611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