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12192000"/>
  <p:notesSz cx="6858000" cy="9144000"/>
  <p:embeddedFontLst>
    <p:embeddedFont>
      <p:font typeface="Merriweather"/>
      <p:regular r:id="rId36"/>
      <p:bold r:id="rId37"/>
      <p:italic r:id="rId38"/>
      <p:boldItalic r:id="rId39"/>
    </p:embeddedFont>
    <p:embeddedFont>
      <p:font typeface="DM Sans"/>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DMSans-regular.fntdata"/><Relationship Id="rId20" Type="http://schemas.openxmlformats.org/officeDocument/2006/relationships/slide" Target="slides/slide15.xml"/><Relationship Id="rId42" Type="http://schemas.openxmlformats.org/officeDocument/2006/relationships/font" Target="fonts/DMSans-italic.fntdata"/><Relationship Id="rId41" Type="http://schemas.openxmlformats.org/officeDocument/2006/relationships/font" Target="fonts/DMSans-bold.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DMSans-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Merriweather-bold.fntdata"/><Relationship Id="rId14" Type="http://schemas.openxmlformats.org/officeDocument/2006/relationships/slide" Target="slides/slide9.xml"/><Relationship Id="rId36" Type="http://schemas.openxmlformats.org/officeDocument/2006/relationships/font" Target="fonts/Merriweather-regular.fntdata"/><Relationship Id="rId17" Type="http://schemas.openxmlformats.org/officeDocument/2006/relationships/slide" Target="slides/slide12.xml"/><Relationship Id="rId39" Type="http://schemas.openxmlformats.org/officeDocument/2006/relationships/font" Target="fonts/Merriweather-boldItalic.fntdata"/><Relationship Id="rId16" Type="http://schemas.openxmlformats.org/officeDocument/2006/relationships/slide" Target="slides/slide11.xml"/><Relationship Id="rId38" Type="http://schemas.openxmlformats.org/officeDocument/2006/relationships/font" Target="fonts/Merriweather-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0.png"/><Relationship Id="rId6"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9.png"/><Relationship Id="rId5" Type="http://schemas.openxmlformats.org/officeDocument/2006/relationships/image" Target="../media/image6.png"/><Relationship Id="rId6" Type="http://schemas.openxmlformats.org/officeDocument/2006/relationships/image" Target="../media/image3.png"/><Relationship Id="rId7" Type="http://schemas.openxmlformats.org/officeDocument/2006/relationships/image" Target="../media/image1.png"/><Relationship Id="rId8"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6.png"/><Relationship Id="rId6"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9.png"/><Relationship Id="rId6"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30.png"/><Relationship Id="rId5" Type="http://schemas.openxmlformats.org/officeDocument/2006/relationships/image" Target="../media/image15.png"/><Relationship Id="rId6"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27.png"/><Relationship Id="rId6"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image" Target="../media/image17.png"/><Relationship Id="rId6"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23.png"/><Relationship Id="rId6" Type="http://schemas.openxmlformats.org/officeDocument/2006/relationships/image" Target="../media/image2.png"/><Relationship Id="rId7" Type="http://schemas.openxmlformats.org/officeDocument/2006/relationships/image" Target="../media/image3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image" Target="../media/image32.png"/><Relationship Id="rId6"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28.png"/><Relationship Id="rId9" Type="http://schemas.openxmlformats.org/officeDocument/2006/relationships/image" Target="../media/image24.png"/><Relationship Id="rId5" Type="http://schemas.openxmlformats.org/officeDocument/2006/relationships/image" Target="../media/image26.png"/><Relationship Id="rId6" Type="http://schemas.openxmlformats.org/officeDocument/2006/relationships/image" Target="../media/image36.png"/><Relationship Id="rId7" Type="http://schemas.openxmlformats.org/officeDocument/2006/relationships/image" Target="../media/image25.png"/><Relationship Id="rId8" Type="http://schemas.openxmlformats.org/officeDocument/2006/relationships/image" Target="../media/image3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37.png"/><Relationship Id="rId6"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image" Target="../media/image2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28.png"/><Relationship Id="rId9" Type="http://schemas.openxmlformats.org/officeDocument/2006/relationships/image" Target="../media/image39.png"/><Relationship Id="rId5" Type="http://schemas.openxmlformats.org/officeDocument/2006/relationships/image" Target="../media/image26.png"/><Relationship Id="rId6" Type="http://schemas.openxmlformats.org/officeDocument/2006/relationships/image" Target="../media/image36.png"/><Relationship Id="rId7" Type="http://schemas.openxmlformats.org/officeDocument/2006/relationships/image" Target="../media/image33.png"/><Relationship Id="rId8" Type="http://schemas.openxmlformats.org/officeDocument/2006/relationships/image" Target="../media/image3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8.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8.png"/><Relationship Id="rId4" Type="http://schemas.openxmlformats.org/officeDocument/2006/relationships/image" Target="../media/image40.png"/><Relationship Id="rId5"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748"/>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1350406" y="2251769"/>
            <a:ext cx="9491186" cy="733425"/>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5250" u="none" cap="none" strike="noStrike">
                <a:solidFill>
                  <a:srgbClr val="63B3ED"/>
                </a:solidFill>
                <a:latin typeface="Merriweather"/>
                <a:ea typeface="Merriweather"/>
                <a:cs typeface="Merriweather"/>
                <a:sym typeface="Merriweather"/>
              </a:rPr>
              <a:t>Computer Vision</a:t>
            </a:r>
            <a:endParaRPr/>
          </a:p>
        </p:txBody>
      </p:sp>
      <p:sp>
        <p:nvSpPr>
          <p:cNvPr id="86" name="Google Shape;86;p13"/>
          <p:cNvSpPr txBox="1"/>
          <p:nvPr/>
        </p:nvSpPr>
        <p:spPr>
          <a:xfrm>
            <a:off x="1576387" y="3289994"/>
            <a:ext cx="9039225" cy="4875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1" lang="en-US" sz="2400" u="none" cap="none" strike="noStrike">
                <a:solidFill>
                  <a:srgbClr val="A0AEC0"/>
                </a:solidFill>
                <a:latin typeface="DM Sans"/>
                <a:ea typeface="DM Sans"/>
                <a:cs typeface="DM Sans"/>
                <a:sym typeface="DM Sans"/>
              </a:rPr>
              <a:t>From Fundamentals to Advanced Applications</a:t>
            </a:r>
            <a:endParaRPr/>
          </a:p>
        </p:txBody>
      </p:sp>
      <p:sp>
        <p:nvSpPr>
          <p:cNvPr id="87" name="Google Shape;87;p13"/>
          <p:cNvSpPr txBox="1"/>
          <p:nvPr/>
        </p:nvSpPr>
        <p:spPr>
          <a:xfrm>
            <a:off x="1576387" y="4158555"/>
            <a:ext cx="9039225"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A0AEC0"/>
                </a:solidFill>
                <a:latin typeface="DM Sans"/>
                <a:ea typeface="DM Sans"/>
                <a:cs typeface="DM Sans"/>
                <a:sym typeface="DM Sans"/>
              </a:rPr>
              <a:t>A comprehensive guide covering image processing, deep learning, and state-of-the-art developments.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748"/>
        </a:solidFill>
      </p:bgPr>
    </p:bg>
    <p:spTree>
      <p:nvGrpSpPr>
        <p:cNvPr id="91" name="Shape 91"/>
        <p:cNvGrpSpPr/>
        <p:nvPr/>
      </p:nvGrpSpPr>
      <p:grpSpPr>
        <a:xfrm>
          <a:off x="0" y="0"/>
          <a:ext cx="0" cy="0"/>
          <a:chOff x="0" y="0"/>
          <a:chExt cx="0" cy="0"/>
        </a:xfrm>
      </p:grpSpPr>
      <p:pic>
        <p:nvPicPr>
          <p:cNvPr descr="image.png" id="92" name="Google Shape;92;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3" name="Google Shape;93;p14"/>
          <p:cNvSpPr txBox="1"/>
          <p:nvPr/>
        </p:nvSpPr>
        <p:spPr>
          <a:xfrm>
            <a:off x="2005488" y="2442269"/>
            <a:ext cx="8181022" cy="7143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500" u="none" cap="none" strike="noStrike">
                <a:solidFill>
                  <a:srgbClr val="63B3ED"/>
                </a:solidFill>
                <a:latin typeface="Merriweather"/>
                <a:ea typeface="Merriweather"/>
                <a:cs typeface="Merriweather"/>
                <a:sym typeface="Merriweather"/>
              </a:rPr>
              <a:t>Part 1: Fundamentals</a:t>
            </a:r>
            <a:endParaRPr/>
          </a:p>
        </p:txBody>
      </p:sp>
      <p:sp>
        <p:nvSpPr>
          <p:cNvPr id="94" name="Google Shape;94;p14"/>
          <p:cNvSpPr/>
          <p:nvPr/>
        </p:nvSpPr>
        <p:spPr>
          <a:xfrm>
            <a:off x="5381625" y="3442394"/>
            <a:ext cx="1428750" cy="38100"/>
          </a:xfrm>
          <a:prstGeom prst="rect">
            <a:avLst/>
          </a:prstGeom>
          <a:solidFill>
            <a:srgbClr val="63B3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5" name="Google Shape;95;p14"/>
          <p:cNvSpPr txBox="1"/>
          <p:nvPr/>
        </p:nvSpPr>
        <p:spPr>
          <a:xfrm>
            <a:off x="2200275" y="3785294"/>
            <a:ext cx="7791450" cy="4875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1" lang="en-US" sz="2400" u="none" cap="none" strike="noStrike">
                <a:solidFill>
                  <a:srgbClr val="A0AEC0"/>
                </a:solidFill>
                <a:latin typeface="DM Sans"/>
                <a:ea typeface="DM Sans"/>
                <a:cs typeface="DM Sans"/>
                <a:sym typeface="DM Sans"/>
              </a:rPr>
              <a:t>Understanding the building blocks of visual intelligence.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748"/>
        </a:solidFill>
      </p:bgPr>
    </p:bg>
    <p:spTree>
      <p:nvGrpSpPr>
        <p:cNvPr id="99" name="Shape 99"/>
        <p:cNvGrpSpPr/>
        <p:nvPr/>
      </p:nvGrpSpPr>
      <p:grpSpPr>
        <a:xfrm>
          <a:off x="0" y="0"/>
          <a:ext cx="0" cy="0"/>
          <a:chOff x="0" y="0"/>
          <a:chExt cx="0" cy="0"/>
        </a:xfrm>
      </p:grpSpPr>
      <p:pic>
        <p:nvPicPr>
          <p:cNvPr descr="image.png" id="100" name="Google Shape;100;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1" name="Google Shape;101;p15"/>
          <p:cNvSpPr txBox="1"/>
          <p:nvPr/>
        </p:nvSpPr>
        <p:spPr>
          <a:xfrm>
            <a:off x="571500" y="571500"/>
            <a:ext cx="4950618" cy="114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63B3ED"/>
                </a:solidFill>
                <a:latin typeface="Merriweather"/>
                <a:ea typeface="Merriweather"/>
                <a:cs typeface="Merriweather"/>
                <a:sym typeface="Merriweather"/>
              </a:rPr>
              <a:t>What is Computer Vision?</a:t>
            </a:r>
            <a:endParaRPr/>
          </a:p>
        </p:txBody>
      </p:sp>
      <p:pic>
        <p:nvPicPr>
          <p:cNvPr descr="image.png" id="102" name="Google Shape;102;p15"/>
          <p:cNvPicPr preferRelativeResize="0"/>
          <p:nvPr/>
        </p:nvPicPr>
        <p:blipFill rotWithShape="1">
          <a:blip r:embed="rId4">
            <a:alphaModFix/>
          </a:blip>
          <a:srcRect b="0" l="0" r="0" t="0"/>
          <a:stretch/>
        </p:blipFill>
        <p:spPr>
          <a:xfrm>
            <a:off x="6334125" y="0"/>
            <a:ext cx="5857875" cy="6858000"/>
          </a:xfrm>
          <a:prstGeom prst="rect">
            <a:avLst/>
          </a:prstGeom>
          <a:noFill/>
          <a:ln>
            <a:noFill/>
          </a:ln>
        </p:spPr>
      </p:pic>
      <p:sp>
        <p:nvSpPr>
          <p:cNvPr id="103" name="Google Shape;103;p15"/>
          <p:cNvSpPr txBox="1"/>
          <p:nvPr/>
        </p:nvSpPr>
        <p:spPr>
          <a:xfrm>
            <a:off x="571500" y="2709862"/>
            <a:ext cx="471487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Computer Vision (CV) is a field of artificial intelligence that enables machines to interpret, understand, and derive meaningful information from visual data like images and videos.</a:t>
            </a:r>
            <a:endParaRPr/>
          </a:p>
        </p:txBody>
      </p:sp>
      <p:sp>
        <p:nvSpPr>
          <p:cNvPr id="104" name="Google Shape;104;p15"/>
          <p:cNvSpPr txBox="1"/>
          <p:nvPr/>
        </p:nvSpPr>
        <p:spPr>
          <a:xfrm>
            <a:off x="571500" y="4310062"/>
            <a:ext cx="471487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It seeks to replicate the complexity of the human vision system using mathematical algorithms and neural networks, moving beyond simple capture to deep comprehension.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748"/>
        </a:solidFill>
      </p:bgPr>
    </p:bg>
    <p:spTree>
      <p:nvGrpSpPr>
        <p:cNvPr id="108" name="Shape 108"/>
        <p:cNvGrpSpPr/>
        <p:nvPr/>
      </p:nvGrpSpPr>
      <p:grpSpPr>
        <a:xfrm>
          <a:off x="0" y="0"/>
          <a:ext cx="0" cy="0"/>
          <a:chOff x="0" y="0"/>
          <a:chExt cx="0" cy="0"/>
        </a:xfrm>
      </p:grpSpPr>
      <p:pic>
        <p:nvPicPr>
          <p:cNvPr descr="image.png" id="109" name="Google Shape;109;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0" name="Google Shape;110;p16"/>
          <p:cNvPicPr preferRelativeResize="0"/>
          <p:nvPr/>
        </p:nvPicPr>
        <p:blipFill rotWithShape="1">
          <a:blip r:embed="rId4">
            <a:alphaModFix/>
          </a:blip>
          <a:srcRect b="0" l="0" r="0" t="0"/>
          <a:stretch/>
        </p:blipFill>
        <p:spPr>
          <a:xfrm>
            <a:off x="6334125" y="2247900"/>
            <a:ext cx="5286375" cy="3810000"/>
          </a:xfrm>
          <a:prstGeom prst="rect">
            <a:avLst/>
          </a:prstGeom>
          <a:noFill/>
          <a:ln>
            <a:noFill/>
          </a:ln>
        </p:spPr>
      </p:pic>
      <p:sp>
        <p:nvSpPr>
          <p:cNvPr id="111" name="Google Shape;111;p16"/>
          <p:cNvSpPr txBox="1"/>
          <p:nvPr/>
        </p:nvSpPr>
        <p:spPr>
          <a:xfrm>
            <a:off x="571500" y="2157412"/>
            <a:ext cx="5550693"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90CDF4"/>
                </a:solidFill>
                <a:latin typeface="Merriweather"/>
                <a:ea typeface="Merriweather"/>
                <a:cs typeface="Merriweather"/>
                <a:sym typeface="Merriweather"/>
              </a:rPr>
              <a:t>Pixels and Matrices</a:t>
            </a:r>
            <a:endParaRPr/>
          </a:p>
        </p:txBody>
      </p:sp>
      <p:sp>
        <p:nvSpPr>
          <p:cNvPr id="112" name="Google Shape;112;p16"/>
          <p:cNvSpPr txBox="1"/>
          <p:nvPr/>
        </p:nvSpPr>
        <p:spPr>
          <a:xfrm>
            <a:off x="1047750" y="2643187"/>
            <a:ext cx="48101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To a computer, an image is just a grid of numerical values (pixels).</a:t>
            </a:r>
            <a:endParaRPr/>
          </a:p>
        </p:txBody>
      </p:sp>
      <p:sp>
        <p:nvSpPr>
          <p:cNvPr id="113" name="Google Shape;113;p16"/>
          <p:cNvSpPr txBox="1"/>
          <p:nvPr/>
        </p:nvSpPr>
        <p:spPr>
          <a:xfrm>
            <a:off x="1047750" y="3443287"/>
            <a:ext cx="48101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Grayscale images are represented by a 2D matrix where values denote intensity (0-255).</a:t>
            </a:r>
            <a:endParaRPr/>
          </a:p>
        </p:txBody>
      </p:sp>
      <p:sp>
        <p:nvSpPr>
          <p:cNvPr id="114" name="Google Shape;114;p16"/>
          <p:cNvSpPr txBox="1"/>
          <p:nvPr/>
        </p:nvSpPr>
        <p:spPr>
          <a:xfrm>
            <a:off x="1047750" y="4243387"/>
            <a:ext cx="48101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Color images are typically represented as 3D tensors, combining Red, Green, and Blue (RGB) channels.</a:t>
            </a:r>
            <a:endParaRPr/>
          </a:p>
        </p:txBody>
      </p:sp>
      <p:sp>
        <p:nvSpPr>
          <p:cNvPr id="115" name="Google Shape;115;p16"/>
          <p:cNvSpPr txBox="1"/>
          <p:nvPr/>
        </p:nvSpPr>
        <p:spPr>
          <a:xfrm>
            <a:off x="1047750" y="5043487"/>
            <a:ext cx="481012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All CV algorithms are essentially complex mathematical operations performed on these matrices.</a:t>
            </a:r>
            <a:endParaRPr/>
          </a:p>
        </p:txBody>
      </p:sp>
      <p:pic>
        <p:nvPicPr>
          <p:cNvPr descr="image.png" id="116" name="Google Shape;116;p16"/>
          <p:cNvPicPr preferRelativeResize="0"/>
          <p:nvPr/>
        </p:nvPicPr>
        <p:blipFill rotWithShape="1">
          <a:blip r:embed="rId5">
            <a:alphaModFix/>
          </a:blip>
          <a:srcRect b="0" l="0" r="0" t="0"/>
          <a:stretch/>
        </p:blipFill>
        <p:spPr>
          <a:xfrm>
            <a:off x="6334125" y="2247900"/>
            <a:ext cx="5286375" cy="3810000"/>
          </a:xfrm>
          <a:prstGeom prst="rect">
            <a:avLst/>
          </a:prstGeom>
          <a:noFill/>
          <a:ln>
            <a:noFill/>
          </a:ln>
        </p:spPr>
      </p:pic>
      <p:sp>
        <p:nvSpPr>
          <p:cNvPr id="117" name="Google Shape;117;p16"/>
          <p:cNvSpPr txBox="1"/>
          <p:nvPr/>
        </p:nvSpPr>
        <p:spPr>
          <a:xfrm>
            <a:off x="571500" y="381000"/>
            <a:ext cx="11601450"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63B3ED"/>
                </a:solidFill>
                <a:latin typeface="Merriweather"/>
                <a:ea typeface="Merriweather"/>
                <a:cs typeface="Merriweather"/>
                <a:sym typeface="Merriweather"/>
              </a:rPr>
              <a:t>Images as Digital Data</a:t>
            </a:r>
            <a:endParaRPr/>
          </a:p>
        </p:txBody>
      </p:sp>
      <p:sp>
        <p:nvSpPr>
          <p:cNvPr id="118" name="Google Shape;118;p16"/>
          <p:cNvSpPr/>
          <p:nvPr/>
        </p:nvSpPr>
        <p:spPr>
          <a:xfrm>
            <a:off x="571500" y="1047750"/>
            <a:ext cx="11049000" cy="19050"/>
          </a:xfrm>
          <a:prstGeom prst="rect">
            <a:avLst/>
          </a:prstGeom>
          <a:solidFill>
            <a:srgbClr val="4A556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19" name="Google Shape;119;p16"/>
          <p:cNvPicPr preferRelativeResize="0"/>
          <p:nvPr/>
        </p:nvPicPr>
        <p:blipFill rotWithShape="1">
          <a:blip r:embed="rId6">
            <a:alphaModFix/>
          </a:blip>
          <a:srcRect b="0" l="0" r="0" t="0"/>
          <a:stretch/>
        </p:blipFill>
        <p:spPr>
          <a:xfrm>
            <a:off x="762000" y="2662237"/>
            <a:ext cx="114300" cy="200025"/>
          </a:xfrm>
          <a:prstGeom prst="rect">
            <a:avLst/>
          </a:prstGeom>
          <a:noFill/>
          <a:ln>
            <a:noFill/>
          </a:ln>
        </p:spPr>
      </p:pic>
      <p:pic>
        <p:nvPicPr>
          <p:cNvPr descr="image.png" id="120" name="Google Shape;120;p16"/>
          <p:cNvPicPr preferRelativeResize="0"/>
          <p:nvPr/>
        </p:nvPicPr>
        <p:blipFill rotWithShape="1">
          <a:blip r:embed="rId6">
            <a:alphaModFix/>
          </a:blip>
          <a:srcRect b="0" l="0" r="0" t="0"/>
          <a:stretch/>
        </p:blipFill>
        <p:spPr>
          <a:xfrm>
            <a:off x="762000" y="3462337"/>
            <a:ext cx="114300" cy="200025"/>
          </a:xfrm>
          <a:prstGeom prst="rect">
            <a:avLst/>
          </a:prstGeom>
          <a:noFill/>
          <a:ln>
            <a:noFill/>
          </a:ln>
        </p:spPr>
      </p:pic>
      <p:pic>
        <p:nvPicPr>
          <p:cNvPr descr="image.png" id="121" name="Google Shape;121;p16"/>
          <p:cNvPicPr preferRelativeResize="0"/>
          <p:nvPr/>
        </p:nvPicPr>
        <p:blipFill rotWithShape="1">
          <a:blip r:embed="rId6">
            <a:alphaModFix/>
          </a:blip>
          <a:srcRect b="0" l="0" r="0" t="0"/>
          <a:stretch/>
        </p:blipFill>
        <p:spPr>
          <a:xfrm>
            <a:off x="762000" y="4262437"/>
            <a:ext cx="114300" cy="200025"/>
          </a:xfrm>
          <a:prstGeom prst="rect">
            <a:avLst/>
          </a:prstGeom>
          <a:noFill/>
          <a:ln>
            <a:noFill/>
          </a:ln>
        </p:spPr>
      </p:pic>
      <p:pic>
        <p:nvPicPr>
          <p:cNvPr descr="image.png" id="122" name="Google Shape;122;p16"/>
          <p:cNvPicPr preferRelativeResize="0"/>
          <p:nvPr/>
        </p:nvPicPr>
        <p:blipFill rotWithShape="1">
          <a:blip r:embed="rId6">
            <a:alphaModFix/>
          </a:blip>
          <a:srcRect b="0" l="0" r="0" t="0"/>
          <a:stretch/>
        </p:blipFill>
        <p:spPr>
          <a:xfrm>
            <a:off x="762000" y="5062537"/>
            <a:ext cx="114300" cy="2000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748"/>
        </a:solidFill>
      </p:bgPr>
    </p:bg>
    <p:spTree>
      <p:nvGrpSpPr>
        <p:cNvPr id="126" name="Shape 126"/>
        <p:cNvGrpSpPr/>
        <p:nvPr/>
      </p:nvGrpSpPr>
      <p:grpSpPr>
        <a:xfrm>
          <a:off x="0" y="0"/>
          <a:ext cx="0" cy="0"/>
          <a:chOff x="0" y="0"/>
          <a:chExt cx="0" cy="0"/>
        </a:xfrm>
      </p:grpSpPr>
      <p:pic>
        <p:nvPicPr>
          <p:cNvPr descr="image.png" id="127" name="Google Shape;127;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8" name="Google Shape;128;p17"/>
          <p:cNvPicPr preferRelativeResize="0"/>
          <p:nvPr/>
        </p:nvPicPr>
        <p:blipFill rotWithShape="1">
          <a:blip r:embed="rId4">
            <a:alphaModFix/>
          </a:blip>
          <a:srcRect b="0" l="0" r="0" t="0"/>
          <a:stretch/>
        </p:blipFill>
        <p:spPr>
          <a:xfrm>
            <a:off x="571500" y="2038350"/>
            <a:ext cx="3492549" cy="4229100"/>
          </a:xfrm>
          <a:prstGeom prst="rect">
            <a:avLst/>
          </a:prstGeom>
          <a:noFill/>
          <a:ln>
            <a:noFill/>
          </a:ln>
        </p:spPr>
      </p:pic>
      <p:pic>
        <p:nvPicPr>
          <p:cNvPr descr="image.png" id="129" name="Google Shape;129;p17"/>
          <p:cNvPicPr preferRelativeResize="0"/>
          <p:nvPr/>
        </p:nvPicPr>
        <p:blipFill rotWithShape="1">
          <a:blip r:embed="rId5">
            <a:alphaModFix/>
          </a:blip>
          <a:srcRect b="0" l="0" r="0" t="0"/>
          <a:stretch/>
        </p:blipFill>
        <p:spPr>
          <a:xfrm>
            <a:off x="4349799" y="2038350"/>
            <a:ext cx="3492549" cy="4229100"/>
          </a:xfrm>
          <a:prstGeom prst="rect">
            <a:avLst/>
          </a:prstGeom>
          <a:noFill/>
          <a:ln>
            <a:noFill/>
          </a:ln>
        </p:spPr>
      </p:pic>
      <p:pic>
        <p:nvPicPr>
          <p:cNvPr descr="image.png" id="130" name="Google Shape;130;p17"/>
          <p:cNvPicPr preferRelativeResize="0"/>
          <p:nvPr/>
        </p:nvPicPr>
        <p:blipFill rotWithShape="1">
          <a:blip r:embed="rId6">
            <a:alphaModFix/>
          </a:blip>
          <a:srcRect b="0" l="0" r="0" t="0"/>
          <a:stretch/>
        </p:blipFill>
        <p:spPr>
          <a:xfrm>
            <a:off x="8128099" y="2038350"/>
            <a:ext cx="3492549" cy="4229100"/>
          </a:xfrm>
          <a:prstGeom prst="rect">
            <a:avLst/>
          </a:prstGeom>
          <a:noFill/>
          <a:ln>
            <a:noFill/>
          </a:ln>
        </p:spPr>
      </p:pic>
      <p:sp>
        <p:nvSpPr>
          <p:cNvPr id="131" name="Google Shape;131;p17"/>
          <p:cNvSpPr txBox="1"/>
          <p:nvPr/>
        </p:nvSpPr>
        <p:spPr>
          <a:xfrm>
            <a:off x="1282571" y="2990850"/>
            <a:ext cx="2070258" cy="342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90CDF4"/>
                </a:solidFill>
                <a:latin typeface="Merriweather"/>
                <a:ea typeface="Merriweather"/>
                <a:cs typeface="Merriweather"/>
                <a:sym typeface="Merriweather"/>
              </a:rPr>
              <a:t>Linear Algebra</a:t>
            </a:r>
            <a:endParaRPr/>
          </a:p>
        </p:txBody>
      </p:sp>
      <p:sp>
        <p:nvSpPr>
          <p:cNvPr id="132" name="Google Shape;132;p17"/>
          <p:cNvSpPr txBox="1"/>
          <p:nvPr/>
        </p:nvSpPr>
        <p:spPr>
          <a:xfrm>
            <a:off x="857250" y="3667125"/>
            <a:ext cx="2921049" cy="1828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The language of CV. Vectors, matrices, tensors, and operations like Singular Value Decomposition (SVD) are essential for transforming and manipulating image data spaces.</a:t>
            </a:r>
            <a:endParaRPr/>
          </a:p>
        </p:txBody>
      </p:sp>
      <p:sp>
        <p:nvSpPr>
          <p:cNvPr id="133" name="Google Shape;133;p17"/>
          <p:cNvSpPr txBox="1"/>
          <p:nvPr/>
        </p:nvSpPr>
        <p:spPr>
          <a:xfrm>
            <a:off x="4845843" y="2990850"/>
            <a:ext cx="2500312" cy="342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90CDF4"/>
                </a:solidFill>
                <a:latin typeface="Merriweather"/>
                <a:ea typeface="Merriweather"/>
                <a:cs typeface="Merriweather"/>
                <a:sym typeface="Merriweather"/>
              </a:rPr>
              <a:t>Signal Processing</a:t>
            </a:r>
            <a:endParaRPr/>
          </a:p>
        </p:txBody>
      </p:sp>
      <p:sp>
        <p:nvSpPr>
          <p:cNvPr id="134" name="Google Shape;134;p17"/>
          <p:cNvSpPr txBox="1"/>
          <p:nvPr/>
        </p:nvSpPr>
        <p:spPr>
          <a:xfrm>
            <a:off x="4635549" y="3667125"/>
            <a:ext cx="2921049" cy="15240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Techniques like the Fast Fourier Transform (FFT) allow analysis of images in the frequency domain, crucial for filtering, compression, and feature extraction.</a:t>
            </a:r>
            <a:endParaRPr/>
          </a:p>
        </p:txBody>
      </p:sp>
      <p:sp>
        <p:nvSpPr>
          <p:cNvPr id="135" name="Google Shape;135;p17"/>
          <p:cNvSpPr txBox="1"/>
          <p:nvPr/>
        </p:nvSpPr>
        <p:spPr>
          <a:xfrm>
            <a:off x="8340822" y="2990850"/>
            <a:ext cx="3067102" cy="685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90CDF4"/>
                </a:solidFill>
                <a:latin typeface="Merriweather"/>
                <a:ea typeface="Merriweather"/>
                <a:cs typeface="Merriweather"/>
                <a:sym typeface="Merriweather"/>
              </a:rPr>
              <a:t>Calculus &amp; Probability</a:t>
            </a:r>
            <a:endParaRPr/>
          </a:p>
        </p:txBody>
      </p:sp>
      <p:sp>
        <p:nvSpPr>
          <p:cNvPr id="136" name="Google Shape;136;p17"/>
          <p:cNvSpPr txBox="1"/>
          <p:nvPr/>
        </p:nvSpPr>
        <p:spPr>
          <a:xfrm>
            <a:off x="8413849" y="4010025"/>
            <a:ext cx="2921049" cy="1828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Required for optimizing models (gradient descent in neural networks) and handling the inherent uncertainty in visual interpretations (Bayesian inference).</a:t>
            </a:r>
            <a:endParaRPr/>
          </a:p>
        </p:txBody>
      </p:sp>
      <p:pic>
        <p:nvPicPr>
          <p:cNvPr descr="image.png" id="137" name="Google Shape;137;p17"/>
          <p:cNvPicPr preferRelativeResize="0"/>
          <p:nvPr/>
        </p:nvPicPr>
        <p:blipFill rotWithShape="1">
          <a:blip r:embed="rId7">
            <a:alphaModFix/>
          </a:blip>
          <a:srcRect b="0" l="0" r="0" t="0"/>
          <a:stretch/>
        </p:blipFill>
        <p:spPr>
          <a:xfrm>
            <a:off x="2174825" y="2371725"/>
            <a:ext cx="285750" cy="381000"/>
          </a:xfrm>
          <a:prstGeom prst="rect">
            <a:avLst/>
          </a:prstGeom>
          <a:noFill/>
          <a:ln>
            <a:noFill/>
          </a:ln>
        </p:spPr>
      </p:pic>
      <p:pic>
        <p:nvPicPr>
          <p:cNvPr descr="image.png" id="138" name="Google Shape;138;p17"/>
          <p:cNvPicPr preferRelativeResize="0"/>
          <p:nvPr/>
        </p:nvPicPr>
        <p:blipFill rotWithShape="1">
          <a:blip r:embed="rId8">
            <a:alphaModFix/>
          </a:blip>
          <a:srcRect b="0" l="0" r="0" t="0"/>
          <a:stretch/>
        </p:blipFill>
        <p:spPr>
          <a:xfrm>
            <a:off x="5857875" y="2371725"/>
            <a:ext cx="476250" cy="381000"/>
          </a:xfrm>
          <a:prstGeom prst="rect">
            <a:avLst/>
          </a:prstGeom>
          <a:noFill/>
          <a:ln>
            <a:noFill/>
          </a:ln>
        </p:spPr>
      </p:pic>
      <p:pic>
        <p:nvPicPr>
          <p:cNvPr descr="image.png" id="139" name="Google Shape;139;p17"/>
          <p:cNvPicPr preferRelativeResize="0"/>
          <p:nvPr/>
        </p:nvPicPr>
        <p:blipFill rotWithShape="1">
          <a:blip r:embed="rId9">
            <a:alphaModFix/>
          </a:blip>
          <a:srcRect b="0" l="0" r="0" t="0"/>
          <a:stretch/>
        </p:blipFill>
        <p:spPr>
          <a:xfrm>
            <a:off x="9683799" y="2371725"/>
            <a:ext cx="381000" cy="381000"/>
          </a:xfrm>
          <a:prstGeom prst="rect">
            <a:avLst/>
          </a:prstGeom>
          <a:noFill/>
          <a:ln>
            <a:noFill/>
          </a:ln>
        </p:spPr>
      </p:pic>
      <p:sp>
        <p:nvSpPr>
          <p:cNvPr id="140" name="Google Shape;140;p17"/>
          <p:cNvSpPr txBox="1"/>
          <p:nvPr/>
        </p:nvSpPr>
        <p:spPr>
          <a:xfrm>
            <a:off x="571500" y="381000"/>
            <a:ext cx="11601450"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63B3ED"/>
                </a:solidFill>
                <a:latin typeface="Merriweather"/>
                <a:ea typeface="Merriweather"/>
                <a:cs typeface="Merriweather"/>
                <a:sym typeface="Merriweather"/>
              </a:rPr>
              <a:t>Mathematical Foundations</a:t>
            </a:r>
            <a:endParaRPr/>
          </a:p>
        </p:txBody>
      </p:sp>
      <p:sp>
        <p:nvSpPr>
          <p:cNvPr id="141" name="Google Shape;141;p17"/>
          <p:cNvSpPr/>
          <p:nvPr/>
        </p:nvSpPr>
        <p:spPr>
          <a:xfrm>
            <a:off x="571500" y="1047750"/>
            <a:ext cx="11049000" cy="19050"/>
          </a:xfrm>
          <a:prstGeom prst="rect">
            <a:avLst/>
          </a:prstGeom>
          <a:solidFill>
            <a:srgbClr val="4A556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748"/>
        </a:solidFill>
      </p:bgPr>
    </p:bg>
    <p:spTree>
      <p:nvGrpSpPr>
        <p:cNvPr id="145" name="Shape 145"/>
        <p:cNvGrpSpPr/>
        <p:nvPr/>
      </p:nvGrpSpPr>
      <p:grpSpPr>
        <a:xfrm>
          <a:off x="0" y="0"/>
          <a:ext cx="0" cy="0"/>
          <a:chOff x="0" y="0"/>
          <a:chExt cx="0" cy="0"/>
        </a:xfrm>
      </p:grpSpPr>
      <p:pic>
        <p:nvPicPr>
          <p:cNvPr descr="image.png" id="146" name="Google Shape;146;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7" name="Google Shape;147;p18"/>
          <p:cNvPicPr preferRelativeResize="0"/>
          <p:nvPr/>
        </p:nvPicPr>
        <p:blipFill rotWithShape="1">
          <a:blip r:embed="rId4">
            <a:alphaModFix/>
          </a:blip>
          <a:srcRect b="0" l="0" r="0" t="0"/>
          <a:stretch/>
        </p:blipFill>
        <p:spPr>
          <a:xfrm>
            <a:off x="6334125" y="2247900"/>
            <a:ext cx="5286375" cy="3810000"/>
          </a:xfrm>
          <a:prstGeom prst="rect">
            <a:avLst/>
          </a:prstGeom>
          <a:noFill/>
          <a:ln>
            <a:noFill/>
          </a:ln>
        </p:spPr>
      </p:pic>
      <p:sp>
        <p:nvSpPr>
          <p:cNvPr id="148" name="Google Shape;148;p18"/>
          <p:cNvSpPr txBox="1"/>
          <p:nvPr/>
        </p:nvSpPr>
        <p:spPr>
          <a:xfrm>
            <a:off x="571500" y="2252662"/>
            <a:ext cx="5550693"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90CDF4"/>
                </a:solidFill>
                <a:latin typeface="Merriweather"/>
                <a:ea typeface="Merriweather"/>
                <a:cs typeface="Merriweather"/>
                <a:sym typeface="Merriweather"/>
              </a:rPr>
              <a:t>Before Deep Learning</a:t>
            </a:r>
            <a:endParaRPr/>
          </a:p>
        </p:txBody>
      </p:sp>
      <p:sp>
        <p:nvSpPr>
          <p:cNvPr id="149" name="Google Shape;149;p18"/>
          <p:cNvSpPr txBox="1"/>
          <p:nvPr/>
        </p:nvSpPr>
        <p:spPr>
          <a:xfrm>
            <a:off x="1047750" y="2738437"/>
            <a:ext cx="481012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2E8F0"/>
                </a:solidFill>
                <a:latin typeface="DM Sans"/>
                <a:ea typeface="DM Sans"/>
                <a:cs typeface="DM Sans"/>
                <a:sym typeface="DM Sans"/>
              </a:rPr>
              <a:t>Enhancement:</a:t>
            </a:r>
            <a:r>
              <a:rPr b="0" i="0" lang="en-US" sz="1500" u="none" cap="none" strike="noStrike">
                <a:solidFill>
                  <a:srgbClr val="E2E8F0"/>
                </a:solidFill>
                <a:latin typeface="DM Sans"/>
                <a:ea typeface="DM Sans"/>
                <a:cs typeface="DM Sans"/>
                <a:sym typeface="DM Sans"/>
              </a:rPr>
              <a:t> Improving image quality (e.g., Histogram Equalization, Noise reduction via Median Filtering).</a:t>
            </a:r>
            <a:endParaRPr/>
          </a:p>
        </p:txBody>
      </p:sp>
      <p:sp>
        <p:nvSpPr>
          <p:cNvPr id="150" name="Google Shape;150;p18"/>
          <p:cNvSpPr txBox="1"/>
          <p:nvPr/>
        </p:nvSpPr>
        <p:spPr>
          <a:xfrm>
            <a:off x="1047750" y="3843337"/>
            <a:ext cx="481012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2E8F0"/>
                </a:solidFill>
                <a:latin typeface="DM Sans"/>
                <a:ea typeface="DM Sans"/>
                <a:cs typeface="DM Sans"/>
                <a:sym typeface="DM Sans"/>
              </a:rPr>
              <a:t>Feature Extraction:</a:t>
            </a:r>
            <a:r>
              <a:rPr b="0" i="0" lang="en-US" sz="1500" u="none" cap="none" strike="noStrike">
                <a:solidFill>
                  <a:srgbClr val="E2E8F0"/>
                </a:solidFill>
                <a:latin typeface="DM Sans"/>
                <a:ea typeface="DM Sans"/>
                <a:cs typeface="DM Sans"/>
                <a:sym typeface="DM Sans"/>
              </a:rPr>
              <a:t> Identifying distinctive elements. Edge detection algorithms find object boundaries by detecting sharp changes in brightness.</a:t>
            </a:r>
            <a:endParaRPr/>
          </a:p>
        </p:txBody>
      </p:sp>
      <p:sp>
        <p:nvSpPr>
          <p:cNvPr id="151" name="Google Shape;151;p18"/>
          <p:cNvSpPr txBox="1"/>
          <p:nvPr/>
        </p:nvSpPr>
        <p:spPr>
          <a:xfrm>
            <a:off x="1047750" y="4948237"/>
            <a:ext cx="481012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2E8F0"/>
                </a:solidFill>
                <a:latin typeface="DM Sans"/>
                <a:ea typeface="DM Sans"/>
                <a:cs typeface="DM Sans"/>
                <a:sym typeface="DM Sans"/>
              </a:rPr>
              <a:t>Morphological Operations:</a:t>
            </a:r>
            <a:r>
              <a:rPr b="0" i="0" lang="en-US" sz="1500" u="none" cap="none" strike="noStrike">
                <a:solidFill>
                  <a:srgbClr val="E2E8F0"/>
                </a:solidFill>
                <a:latin typeface="DM Sans"/>
                <a:ea typeface="DM Sans"/>
                <a:cs typeface="DM Sans"/>
                <a:sym typeface="DM Sans"/>
              </a:rPr>
              <a:t> Techniques like erosion and dilation used to process the structure of shapes within an image.</a:t>
            </a:r>
            <a:endParaRPr/>
          </a:p>
        </p:txBody>
      </p:sp>
      <p:pic>
        <p:nvPicPr>
          <p:cNvPr descr="image.png" id="152" name="Google Shape;152;p18"/>
          <p:cNvPicPr preferRelativeResize="0"/>
          <p:nvPr/>
        </p:nvPicPr>
        <p:blipFill rotWithShape="1">
          <a:blip r:embed="rId5">
            <a:alphaModFix/>
          </a:blip>
          <a:srcRect b="0" l="0" r="0" t="0"/>
          <a:stretch/>
        </p:blipFill>
        <p:spPr>
          <a:xfrm>
            <a:off x="6334125" y="2247900"/>
            <a:ext cx="5286375" cy="3810000"/>
          </a:xfrm>
          <a:prstGeom prst="rect">
            <a:avLst/>
          </a:prstGeom>
          <a:noFill/>
          <a:ln>
            <a:noFill/>
          </a:ln>
        </p:spPr>
      </p:pic>
      <p:sp>
        <p:nvSpPr>
          <p:cNvPr id="153" name="Google Shape;153;p18"/>
          <p:cNvSpPr txBox="1"/>
          <p:nvPr/>
        </p:nvSpPr>
        <p:spPr>
          <a:xfrm>
            <a:off x="571500" y="381000"/>
            <a:ext cx="11601450"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63B3ED"/>
                </a:solidFill>
                <a:latin typeface="Merriweather"/>
                <a:ea typeface="Merriweather"/>
                <a:cs typeface="Merriweather"/>
                <a:sym typeface="Merriweather"/>
              </a:rPr>
              <a:t>Traditional Image Processing</a:t>
            </a:r>
            <a:endParaRPr/>
          </a:p>
        </p:txBody>
      </p:sp>
      <p:sp>
        <p:nvSpPr>
          <p:cNvPr id="154" name="Google Shape;154;p18"/>
          <p:cNvSpPr/>
          <p:nvPr/>
        </p:nvSpPr>
        <p:spPr>
          <a:xfrm>
            <a:off x="571500" y="1047750"/>
            <a:ext cx="11049000" cy="19050"/>
          </a:xfrm>
          <a:prstGeom prst="rect">
            <a:avLst/>
          </a:prstGeom>
          <a:solidFill>
            <a:srgbClr val="4A556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55" name="Google Shape;155;p18"/>
          <p:cNvPicPr preferRelativeResize="0"/>
          <p:nvPr/>
        </p:nvPicPr>
        <p:blipFill rotWithShape="1">
          <a:blip r:embed="rId6">
            <a:alphaModFix/>
          </a:blip>
          <a:srcRect b="0" l="0" r="0" t="0"/>
          <a:stretch/>
        </p:blipFill>
        <p:spPr>
          <a:xfrm>
            <a:off x="762000" y="2757487"/>
            <a:ext cx="114300" cy="200025"/>
          </a:xfrm>
          <a:prstGeom prst="rect">
            <a:avLst/>
          </a:prstGeom>
          <a:noFill/>
          <a:ln>
            <a:noFill/>
          </a:ln>
        </p:spPr>
      </p:pic>
      <p:pic>
        <p:nvPicPr>
          <p:cNvPr descr="image.png" id="156" name="Google Shape;156;p18"/>
          <p:cNvPicPr preferRelativeResize="0"/>
          <p:nvPr/>
        </p:nvPicPr>
        <p:blipFill rotWithShape="1">
          <a:blip r:embed="rId6">
            <a:alphaModFix/>
          </a:blip>
          <a:srcRect b="0" l="0" r="0" t="0"/>
          <a:stretch/>
        </p:blipFill>
        <p:spPr>
          <a:xfrm>
            <a:off x="762000" y="3862387"/>
            <a:ext cx="114300" cy="200025"/>
          </a:xfrm>
          <a:prstGeom prst="rect">
            <a:avLst/>
          </a:prstGeom>
          <a:noFill/>
          <a:ln>
            <a:noFill/>
          </a:ln>
        </p:spPr>
      </p:pic>
      <p:pic>
        <p:nvPicPr>
          <p:cNvPr descr="image.png" id="157" name="Google Shape;157;p18"/>
          <p:cNvPicPr preferRelativeResize="0"/>
          <p:nvPr/>
        </p:nvPicPr>
        <p:blipFill rotWithShape="1">
          <a:blip r:embed="rId6">
            <a:alphaModFix/>
          </a:blip>
          <a:srcRect b="0" l="0" r="0" t="0"/>
          <a:stretch/>
        </p:blipFill>
        <p:spPr>
          <a:xfrm>
            <a:off x="762000" y="4967287"/>
            <a:ext cx="114300" cy="2000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748"/>
        </a:solidFill>
      </p:bgPr>
    </p:bg>
    <p:spTree>
      <p:nvGrpSpPr>
        <p:cNvPr id="161" name="Shape 161"/>
        <p:cNvGrpSpPr/>
        <p:nvPr/>
      </p:nvGrpSpPr>
      <p:grpSpPr>
        <a:xfrm>
          <a:off x="0" y="0"/>
          <a:ext cx="0" cy="0"/>
          <a:chOff x="0" y="0"/>
          <a:chExt cx="0" cy="0"/>
        </a:xfrm>
      </p:grpSpPr>
      <p:pic>
        <p:nvPicPr>
          <p:cNvPr descr="image.png" id="162" name="Google Shape;162;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3" name="Google Shape;163;p19"/>
          <p:cNvPicPr preferRelativeResize="0"/>
          <p:nvPr/>
        </p:nvPicPr>
        <p:blipFill rotWithShape="1">
          <a:blip r:embed="rId4">
            <a:alphaModFix/>
          </a:blip>
          <a:srcRect b="0" l="0" r="0" t="0"/>
          <a:stretch/>
        </p:blipFill>
        <p:spPr>
          <a:xfrm>
            <a:off x="1676400" y="3829198"/>
            <a:ext cx="8839200" cy="1098946"/>
          </a:xfrm>
          <a:prstGeom prst="rect">
            <a:avLst/>
          </a:prstGeom>
          <a:noFill/>
          <a:ln>
            <a:noFill/>
          </a:ln>
        </p:spPr>
      </p:pic>
      <p:sp>
        <p:nvSpPr>
          <p:cNvPr id="164" name="Google Shape;164;p19"/>
          <p:cNvSpPr txBox="1"/>
          <p:nvPr/>
        </p:nvSpPr>
        <p:spPr>
          <a:xfrm>
            <a:off x="571500" y="2838598"/>
            <a:ext cx="11049000" cy="60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Convolution is the core operation for applying filters (like edge detectors) and forms the basis of Convolutional Neural Networks (CNNs). It involves sliding a 'kernel' over the image matrix.</a:t>
            </a:r>
            <a:endParaRPr/>
          </a:p>
        </p:txBody>
      </p:sp>
      <p:sp>
        <p:nvSpPr>
          <p:cNvPr id="165" name="Google Shape;165;p19"/>
          <p:cNvSpPr txBox="1"/>
          <p:nvPr/>
        </p:nvSpPr>
        <p:spPr>
          <a:xfrm>
            <a:off x="571500" y="5271045"/>
            <a:ext cx="1104900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A0AEC0"/>
                </a:solidFill>
                <a:latin typeface="DM Sans"/>
                <a:ea typeface="DM Sans"/>
                <a:cs typeface="DM Sans"/>
                <a:sym typeface="DM Sans"/>
              </a:rPr>
              <a:t>Where G is the output image, H is the kernel (filter), and F is the input image.</a:t>
            </a:r>
            <a:endParaRPr/>
          </a:p>
        </p:txBody>
      </p:sp>
      <p:pic>
        <p:nvPicPr>
          <p:cNvPr descr="image.png" id="166" name="Google Shape;166;p19"/>
          <p:cNvPicPr preferRelativeResize="0"/>
          <p:nvPr/>
        </p:nvPicPr>
        <p:blipFill rotWithShape="1">
          <a:blip r:embed="rId5">
            <a:alphaModFix/>
          </a:blip>
          <a:srcRect b="0" l="0" r="0" t="0"/>
          <a:stretch/>
        </p:blipFill>
        <p:spPr>
          <a:xfrm>
            <a:off x="1962150" y="4114948"/>
            <a:ext cx="8267700" cy="527446"/>
          </a:xfrm>
          <a:prstGeom prst="rect">
            <a:avLst/>
          </a:prstGeom>
          <a:noFill/>
          <a:ln>
            <a:noFill/>
          </a:ln>
        </p:spPr>
      </p:pic>
      <p:sp>
        <p:nvSpPr>
          <p:cNvPr id="167" name="Google Shape;167;p19"/>
          <p:cNvSpPr txBox="1"/>
          <p:nvPr/>
        </p:nvSpPr>
        <p:spPr>
          <a:xfrm>
            <a:off x="571500" y="381000"/>
            <a:ext cx="11601450"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63B3ED"/>
                </a:solidFill>
                <a:latin typeface="Merriweather"/>
                <a:ea typeface="Merriweather"/>
                <a:cs typeface="Merriweather"/>
                <a:sym typeface="Merriweather"/>
              </a:rPr>
              <a:t>The Math Behind Filters: Convolution</a:t>
            </a:r>
            <a:endParaRPr/>
          </a:p>
        </p:txBody>
      </p:sp>
      <p:sp>
        <p:nvSpPr>
          <p:cNvPr id="168" name="Google Shape;168;p19"/>
          <p:cNvSpPr/>
          <p:nvPr/>
        </p:nvSpPr>
        <p:spPr>
          <a:xfrm>
            <a:off x="571500" y="1047750"/>
            <a:ext cx="11049000" cy="19050"/>
          </a:xfrm>
          <a:prstGeom prst="rect">
            <a:avLst/>
          </a:prstGeom>
          <a:solidFill>
            <a:srgbClr val="4A556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748"/>
        </a:solidFill>
      </p:bgPr>
    </p:bg>
    <p:spTree>
      <p:nvGrpSpPr>
        <p:cNvPr id="172" name="Shape 172"/>
        <p:cNvGrpSpPr/>
        <p:nvPr/>
      </p:nvGrpSpPr>
      <p:grpSpPr>
        <a:xfrm>
          <a:off x="0" y="0"/>
          <a:ext cx="0" cy="0"/>
          <a:chOff x="0" y="0"/>
          <a:chExt cx="0" cy="0"/>
        </a:xfrm>
      </p:grpSpPr>
      <p:pic>
        <p:nvPicPr>
          <p:cNvPr descr="image.png" id="173" name="Google Shape;173;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74" name="Google Shape;174;p20"/>
          <p:cNvSpPr txBox="1"/>
          <p:nvPr/>
        </p:nvSpPr>
        <p:spPr>
          <a:xfrm>
            <a:off x="1670446" y="2442269"/>
            <a:ext cx="8851106" cy="7143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500" u="none" cap="none" strike="noStrike">
                <a:solidFill>
                  <a:srgbClr val="63B3ED"/>
                </a:solidFill>
                <a:latin typeface="Merriweather"/>
                <a:ea typeface="Merriweather"/>
                <a:cs typeface="Merriweather"/>
                <a:sym typeface="Merriweather"/>
              </a:rPr>
              <a:t>Part 2: The Deep Learning Era</a:t>
            </a:r>
            <a:endParaRPr/>
          </a:p>
        </p:txBody>
      </p:sp>
      <p:sp>
        <p:nvSpPr>
          <p:cNvPr id="175" name="Google Shape;175;p20"/>
          <p:cNvSpPr/>
          <p:nvPr/>
        </p:nvSpPr>
        <p:spPr>
          <a:xfrm>
            <a:off x="5381625" y="3442394"/>
            <a:ext cx="1428750" cy="38100"/>
          </a:xfrm>
          <a:prstGeom prst="rect">
            <a:avLst/>
          </a:prstGeom>
          <a:solidFill>
            <a:srgbClr val="63B3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6" name="Google Shape;176;p20"/>
          <p:cNvSpPr txBox="1"/>
          <p:nvPr/>
        </p:nvSpPr>
        <p:spPr>
          <a:xfrm>
            <a:off x="1881187" y="3785294"/>
            <a:ext cx="8429625" cy="4875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1" lang="en-US" sz="2400" u="none" cap="none" strike="noStrike">
                <a:solidFill>
                  <a:srgbClr val="A0AEC0"/>
                </a:solidFill>
                <a:latin typeface="DM Sans"/>
                <a:ea typeface="DM Sans"/>
                <a:cs typeface="DM Sans"/>
                <a:sym typeface="DM Sans"/>
              </a:rPr>
              <a:t>How neural networks revolutionized visual perception.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748"/>
        </a:solidFill>
      </p:bgPr>
    </p:bg>
    <p:spTree>
      <p:nvGrpSpPr>
        <p:cNvPr id="180" name="Shape 180"/>
        <p:cNvGrpSpPr/>
        <p:nvPr/>
      </p:nvGrpSpPr>
      <p:grpSpPr>
        <a:xfrm>
          <a:off x="0" y="0"/>
          <a:ext cx="0" cy="0"/>
          <a:chOff x="0" y="0"/>
          <a:chExt cx="0" cy="0"/>
        </a:xfrm>
      </p:grpSpPr>
      <p:pic>
        <p:nvPicPr>
          <p:cNvPr descr="image.png" id="181" name="Google Shape;181;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2" name="Google Shape;182;p21"/>
          <p:cNvPicPr preferRelativeResize="0"/>
          <p:nvPr/>
        </p:nvPicPr>
        <p:blipFill rotWithShape="1">
          <a:blip r:embed="rId4">
            <a:alphaModFix/>
          </a:blip>
          <a:srcRect b="0" l="0" r="0" t="0"/>
          <a:stretch/>
        </p:blipFill>
        <p:spPr>
          <a:xfrm>
            <a:off x="6334125" y="2247900"/>
            <a:ext cx="5286375" cy="3810000"/>
          </a:xfrm>
          <a:prstGeom prst="rect">
            <a:avLst/>
          </a:prstGeom>
          <a:noFill/>
          <a:ln>
            <a:noFill/>
          </a:ln>
        </p:spPr>
      </p:pic>
      <p:sp>
        <p:nvSpPr>
          <p:cNvPr id="183" name="Google Shape;183;p21"/>
          <p:cNvSpPr txBox="1"/>
          <p:nvPr/>
        </p:nvSpPr>
        <p:spPr>
          <a:xfrm>
            <a:off x="571500" y="2157412"/>
            <a:ext cx="5550693"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90CDF4"/>
                </a:solidFill>
                <a:latin typeface="Merriweather"/>
                <a:ea typeface="Merriweather"/>
                <a:cs typeface="Merriweather"/>
                <a:sym typeface="Merriweather"/>
              </a:rPr>
              <a:t>Learning Features Automatically</a:t>
            </a:r>
            <a:endParaRPr/>
          </a:p>
        </p:txBody>
      </p:sp>
      <p:sp>
        <p:nvSpPr>
          <p:cNvPr id="184" name="Google Shape;184;p21"/>
          <p:cNvSpPr txBox="1"/>
          <p:nvPr/>
        </p:nvSpPr>
        <p:spPr>
          <a:xfrm>
            <a:off x="1047750" y="2643187"/>
            <a:ext cx="481012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Unlike traditional CV where features (edges, corners) are hand-engineered, CNNs learn these features directly from data.</a:t>
            </a:r>
            <a:endParaRPr/>
          </a:p>
        </p:txBody>
      </p:sp>
      <p:sp>
        <p:nvSpPr>
          <p:cNvPr id="185" name="Google Shape;185;p21"/>
          <p:cNvSpPr txBox="1"/>
          <p:nvPr/>
        </p:nvSpPr>
        <p:spPr>
          <a:xfrm>
            <a:off x="1047750" y="3748087"/>
            <a:ext cx="48101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2E8F0"/>
                </a:solidFill>
                <a:latin typeface="DM Sans"/>
                <a:ea typeface="DM Sans"/>
                <a:cs typeface="DM Sans"/>
                <a:sym typeface="DM Sans"/>
              </a:rPr>
              <a:t>Convolutional Layers:</a:t>
            </a:r>
            <a:r>
              <a:rPr b="0" i="0" lang="en-US" sz="1500" u="none" cap="none" strike="noStrike">
                <a:solidFill>
                  <a:srgbClr val="E2E8F0"/>
                </a:solidFill>
                <a:latin typeface="DM Sans"/>
                <a:ea typeface="DM Sans"/>
                <a:cs typeface="DM Sans"/>
                <a:sym typeface="DM Sans"/>
              </a:rPr>
              <a:t> Extract hierarchical features (simple edges early on, complex object parts later).</a:t>
            </a:r>
            <a:endParaRPr/>
          </a:p>
        </p:txBody>
      </p:sp>
      <p:sp>
        <p:nvSpPr>
          <p:cNvPr id="186" name="Google Shape;186;p21"/>
          <p:cNvSpPr txBox="1"/>
          <p:nvPr/>
        </p:nvSpPr>
        <p:spPr>
          <a:xfrm>
            <a:off x="1047750" y="4548187"/>
            <a:ext cx="48101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2E8F0"/>
                </a:solidFill>
                <a:latin typeface="DM Sans"/>
                <a:ea typeface="DM Sans"/>
                <a:cs typeface="DM Sans"/>
                <a:sym typeface="DM Sans"/>
              </a:rPr>
              <a:t>Pooling Layers:</a:t>
            </a:r>
            <a:r>
              <a:rPr b="0" i="0" lang="en-US" sz="1500" u="none" cap="none" strike="noStrike">
                <a:solidFill>
                  <a:srgbClr val="E2E8F0"/>
                </a:solidFill>
                <a:latin typeface="DM Sans"/>
                <a:ea typeface="DM Sans"/>
                <a:cs typeface="DM Sans"/>
                <a:sym typeface="DM Sans"/>
              </a:rPr>
              <a:t> Reduce spatial dimensions, creating translation invariance and reducing computation.</a:t>
            </a:r>
            <a:endParaRPr/>
          </a:p>
        </p:txBody>
      </p:sp>
      <p:sp>
        <p:nvSpPr>
          <p:cNvPr id="187" name="Google Shape;187;p21"/>
          <p:cNvSpPr txBox="1"/>
          <p:nvPr/>
        </p:nvSpPr>
        <p:spPr>
          <a:xfrm>
            <a:off x="1047750" y="5348287"/>
            <a:ext cx="48101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2E8F0"/>
                </a:solidFill>
                <a:latin typeface="DM Sans"/>
                <a:ea typeface="DM Sans"/>
                <a:cs typeface="DM Sans"/>
                <a:sym typeface="DM Sans"/>
              </a:rPr>
              <a:t>Fully Connected Layers:</a:t>
            </a:r>
            <a:r>
              <a:rPr b="0" i="0" lang="en-US" sz="1500" u="none" cap="none" strike="noStrike">
                <a:solidFill>
                  <a:srgbClr val="E2E8F0"/>
                </a:solidFill>
                <a:latin typeface="DM Sans"/>
                <a:ea typeface="DM Sans"/>
                <a:cs typeface="DM Sans"/>
                <a:sym typeface="DM Sans"/>
              </a:rPr>
              <a:t> Output the final prediction (e.g., class probabilities).</a:t>
            </a:r>
            <a:endParaRPr/>
          </a:p>
        </p:txBody>
      </p:sp>
      <p:pic>
        <p:nvPicPr>
          <p:cNvPr descr="image.png" id="188" name="Google Shape;188;p21"/>
          <p:cNvPicPr preferRelativeResize="0"/>
          <p:nvPr/>
        </p:nvPicPr>
        <p:blipFill rotWithShape="1">
          <a:blip r:embed="rId5">
            <a:alphaModFix/>
          </a:blip>
          <a:srcRect b="0" l="0" r="0" t="0"/>
          <a:stretch/>
        </p:blipFill>
        <p:spPr>
          <a:xfrm>
            <a:off x="6334125" y="2247900"/>
            <a:ext cx="5286375" cy="3810000"/>
          </a:xfrm>
          <a:prstGeom prst="rect">
            <a:avLst/>
          </a:prstGeom>
          <a:noFill/>
          <a:ln>
            <a:noFill/>
          </a:ln>
        </p:spPr>
      </p:pic>
      <p:sp>
        <p:nvSpPr>
          <p:cNvPr id="189" name="Google Shape;189;p21"/>
          <p:cNvSpPr txBox="1"/>
          <p:nvPr/>
        </p:nvSpPr>
        <p:spPr>
          <a:xfrm>
            <a:off x="571500" y="381000"/>
            <a:ext cx="11601450"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63B3ED"/>
                </a:solidFill>
                <a:latin typeface="Merriweather"/>
                <a:ea typeface="Merriweather"/>
                <a:cs typeface="Merriweather"/>
                <a:sym typeface="Merriweather"/>
              </a:rPr>
              <a:t>Convolutional Neural Networks (CNNs)</a:t>
            </a:r>
            <a:endParaRPr/>
          </a:p>
        </p:txBody>
      </p:sp>
      <p:sp>
        <p:nvSpPr>
          <p:cNvPr id="190" name="Google Shape;190;p21"/>
          <p:cNvSpPr/>
          <p:nvPr/>
        </p:nvSpPr>
        <p:spPr>
          <a:xfrm>
            <a:off x="571500" y="1047750"/>
            <a:ext cx="11049000" cy="19050"/>
          </a:xfrm>
          <a:prstGeom prst="rect">
            <a:avLst/>
          </a:prstGeom>
          <a:solidFill>
            <a:srgbClr val="4A556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91" name="Google Shape;191;p21"/>
          <p:cNvPicPr preferRelativeResize="0"/>
          <p:nvPr/>
        </p:nvPicPr>
        <p:blipFill rotWithShape="1">
          <a:blip r:embed="rId6">
            <a:alphaModFix/>
          </a:blip>
          <a:srcRect b="0" l="0" r="0" t="0"/>
          <a:stretch/>
        </p:blipFill>
        <p:spPr>
          <a:xfrm>
            <a:off x="762000" y="2662237"/>
            <a:ext cx="114300" cy="200025"/>
          </a:xfrm>
          <a:prstGeom prst="rect">
            <a:avLst/>
          </a:prstGeom>
          <a:noFill/>
          <a:ln>
            <a:noFill/>
          </a:ln>
        </p:spPr>
      </p:pic>
      <p:pic>
        <p:nvPicPr>
          <p:cNvPr descr="image.png" id="192" name="Google Shape;192;p21"/>
          <p:cNvPicPr preferRelativeResize="0"/>
          <p:nvPr/>
        </p:nvPicPr>
        <p:blipFill rotWithShape="1">
          <a:blip r:embed="rId6">
            <a:alphaModFix/>
          </a:blip>
          <a:srcRect b="0" l="0" r="0" t="0"/>
          <a:stretch/>
        </p:blipFill>
        <p:spPr>
          <a:xfrm>
            <a:off x="762000" y="3767137"/>
            <a:ext cx="114300" cy="200025"/>
          </a:xfrm>
          <a:prstGeom prst="rect">
            <a:avLst/>
          </a:prstGeom>
          <a:noFill/>
          <a:ln>
            <a:noFill/>
          </a:ln>
        </p:spPr>
      </p:pic>
      <p:pic>
        <p:nvPicPr>
          <p:cNvPr descr="image.png" id="193" name="Google Shape;193;p21"/>
          <p:cNvPicPr preferRelativeResize="0"/>
          <p:nvPr/>
        </p:nvPicPr>
        <p:blipFill rotWithShape="1">
          <a:blip r:embed="rId6">
            <a:alphaModFix/>
          </a:blip>
          <a:srcRect b="0" l="0" r="0" t="0"/>
          <a:stretch/>
        </p:blipFill>
        <p:spPr>
          <a:xfrm>
            <a:off x="762000" y="4567237"/>
            <a:ext cx="114300" cy="200025"/>
          </a:xfrm>
          <a:prstGeom prst="rect">
            <a:avLst/>
          </a:prstGeom>
          <a:noFill/>
          <a:ln>
            <a:noFill/>
          </a:ln>
        </p:spPr>
      </p:pic>
      <p:pic>
        <p:nvPicPr>
          <p:cNvPr descr="image.png" id="194" name="Google Shape;194;p21"/>
          <p:cNvPicPr preferRelativeResize="0"/>
          <p:nvPr/>
        </p:nvPicPr>
        <p:blipFill rotWithShape="1">
          <a:blip r:embed="rId6">
            <a:alphaModFix/>
          </a:blip>
          <a:srcRect b="0" l="0" r="0" t="0"/>
          <a:stretch/>
        </p:blipFill>
        <p:spPr>
          <a:xfrm>
            <a:off x="762000" y="5367337"/>
            <a:ext cx="114300" cy="200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748"/>
        </a:solidFill>
      </p:bgPr>
    </p:bg>
    <p:spTree>
      <p:nvGrpSpPr>
        <p:cNvPr id="198" name="Shape 198"/>
        <p:cNvGrpSpPr/>
        <p:nvPr/>
      </p:nvGrpSpPr>
      <p:grpSpPr>
        <a:xfrm>
          <a:off x="0" y="0"/>
          <a:ext cx="0" cy="0"/>
          <a:chOff x="0" y="0"/>
          <a:chExt cx="0" cy="0"/>
        </a:xfrm>
      </p:grpSpPr>
      <p:pic>
        <p:nvPicPr>
          <p:cNvPr descr="image.png" id="199" name="Google Shape;199;p22"/>
          <p:cNvPicPr preferRelativeResize="0"/>
          <p:nvPr/>
        </p:nvPicPr>
        <p:blipFill rotWithShape="1">
          <a:blip r:embed="rId3">
            <a:alphaModFix/>
          </a:blip>
          <a:srcRect b="0" l="0" r="0" t="0"/>
          <a:stretch/>
        </p:blipFill>
        <p:spPr>
          <a:xfrm>
            <a:off x="14097000" y="2328862"/>
            <a:ext cx="13335000" cy="2381250"/>
          </a:xfrm>
          <a:prstGeom prst="rect">
            <a:avLst/>
          </a:prstGeom>
          <a:noFill/>
          <a:ln>
            <a:noFill/>
          </a:ln>
        </p:spPr>
      </p:pic>
      <p:pic>
        <p:nvPicPr>
          <p:cNvPr descr="image.png" id="200" name="Google Shape;200;p22"/>
          <p:cNvPicPr preferRelativeResize="0"/>
          <p:nvPr/>
        </p:nvPicPr>
        <p:blipFill rotWithShape="1">
          <a:blip r:embed="rId3">
            <a:alphaModFix/>
          </a:blip>
          <a:srcRect b="0" l="0" r="0" t="0"/>
          <a:stretch/>
        </p:blipFill>
        <p:spPr>
          <a:xfrm>
            <a:off x="27622500" y="2328862"/>
            <a:ext cx="13335000" cy="2381250"/>
          </a:xfrm>
          <a:prstGeom prst="rect">
            <a:avLst/>
          </a:prstGeom>
          <a:noFill/>
          <a:ln>
            <a:noFill/>
          </a:ln>
        </p:spPr>
      </p:pic>
      <p:sp>
        <p:nvSpPr>
          <p:cNvPr id="201" name="Google Shape;201;p22"/>
          <p:cNvSpPr txBox="1"/>
          <p:nvPr/>
        </p:nvSpPr>
        <p:spPr>
          <a:xfrm>
            <a:off x="5145881" y="4533900"/>
            <a:ext cx="1900200" cy="32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90CDF4"/>
                </a:solidFill>
                <a:latin typeface="Merriweather"/>
                <a:ea typeface="Merriweather"/>
                <a:cs typeface="Merriweather"/>
                <a:sym typeface="Merriweather"/>
              </a:rPr>
              <a:t>Classification</a:t>
            </a:r>
            <a:endParaRPr/>
          </a:p>
        </p:txBody>
      </p:sp>
      <p:sp>
        <p:nvSpPr>
          <p:cNvPr id="202" name="Google Shape;202;p22"/>
          <p:cNvSpPr txBox="1"/>
          <p:nvPr/>
        </p:nvSpPr>
        <p:spPr>
          <a:xfrm>
            <a:off x="3362325" y="5210175"/>
            <a:ext cx="5467500" cy="6003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Assigning a single label to the entire image. (e.g., "This is a cat").</a:t>
            </a:r>
            <a:endParaRPr/>
          </a:p>
        </p:txBody>
      </p:sp>
      <p:sp>
        <p:nvSpPr>
          <p:cNvPr id="203" name="Google Shape;203;p22"/>
          <p:cNvSpPr txBox="1"/>
          <p:nvPr/>
        </p:nvSpPr>
        <p:spPr>
          <a:xfrm>
            <a:off x="20764500" y="4852987"/>
            <a:ext cx="0" cy="342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90CDF4"/>
                </a:solidFill>
                <a:latin typeface="Merriweather"/>
                <a:ea typeface="Merriweather"/>
                <a:cs typeface="Merriweather"/>
                <a:sym typeface="Merriweather"/>
              </a:rPr>
              <a:t>Object Detection</a:t>
            </a:r>
            <a:endParaRPr/>
          </a:p>
        </p:txBody>
      </p:sp>
      <p:sp>
        <p:nvSpPr>
          <p:cNvPr id="204" name="Google Shape;204;p22"/>
          <p:cNvSpPr txBox="1"/>
          <p:nvPr/>
        </p:nvSpPr>
        <p:spPr>
          <a:xfrm>
            <a:off x="20764500" y="5529262"/>
            <a:ext cx="0"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Identifying multiple objects and locating them with bounding boxes.</a:t>
            </a:r>
            <a:endParaRPr/>
          </a:p>
        </p:txBody>
      </p:sp>
      <p:sp>
        <p:nvSpPr>
          <p:cNvPr id="205" name="Google Shape;205;p22"/>
          <p:cNvSpPr txBox="1"/>
          <p:nvPr/>
        </p:nvSpPr>
        <p:spPr>
          <a:xfrm>
            <a:off x="34290000" y="4852987"/>
            <a:ext cx="0" cy="342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90CDF4"/>
                </a:solidFill>
                <a:latin typeface="Merriweather"/>
                <a:ea typeface="Merriweather"/>
                <a:cs typeface="Merriweather"/>
                <a:sym typeface="Merriweather"/>
              </a:rPr>
              <a:t>Segmentation</a:t>
            </a:r>
            <a:endParaRPr/>
          </a:p>
        </p:txBody>
      </p:sp>
      <p:sp>
        <p:nvSpPr>
          <p:cNvPr id="206" name="Google Shape;206;p22"/>
          <p:cNvSpPr txBox="1"/>
          <p:nvPr/>
        </p:nvSpPr>
        <p:spPr>
          <a:xfrm>
            <a:off x="34290000" y="5529262"/>
            <a:ext cx="0"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Classifying every single pixel, creating precise boundaries (Semantic vs. Instance).</a:t>
            </a:r>
            <a:endParaRPr/>
          </a:p>
        </p:txBody>
      </p:sp>
      <p:pic>
        <p:nvPicPr>
          <p:cNvPr descr="image.png" id="207" name="Google Shape;207;p22"/>
          <p:cNvPicPr preferRelativeResize="0"/>
          <p:nvPr/>
        </p:nvPicPr>
        <p:blipFill rotWithShape="1">
          <a:blip r:embed="rId4">
            <a:alphaModFix/>
          </a:blip>
          <a:srcRect b="12846" l="0" r="0" t="38789"/>
          <a:stretch/>
        </p:blipFill>
        <p:spPr>
          <a:xfrm>
            <a:off x="450600" y="1909650"/>
            <a:ext cx="11843251" cy="2381250"/>
          </a:xfrm>
          <a:prstGeom prst="rect">
            <a:avLst/>
          </a:prstGeom>
          <a:noFill/>
          <a:ln>
            <a:noFill/>
          </a:ln>
        </p:spPr>
      </p:pic>
      <p:pic>
        <p:nvPicPr>
          <p:cNvPr descr="image.png" id="208" name="Google Shape;208;p22"/>
          <p:cNvPicPr preferRelativeResize="0"/>
          <p:nvPr/>
        </p:nvPicPr>
        <p:blipFill rotWithShape="1">
          <a:blip r:embed="rId4">
            <a:alphaModFix/>
          </a:blip>
          <a:srcRect b="0" l="0" r="0" t="0"/>
          <a:stretch/>
        </p:blipFill>
        <p:spPr>
          <a:xfrm>
            <a:off x="14097000" y="747712"/>
            <a:ext cx="13335000" cy="5543550"/>
          </a:xfrm>
          <a:prstGeom prst="rect">
            <a:avLst/>
          </a:prstGeom>
          <a:noFill/>
          <a:ln>
            <a:noFill/>
          </a:ln>
        </p:spPr>
      </p:pic>
      <p:pic>
        <p:nvPicPr>
          <p:cNvPr descr="image.png" id="209" name="Google Shape;209;p22"/>
          <p:cNvPicPr preferRelativeResize="0"/>
          <p:nvPr/>
        </p:nvPicPr>
        <p:blipFill rotWithShape="1">
          <a:blip r:embed="rId4">
            <a:alphaModFix/>
          </a:blip>
          <a:srcRect b="0" l="0" r="0" t="0"/>
          <a:stretch/>
        </p:blipFill>
        <p:spPr>
          <a:xfrm>
            <a:off x="27622500" y="747712"/>
            <a:ext cx="13335000" cy="5543550"/>
          </a:xfrm>
          <a:prstGeom prst="rect">
            <a:avLst/>
          </a:prstGeom>
          <a:noFill/>
          <a:ln>
            <a:noFill/>
          </a:ln>
        </p:spPr>
      </p:pic>
      <p:sp>
        <p:nvSpPr>
          <p:cNvPr id="210" name="Google Shape;210;p22"/>
          <p:cNvSpPr txBox="1"/>
          <p:nvPr/>
        </p:nvSpPr>
        <p:spPr>
          <a:xfrm>
            <a:off x="571500" y="381000"/>
            <a:ext cx="11601450"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63B3ED"/>
                </a:solidFill>
                <a:latin typeface="Merriweather"/>
                <a:ea typeface="Merriweather"/>
                <a:cs typeface="Merriweather"/>
                <a:sym typeface="Merriweather"/>
              </a:rPr>
              <a:t>Core CV Tasks</a:t>
            </a:r>
            <a:endParaRPr/>
          </a:p>
        </p:txBody>
      </p:sp>
      <p:sp>
        <p:nvSpPr>
          <p:cNvPr id="211" name="Google Shape;211;p22"/>
          <p:cNvSpPr/>
          <p:nvPr/>
        </p:nvSpPr>
        <p:spPr>
          <a:xfrm>
            <a:off x="571500" y="1047750"/>
            <a:ext cx="11049000" cy="19050"/>
          </a:xfrm>
          <a:prstGeom prst="rect">
            <a:avLst/>
          </a:prstGeom>
          <a:solidFill>
            <a:srgbClr val="4A556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748"/>
        </a:solidFill>
      </p:bgPr>
    </p:bg>
    <p:spTree>
      <p:nvGrpSpPr>
        <p:cNvPr id="215" name="Shape 215"/>
        <p:cNvGrpSpPr/>
        <p:nvPr/>
      </p:nvGrpSpPr>
      <p:grpSpPr>
        <a:xfrm>
          <a:off x="0" y="0"/>
          <a:ext cx="0" cy="0"/>
          <a:chOff x="0" y="0"/>
          <a:chExt cx="0" cy="0"/>
        </a:xfrm>
      </p:grpSpPr>
      <p:pic>
        <p:nvPicPr>
          <p:cNvPr descr="image.png" id="216" name="Google Shape;216;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17" name="Google Shape;217;p23"/>
          <p:cNvPicPr preferRelativeResize="0"/>
          <p:nvPr/>
        </p:nvPicPr>
        <p:blipFill rotWithShape="1">
          <a:blip r:embed="rId4">
            <a:alphaModFix/>
          </a:blip>
          <a:srcRect b="0" l="0" r="0" t="0"/>
          <a:stretch/>
        </p:blipFill>
        <p:spPr>
          <a:xfrm>
            <a:off x="571500" y="2495550"/>
            <a:ext cx="5381625" cy="3314700"/>
          </a:xfrm>
          <a:prstGeom prst="rect">
            <a:avLst/>
          </a:prstGeom>
          <a:noFill/>
          <a:ln>
            <a:noFill/>
          </a:ln>
        </p:spPr>
      </p:pic>
      <p:pic>
        <p:nvPicPr>
          <p:cNvPr descr="image.png" id="218" name="Google Shape;218;p23"/>
          <p:cNvPicPr preferRelativeResize="0"/>
          <p:nvPr/>
        </p:nvPicPr>
        <p:blipFill rotWithShape="1">
          <a:blip r:embed="rId4">
            <a:alphaModFix/>
          </a:blip>
          <a:srcRect b="0" l="0" r="0" t="0"/>
          <a:stretch/>
        </p:blipFill>
        <p:spPr>
          <a:xfrm>
            <a:off x="6238875" y="2495550"/>
            <a:ext cx="5381625" cy="3314700"/>
          </a:xfrm>
          <a:prstGeom prst="rect">
            <a:avLst/>
          </a:prstGeom>
          <a:noFill/>
          <a:ln>
            <a:noFill/>
          </a:ln>
        </p:spPr>
      </p:pic>
      <p:sp>
        <p:nvSpPr>
          <p:cNvPr id="219" name="Google Shape;219;p23"/>
          <p:cNvSpPr txBox="1"/>
          <p:nvPr/>
        </p:nvSpPr>
        <p:spPr>
          <a:xfrm>
            <a:off x="1432083" y="3448050"/>
            <a:ext cx="3660457" cy="342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90CDF4"/>
                </a:solidFill>
                <a:latin typeface="Merriweather"/>
                <a:ea typeface="Merriweather"/>
                <a:cs typeface="Merriweather"/>
                <a:sym typeface="Merriweather"/>
              </a:rPr>
              <a:t>Vision Transformers (ViT)</a:t>
            </a:r>
            <a:endParaRPr/>
          </a:p>
        </p:txBody>
      </p:sp>
      <p:sp>
        <p:nvSpPr>
          <p:cNvPr id="220" name="Google Shape;220;p23"/>
          <p:cNvSpPr txBox="1"/>
          <p:nvPr/>
        </p:nvSpPr>
        <p:spPr>
          <a:xfrm>
            <a:off x="857250" y="4124325"/>
            <a:ext cx="4810125" cy="121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Applying the architecture behind ChatGPT to images. ViTs divide images into patches and use self-attention to model global relationships, often outperforming CNNs on large datasets.</a:t>
            </a:r>
            <a:endParaRPr/>
          </a:p>
        </p:txBody>
      </p:sp>
      <p:sp>
        <p:nvSpPr>
          <p:cNvPr id="221" name="Google Shape;221;p23"/>
          <p:cNvSpPr txBox="1"/>
          <p:nvPr/>
        </p:nvSpPr>
        <p:spPr>
          <a:xfrm>
            <a:off x="6404371" y="3448050"/>
            <a:ext cx="5050631" cy="685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90CDF4"/>
                </a:solidFill>
                <a:latin typeface="Merriweather"/>
                <a:ea typeface="Merriweather"/>
                <a:cs typeface="Merriweather"/>
                <a:sym typeface="Merriweather"/>
              </a:rPr>
              <a:t>Generative Adversarial Networks (GANs)</a:t>
            </a:r>
            <a:endParaRPr/>
          </a:p>
        </p:txBody>
      </p:sp>
      <p:sp>
        <p:nvSpPr>
          <p:cNvPr id="222" name="Google Shape;222;p23"/>
          <p:cNvSpPr txBox="1"/>
          <p:nvPr/>
        </p:nvSpPr>
        <p:spPr>
          <a:xfrm>
            <a:off x="6524625" y="4467225"/>
            <a:ext cx="4810125" cy="914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Two networks (Generator and Discriminator) compete to create highly realistic synthetic images, useful for data augmentation and creative applications.</a:t>
            </a:r>
            <a:endParaRPr/>
          </a:p>
        </p:txBody>
      </p:sp>
      <p:pic>
        <p:nvPicPr>
          <p:cNvPr descr="image.png" id="223" name="Google Shape;223;p23"/>
          <p:cNvPicPr preferRelativeResize="0"/>
          <p:nvPr/>
        </p:nvPicPr>
        <p:blipFill rotWithShape="1">
          <a:blip r:embed="rId5">
            <a:alphaModFix/>
          </a:blip>
          <a:srcRect b="0" l="0" r="0" t="0"/>
          <a:stretch/>
        </p:blipFill>
        <p:spPr>
          <a:xfrm>
            <a:off x="3048000" y="2828925"/>
            <a:ext cx="428625" cy="381000"/>
          </a:xfrm>
          <a:prstGeom prst="rect">
            <a:avLst/>
          </a:prstGeom>
          <a:noFill/>
          <a:ln>
            <a:noFill/>
          </a:ln>
        </p:spPr>
      </p:pic>
      <p:pic>
        <p:nvPicPr>
          <p:cNvPr descr="image.png" id="224" name="Google Shape;224;p23"/>
          <p:cNvPicPr preferRelativeResize="0"/>
          <p:nvPr/>
        </p:nvPicPr>
        <p:blipFill rotWithShape="1">
          <a:blip r:embed="rId6">
            <a:alphaModFix/>
          </a:blip>
          <a:srcRect b="0" l="0" r="0" t="0"/>
          <a:stretch/>
        </p:blipFill>
        <p:spPr>
          <a:xfrm>
            <a:off x="8715375" y="2828925"/>
            <a:ext cx="428625" cy="381000"/>
          </a:xfrm>
          <a:prstGeom prst="rect">
            <a:avLst/>
          </a:prstGeom>
          <a:noFill/>
          <a:ln>
            <a:noFill/>
          </a:ln>
        </p:spPr>
      </p:pic>
      <p:sp>
        <p:nvSpPr>
          <p:cNvPr id="225" name="Google Shape;225;p23"/>
          <p:cNvSpPr txBox="1"/>
          <p:nvPr/>
        </p:nvSpPr>
        <p:spPr>
          <a:xfrm>
            <a:off x="571500" y="381000"/>
            <a:ext cx="11601450"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63B3ED"/>
                </a:solidFill>
                <a:latin typeface="Merriweather"/>
                <a:ea typeface="Merriweather"/>
                <a:cs typeface="Merriweather"/>
                <a:sym typeface="Merriweather"/>
              </a:rPr>
              <a:t>Beyond Standard CNNs</a:t>
            </a:r>
            <a:endParaRPr/>
          </a:p>
        </p:txBody>
      </p:sp>
      <p:sp>
        <p:nvSpPr>
          <p:cNvPr id="226" name="Google Shape;226;p23"/>
          <p:cNvSpPr/>
          <p:nvPr/>
        </p:nvSpPr>
        <p:spPr>
          <a:xfrm>
            <a:off x="571500" y="1047750"/>
            <a:ext cx="11049000" cy="19050"/>
          </a:xfrm>
          <a:prstGeom prst="rect">
            <a:avLst/>
          </a:prstGeom>
          <a:solidFill>
            <a:srgbClr val="4A556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748"/>
        </a:solidFill>
      </p:bgPr>
    </p:bg>
    <p:spTree>
      <p:nvGrpSpPr>
        <p:cNvPr id="230" name="Shape 230"/>
        <p:cNvGrpSpPr/>
        <p:nvPr/>
      </p:nvGrpSpPr>
      <p:grpSpPr>
        <a:xfrm>
          <a:off x="0" y="0"/>
          <a:ext cx="0" cy="0"/>
          <a:chOff x="0" y="0"/>
          <a:chExt cx="0" cy="0"/>
        </a:xfrm>
      </p:grpSpPr>
      <p:pic>
        <p:nvPicPr>
          <p:cNvPr descr="image.png" id="231" name="Google Shape;231;p2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2" name="Google Shape;232;p24"/>
          <p:cNvSpPr txBox="1"/>
          <p:nvPr/>
        </p:nvSpPr>
        <p:spPr>
          <a:xfrm>
            <a:off x="705326" y="2442269"/>
            <a:ext cx="10781347" cy="7143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500" u="none" cap="none" strike="noStrike">
                <a:solidFill>
                  <a:srgbClr val="63B3ED"/>
                </a:solidFill>
                <a:latin typeface="Merriweather"/>
                <a:ea typeface="Merriweather"/>
                <a:cs typeface="Merriweather"/>
                <a:sym typeface="Merriweather"/>
              </a:rPr>
              <a:t>Part 3: Advanced Trends (2025-2026)</a:t>
            </a:r>
            <a:endParaRPr/>
          </a:p>
        </p:txBody>
      </p:sp>
      <p:sp>
        <p:nvSpPr>
          <p:cNvPr id="233" name="Google Shape;233;p24"/>
          <p:cNvSpPr/>
          <p:nvPr/>
        </p:nvSpPr>
        <p:spPr>
          <a:xfrm>
            <a:off x="5381625" y="3442394"/>
            <a:ext cx="1428750" cy="38100"/>
          </a:xfrm>
          <a:prstGeom prst="rect">
            <a:avLst/>
          </a:prstGeom>
          <a:solidFill>
            <a:srgbClr val="63B3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4" name="Google Shape;234;p24"/>
          <p:cNvSpPr txBox="1"/>
          <p:nvPr/>
        </p:nvSpPr>
        <p:spPr>
          <a:xfrm>
            <a:off x="962025" y="3785294"/>
            <a:ext cx="10267950" cy="4875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1" lang="en-US" sz="2400" u="none" cap="none" strike="noStrike">
                <a:solidFill>
                  <a:srgbClr val="A0AEC0"/>
                </a:solidFill>
                <a:latin typeface="DM Sans"/>
                <a:ea typeface="DM Sans"/>
                <a:cs typeface="DM Sans"/>
                <a:sym typeface="DM Sans"/>
              </a:rPr>
              <a:t>The cutting edge of visual intelligence.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748"/>
        </a:solidFill>
      </p:bgPr>
    </p:bg>
    <p:spTree>
      <p:nvGrpSpPr>
        <p:cNvPr id="238" name="Shape 238"/>
        <p:cNvGrpSpPr/>
        <p:nvPr/>
      </p:nvGrpSpPr>
      <p:grpSpPr>
        <a:xfrm>
          <a:off x="0" y="0"/>
          <a:ext cx="0" cy="0"/>
          <a:chOff x="0" y="0"/>
          <a:chExt cx="0" cy="0"/>
        </a:xfrm>
      </p:grpSpPr>
      <p:pic>
        <p:nvPicPr>
          <p:cNvPr descr="image.png" id="239" name="Google Shape;239;p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0" name="Google Shape;240;p25"/>
          <p:cNvSpPr txBox="1"/>
          <p:nvPr/>
        </p:nvSpPr>
        <p:spPr>
          <a:xfrm>
            <a:off x="571500" y="571500"/>
            <a:ext cx="4950618" cy="114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63B3ED"/>
                </a:solidFill>
                <a:latin typeface="Merriweather"/>
                <a:ea typeface="Merriweather"/>
                <a:cs typeface="Merriweather"/>
                <a:sym typeface="Merriweather"/>
              </a:rPr>
              <a:t>Multimodal AI &amp; Vision-Language</a:t>
            </a:r>
            <a:endParaRPr/>
          </a:p>
        </p:txBody>
      </p:sp>
      <p:pic>
        <p:nvPicPr>
          <p:cNvPr descr="image.png" id="241" name="Google Shape;241;p25"/>
          <p:cNvPicPr preferRelativeResize="0"/>
          <p:nvPr/>
        </p:nvPicPr>
        <p:blipFill rotWithShape="1">
          <a:blip r:embed="rId4">
            <a:alphaModFix/>
          </a:blip>
          <a:srcRect b="0" l="0" r="0" t="0"/>
          <a:stretch/>
        </p:blipFill>
        <p:spPr>
          <a:xfrm>
            <a:off x="6334125" y="0"/>
            <a:ext cx="5857875" cy="6858000"/>
          </a:xfrm>
          <a:prstGeom prst="rect">
            <a:avLst/>
          </a:prstGeom>
          <a:noFill/>
          <a:ln>
            <a:noFill/>
          </a:ln>
        </p:spPr>
      </p:pic>
      <p:sp>
        <p:nvSpPr>
          <p:cNvPr id="242" name="Google Shape;242;p25"/>
          <p:cNvSpPr txBox="1"/>
          <p:nvPr/>
        </p:nvSpPr>
        <p:spPr>
          <a:xfrm>
            <a:off x="571500" y="2862262"/>
            <a:ext cx="47148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Models are no longer limited to one type of data. Foundation models now jointly process visual data and text.</a:t>
            </a:r>
            <a:endParaRPr/>
          </a:p>
        </p:txBody>
      </p:sp>
      <p:sp>
        <p:nvSpPr>
          <p:cNvPr id="243" name="Google Shape;243;p25"/>
          <p:cNvSpPr txBox="1"/>
          <p:nvPr/>
        </p:nvSpPr>
        <p:spPr>
          <a:xfrm>
            <a:off x="571500" y="4157662"/>
            <a:ext cx="471487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This enables natural language querying of images ("What part of this machine is broken?") and automated, context-aware report generation, bridging the gap between perception and reasoning.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748"/>
        </a:solidFill>
      </p:bgPr>
    </p:bg>
    <p:spTree>
      <p:nvGrpSpPr>
        <p:cNvPr id="247" name="Shape 247"/>
        <p:cNvGrpSpPr/>
        <p:nvPr/>
      </p:nvGrpSpPr>
      <p:grpSpPr>
        <a:xfrm>
          <a:off x="0" y="0"/>
          <a:ext cx="0" cy="0"/>
          <a:chOff x="0" y="0"/>
          <a:chExt cx="0" cy="0"/>
        </a:xfrm>
      </p:grpSpPr>
      <p:pic>
        <p:nvPicPr>
          <p:cNvPr descr="image.png" id="248" name="Google Shape;248;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49" name="Google Shape;249;p26"/>
          <p:cNvPicPr preferRelativeResize="0"/>
          <p:nvPr/>
        </p:nvPicPr>
        <p:blipFill rotWithShape="1">
          <a:blip r:embed="rId4">
            <a:alphaModFix/>
          </a:blip>
          <a:srcRect b="0" l="0" r="0" t="0"/>
          <a:stretch/>
        </p:blipFill>
        <p:spPr>
          <a:xfrm>
            <a:off x="6334125" y="2247900"/>
            <a:ext cx="5286375" cy="3810000"/>
          </a:xfrm>
          <a:prstGeom prst="rect">
            <a:avLst/>
          </a:prstGeom>
          <a:noFill/>
          <a:ln>
            <a:noFill/>
          </a:ln>
        </p:spPr>
      </p:pic>
      <p:sp>
        <p:nvSpPr>
          <p:cNvPr id="250" name="Google Shape;250;p26"/>
          <p:cNvSpPr txBox="1"/>
          <p:nvPr/>
        </p:nvSpPr>
        <p:spPr>
          <a:xfrm>
            <a:off x="571500" y="2405062"/>
            <a:ext cx="5550693"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90CDF4"/>
                </a:solidFill>
                <a:latin typeface="Merriweather"/>
                <a:ea typeface="Merriweather"/>
                <a:cs typeface="Merriweather"/>
                <a:sym typeface="Merriweather"/>
              </a:rPr>
              <a:t>Reducing Labeling Bottlenecks</a:t>
            </a:r>
            <a:endParaRPr/>
          </a:p>
        </p:txBody>
      </p:sp>
      <p:sp>
        <p:nvSpPr>
          <p:cNvPr id="251" name="Google Shape;251;p26"/>
          <p:cNvSpPr txBox="1"/>
          <p:nvPr/>
        </p:nvSpPr>
        <p:spPr>
          <a:xfrm>
            <a:off x="1047750" y="2890837"/>
            <a:ext cx="48101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Historically, deep learning required massive, manually labeled datasets—a slow and expensive process.</a:t>
            </a:r>
            <a:endParaRPr/>
          </a:p>
        </p:txBody>
      </p:sp>
      <p:sp>
        <p:nvSpPr>
          <p:cNvPr id="252" name="Google Shape;252;p26"/>
          <p:cNvSpPr txBox="1"/>
          <p:nvPr/>
        </p:nvSpPr>
        <p:spPr>
          <a:xfrm>
            <a:off x="1047750" y="3690937"/>
            <a:ext cx="481012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SSL allows models to learn rich representations from vast amounts of </a:t>
            </a:r>
            <a:r>
              <a:rPr b="0" i="1" lang="en-US" sz="1500" u="none" cap="none" strike="noStrike">
                <a:solidFill>
                  <a:srgbClr val="E2E8F0"/>
                </a:solidFill>
                <a:latin typeface="DM Sans"/>
                <a:ea typeface="DM Sans"/>
                <a:cs typeface="DM Sans"/>
                <a:sym typeface="DM Sans"/>
              </a:rPr>
              <a:t>unlabeled</a:t>
            </a:r>
            <a:r>
              <a:rPr b="0" i="0" lang="en-US" sz="1500" u="none" cap="none" strike="noStrike">
                <a:solidFill>
                  <a:srgbClr val="E2E8F0"/>
                </a:solidFill>
                <a:latin typeface="DM Sans"/>
                <a:ea typeface="DM Sans"/>
                <a:cs typeface="DM Sans"/>
                <a:sym typeface="DM Sans"/>
              </a:rPr>
              <a:t> images by predicting hidden parts of the data.</a:t>
            </a:r>
            <a:endParaRPr/>
          </a:p>
        </p:txBody>
      </p:sp>
      <p:sp>
        <p:nvSpPr>
          <p:cNvPr id="253" name="Google Shape;253;p26"/>
          <p:cNvSpPr txBox="1"/>
          <p:nvPr/>
        </p:nvSpPr>
        <p:spPr>
          <a:xfrm>
            <a:off x="1047750" y="4795837"/>
            <a:ext cx="481012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These pre-trained models can then be fine-tuned on much smaller labeled datasets for specific tasks, drastically reducing development costs and time.</a:t>
            </a:r>
            <a:endParaRPr/>
          </a:p>
        </p:txBody>
      </p:sp>
      <p:pic>
        <p:nvPicPr>
          <p:cNvPr descr="image.png" id="254" name="Google Shape;254;p26"/>
          <p:cNvPicPr preferRelativeResize="0"/>
          <p:nvPr/>
        </p:nvPicPr>
        <p:blipFill rotWithShape="1">
          <a:blip r:embed="rId5">
            <a:alphaModFix/>
          </a:blip>
          <a:srcRect b="0" l="0" r="0" t="0"/>
          <a:stretch/>
        </p:blipFill>
        <p:spPr>
          <a:xfrm>
            <a:off x="6334125" y="2247900"/>
            <a:ext cx="5286375" cy="3810000"/>
          </a:xfrm>
          <a:prstGeom prst="rect">
            <a:avLst/>
          </a:prstGeom>
          <a:noFill/>
          <a:ln>
            <a:noFill/>
          </a:ln>
        </p:spPr>
      </p:pic>
      <p:sp>
        <p:nvSpPr>
          <p:cNvPr id="255" name="Google Shape;255;p26"/>
          <p:cNvSpPr txBox="1"/>
          <p:nvPr/>
        </p:nvSpPr>
        <p:spPr>
          <a:xfrm>
            <a:off x="571500" y="381000"/>
            <a:ext cx="11601450"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63B3ED"/>
                </a:solidFill>
                <a:latin typeface="Merriweather"/>
                <a:ea typeface="Merriweather"/>
                <a:cs typeface="Merriweather"/>
                <a:sym typeface="Merriweather"/>
              </a:rPr>
              <a:t>Self-Supervised Learning (SSL)</a:t>
            </a:r>
            <a:endParaRPr/>
          </a:p>
        </p:txBody>
      </p:sp>
      <p:sp>
        <p:nvSpPr>
          <p:cNvPr id="256" name="Google Shape;256;p26"/>
          <p:cNvSpPr/>
          <p:nvPr/>
        </p:nvSpPr>
        <p:spPr>
          <a:xfrm>
            <a:off x="571500" y="1047750"/>
            <a:ext cx="11049000" cy="19050"/>
          </a:xfrm>
          <a:prstGeom prst="rect">
            <a:avLst/>
          </a:prstGeom>
          <a:solidFill>
            <a:srgbClr val="4A556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57" name="Google Shape;257;p26"/>
          <p:cNvPicPr preferRelativeResize="0"/>
          <p:nvPr/>
        </p:nvPicPr>
        <p:blipFill rotWithShape="1">
          <a:blip r:embed="rId6">
            <a:alphaModFix/>
          </a:blip>
          <a:srcRect b="0" l="0" r="0" t="0"/>
          <a:stretch/>
        </p:blipFill>
        <p:spPr>
          <a:xfrm>
            <a:off x="762000" y="2909887"/>
            <a:ext cx="114300" cy="200025"/>
          </a:xfrm>
          <a:prstGeom prst="rect">
            <a:avLst/>
          </a:prstGeom>
          <a:noFill/>
          <a:ln>
            <a:noFill/>
          </a:ln>
        </p:spPr>
      </p:pic>
      <p:pic>
        <p:nvPicPr>
          <p:cNvPr descr="image.png" id="258" name="Google Shape;258;p26"/>
          <p:cNvPicPr preferRelativeResize="0"/>
          <p:nvPr/>
        </p:nvPicPr>
        <p:blipFill rotWithShape="1">
          <a:blip r:embed="rId6">
            <a:alphaModFix/>
          </a:blip>
          <a:srcRect b="0" l="0" r="0" t="0"/>
          <a:stretch/>
        </p:blipFill>
        <p:spPr>
          <a:xfrm>
            <a:off x="762000" y="3709987"/>
            <a:ext cx="114300" cy="200025"/>
          </a:xfrm>
          <a:prstGeom prst="rect">
            <a:avLst/>
          </a:prstGeom>
          <a:noFill/>
          <a:ln>
            <a:noFill/>
          </a:ln>
        </p:spPr>
      </p:pic>
      <p:pic>
        <p:nvPicPr>
          <p:cNvPr descr="image.png" id="259" name="Google Shape;259;p26"/>
          <p:cNvPicPr preferRelativeResize="0"/>
          <p:nvPr/>
        </p:nvPicPr>
        <p:blipFill rotWithShape="1">
          <a:blip r:embed="rId6">
            <a:alphaModFix/>
          </a:blip>
          <a:srcRect b="0" l="0" r="0" t="0"/>
          <a:stretch/>
        </p:blipFill>
        <p:spPr>
          <a:xfrm>
            <a:off x="762000" y="4814887"/>
            <a:ext cx="114300" cy="2000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748"/>
        </a:solidFill>
      </p:bgPr>
    </p:bg>
    <p:spTree>
      <p:nvGrpSpPr>
        <p:cNvPr id="263" name="Shape 263"/>
        <p:cNvGrpSpPr/>
        <p:nvPr/>
      </p:nvGrpSpPr>
      <p:grpSpPr>
        <a:xfrm>
          <a:off x="0" y="0"/>
          <a:ext cx="0" cy="0"/>
          <a:chOff x="0" y="0"/>
          <a:chExt cx="0" cy="0"/>
        </a:xfrm>
      </p:grpSpPr>
      <p:pic>
        <p:nvPicPr>
          <p:cNvPr descr="image.png" id="264" name="Google Shape;264;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65" name="Google Shape;265;p27"/>
          <p:cNvPicPr preferRelativeResize="0"/>
          <p:nvPr/>
        </p:nvPicPr>
        <p:blipFill rotWithShape="1">
          <a:blip r:embed="rId4">
            <a:alphaModFix/>
          </a:blip>
          <a:srcRect b="0" l="0" r="0" t="0"/>
          <a:stretch/>
        </p:blipFill>
        <p:spPr>
          <a:xfrm>
            <a:off x="571500" y="2247900"/>
            <a:ext cx="5286375" cy="3810000"/>
          </a:xfrm>
          <a:prstGeom prst="rect">
            <a:avLst/>
          </a:prstGeom>
          <a:noFill/>
          <a:ln>
            <a:noFill/>
          </a:ln>
        </p:spPr>
      </p:pic>
      <p:sp>
        <p:nvSpPr>
          <p:cNvPr id="266" name="Google Shape;266;p27"/>
          <p:cNvSpPr txBox="1"/>
          <p:nvPr/>
        </p:nvSpPr>
        <p:spPr>
          <a:xfrm>
            <a:off x="6334125" y="2252662"/>
            <a:ext cx="5550693"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90CDF4"/>
                </a:solidFill>
                <a:latin typeface="Merriweather"/>
                <a:ea typeface="Merriweather"/>
                <a:cs typeface="Merriweather"/>
                <a:sym typeface="Merriweather"/>
              </a:rPr>
              <a:t>Processing at the Source</a:t>
            </a:r>
            <a:endParaRPr/>
          </a:p>
        </p:txBody>
      </p:sp>
      <p:pic>
        <p:nvPicPr>
          <p:cNvPr descr="image.png" id="267" name="Google Shape;267;p27"/>
          <p:cNvPicPr preferRelativeResize="0"/>
          <p:nvPr/>
        </p:nvPicPr>
        <p:blipFill rotWithShape="1">
          <a:blip r:embed="rId5">
            <a:alphaModFix/>
          </a:blip>
          <a:srcRect b="0" l="0" r="0" t="0"/>
          <a:stretch/>
        </p:blipFill>
        <p:spPr>
          <a:xfrm>
            <a:off x="571500" y="2247900"/>
            <a:ext cx="5286375" cy="3810000"/>
          </a:xfrm>
          <a:prstGeom prst="rect">
            <a:avLst/>
          </a:prstGeom>
          <a:noFill/>
          <a:ln>
            <a:noFill/>
          </a:ln>
        </p:spPr>
      </p:pic>
      <p:sp>
        <p:nvSpPr>
          <p:cNvPr id="268" name="Google Shape;268;p27"/>
          <p:cNvSpPr txBox="1"/>
          <p:nvPr/>
        </p:nvSpPr>
        <p:spPr>
          <a:xfrm>
            <a:off x="6810375" y="2738437"/>
            <a:ext cx="481012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By 2026, deploying CV models directly on edge devices (cameras, drones, factory sensors) is standard practice.</a:t>
            </a:r>
            <a:endParaRPr/>
          </a:p>
        </p:txBody>
      </p:sp>
      <p:sp>
        <p:nvSpPr>
          <p:cNvPr id="269" name="Google Shape;269;p27"/>
          <p:cNvSpPr txBox="1"/>
          <p:nvPr/>
        </p:nvSpPr>
        <p:spPr>
          <a:xfrm>
            <a:off x="6810375" y="3843337"/>
            <a:ext cx="481012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2E8F0"/>
                </a:solidFill>
                <a:latin typeface="DM Sans"/>
                <a:ea typeface="DM Sans"/>
                <a:cs typeface="DM Sans"/>
                <a:sym typeface="DM Sans"/>
              </a:rPr>
              <a:t>Benefits:</a:t>
            </a:r>
            <a:r>
              <a:rPr b="0" i="0" lang="en-US" sz="1500" u="none" cap="none" strike="noStrike">
                <a:solidFill>
                  <a:srgbClr val="E2E8F0"/>
                </a:solidFill>
                <a:latin typeface="DM Sans"/>
                <a:ea typeface="DM Sans"/>
                <a:cs typeface="DM Sans"/>
                <a:sym typeface="DM Sans"/>
              </a:rPr>
              <a:t> Ultra-low latency for real-time decisions, reduced bandwidth costs (no need to send raw video to the cloud), and enhanced data privacy.</a:t>
            </a:r>
            <a:endParaRPr/>
          </a:p>
        </p:txBody>
      </p:sp>
      <p:sp>
        <p:nvSpPr>
          <p:cNvPr id="270" name="Google Shape;270;p27"/>
          <p:cNvSpPr txBox="1"/>
          <p:nvPr/>
        </p:nvSpPr>
        <p:spPr>
          <a:xfrm>
            <a:off x="6810375" y="4948237"/>
            <a:ext cx="481012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Enabled by dedicated Neural Processing Units (NPUs) and model optimization techniques like quantization and pruning.</a:t>
            </a:r>
            <a:endParaRPr/>
          </a:p>
        </p:txBody>
      </p:sp>
      <p:sp>
        <p:nvSpPr>
          <p:cNvPr id="271" name="Google Shape;271;p27"/>
          <p:cNvSpPr txBox="1"/>
          <p:nvPr/>
        </p:nvSpPr>
        <p:spPr>
          <a:xfrm>
            <a:off x="571500" y="381000"/>
            <a:ext cx="11601450"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63B3ED"/>
                </a:solidFill>
                <a:latin typeface="Merriweather"/>
                <a:ea typeface="Merriweather"/>
                <a:cs typeface="Merriweather"/>
                <a:sym typeface="Merriweather"/>
              </a:rPr>
              <a:t>Edge Inference</a:t>
            </a:r>
            <a:endParaRPr/>
          </a:p>
        </p:txBody>
      </p:sp>
      <p:sp>
        <p:nvSpPr>
          <p:cNvPr id="272" name="Google Shape;272;p27"/>
          <p:cNvSpPr/>
          <p:nvPr/>
        </p:nvSpPr>
        <p:spPr>
          <a:xfrm>
            <a:off x="571500" y="1047750"/>
            <a:ext cx="11049000" cy="19050"/>
          </a:xfrm>
          <a:prstGeom prst="rect">
            <a:avLst/>
          </a:prstGeom>
          <a:solidFill>
            <a:srgbClr val="4A556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73" name="Google Shape;273;p27"/>
          <p:cNvPicPr preferRelativeResize="0"/>
          <p:nvPr/>
        </p:nvPicPr>
        <p:blipFill rotWithShape="1">
          <a:blip r:embed="rId6">
            <a:alphaModFix/>
          </a:blip>
          <a:srcRect b="0" l="0" r="0" t="0"/>
          <a:stretch/>
        </p:blipFill>
        <p:spPr>
          <a:xfrm>
            <a:off x="6524625" y="2757487"/>
            <a:ext cx="114300" cy="200025"/>
          </a:xfrm>
          <a:prstGeom prst="rect">
            <a:avLst/>
          </a:prstGeom>
          <a:noFill/>
          <a:ln>
            <a:noFill/>
          </a:ln>
        </p:spPr>
      </p:pic>
      <p:pic>
        <p:nvPicPr>
          <p:cNvPr descr="image.png" id="274" name="Google Shape;274;p27"/>
          <p:cNvPicPr preferRelativeResize="0"/>
          <p:nvPr/>
        </p:nvPicPr>
        <p:blipFill rotWithShape="1">
          <a:blip r:embed="rId6">
            <a:alphaModFix/>
          </a:blip>
          <a:srcRect b="0" l="0" r="0" t="0"/>
          <a:stretch/>
        </p:blipFill>
        <p:spPr>
          <a:xfrm>
            <a:off x="6524625" y="3862387"/>
            <a:ext cx="114300" cy="200025"/>
          </a:xfrm>
          <a:prstGeom prst="rect">
            <a:avLst/>
          </a:prstGeom>
          <a:noFill/>
          <a:ln>
            <a:noFill/>
          </a:ln>
        </p:spPr>
      </p:pic>
      <p:pic>
        <p:nvPicPr>
          <p:cNvPr descr="image.png" id="275" name="Google Shape;275;p27"/>
          <p:cNvPicPr preferRelativeResize="0"/>
          <p:nvPr/>
        </p:nvPicPr>
        <p:blipFill rotWithShape="1">
          <a:blip r:embed="rId6">
            <a:alphaModFix/>
          </a:blip>
          <a:srcRect b="0" l="0" r="0" t="0"/>
          <a:stretch/>
        </p:blipFill>
        <p:spPr>
          <a:xfrm>
            <a:off x="6524625" y="4967287"/>
            <a:ext cx="114300" cy="2000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748"/>
        </a:solidFill>
      </p:bgPr>
    </p:bg>
    <p:spTree>
      <p:nvGrpSpPr>
        <p:cNvPr id="279" name="Shape 279"/>
        <p:cNvGrpSpPr/>
        <p:nvPr/>
      </p:nvGrpSpPr>
      <p:grpSpPr>
        <a:xfrm>
          <a:off x="0" y="0"/>
          <a:ext cx="0" cy="0"/>
          <a:chOff x="0" y="0"/>
          <a:chExt cx="0" cy="0"/>
        </a:xfrm>
      </p:grpSpPr>
      <p:pic>
        <p:nvPicPr>
          <p:cNvPr descr="image.png" id="280" name="Google Shape;280;p2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81" name="Google Shape;281;p28"/>
          <p:cNvPicPr preferRelativeResize="0"/>
          <p:nvPr/>
        </p:nvPicPr>
        <p:blipFill rotWithShape="1">
          <a:blip r:embed="rId4">
            <a:alphaModFix/>
          </a:blip>
          <a:srcRect b="0" l="0" r="0" t="0"/>
          <a:stretch/>
        </p:blipFill>
        <p:spPr>
          <a:xfrm>
            <a:off x="6334125" y="2247900"/>
            <a:ext cx="5286375" cy="3810000"/>
          </a:xfrm>
          <a:prstGeom prst="rect">
            <a:avLst/>
          </a:prstGeom>
          <a:noFill/>
          <a:ln>
            <a:noFill/>
          </a:ln>
        </p:spPr>
      </p:pic>
      <p:sp>
        <p:nvSpPr>
          <p:cNvPr id="282" name="Google Shape;282;p28"/>
          <p:cNvSpPr txBox="1"/>
          <p:nvPr/>
        </p:nvSpPr>
        <p:spPr>
          <a:xfrm>
            <a:off x="571500" y="2157412"/>
            <a:ext cx="5550693"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90CDF4"/>
                </a:solidFill>
                <a:latin typeface="Merriweather"/>
                <a:ea typeface="Merriweather"/>
                <a:cs typeface="Merriweather"/>
                <a:sym typeface="Merriweather"/>
              </a:rPr>
              <a:t>Beyond Flat Images</a:t>
            </a:r>
            <a:endParaRPr/>
          </a:p>
        </p:txBody>
      </p:sp>
      <p:sp>
        <p:nvSpPr>
          <p:cNvPr id="283" name="Google Shape;283;p28"/>
          <p:cNvSpPr txBox="1"/>
          <p:nvPr/>
        </p:nvSpPr>
        <p:spPr>
          <a:xfrm>
            <a:off x="1047750" y="2643187"/>
            <a:ext cx="48101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CV is moving from 2D plane analysis to full spatial understanding.</a:t>
            </a:r>
            <a:endParaRPr/>
          </a:p>
        </p:txBody>
      </p:sp>
      <p:sp>
        <p:nvSpPr>
          <p:cNvPr id="284" name="Google Shape;284;p28"/>
          <p:cNvSpPr txBox="1"/>
          <p:nvPr/>
        </p:nvSpPr>
        <p:spPr>
          <a:xfrm>
            <a:off x="1047750" y="3443287"/>
            <a:ext cx="48101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Integration with LiDAR and depth sensors provides precise 3D mapping.</a:t>
            </a:r>
            <a:endParaRPr/>
          </a:p>
        </p:txBody>
      </p:sp>
      <p:sp>
        <p:nvSpPr>
          <p:cNvPr id="285" name="Google Shape;285;p28"/>
          <p:cNvSpPr txBox="1"/>
          <p:nvPr/>
        </p:nvSpPr>
        <p:spPr>
          <a:xfrm>
            <a:off x="1047750" y="4243387"/>
            <a:ext cx="481012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Techniques like Gaussian Splatting and Neural Radiance Fields (NeRFs) allow for high-quality 3D reconstruction from standard 2D camera feeds.</a:t>
            </a:r>
            <a:endParaRPr/>
          </a:p>
        </p:txBody>
      </p:sp>
      <p:sp>
        <p:nvSpPr>
          <p:cNvPr id="286" name="Google Shape;286;p28"/>
          <p:cNvSpPr txBox="1"/>
          <p:nvPr/>
        </p:nvSpPr>
        <p:spPr>
          <a:xfrm>
            <a:off x="1047750" y="5348287"/>
            <a:ext cx="48101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Essential for robotics, advanced manufacturing, and emerging AR/VR spatial computing hardware.</a:t>
            </a:r>
            <a:endParaRPr/>
          </a:p>
        </p:txBody>
      </p:sp>
      <p:pic>
        <p:nvPicPr>
          <p:cNvPr descr="image.png" id="287" name="Google Shape;287;p28"/>
          <p:cNvPicPr preferRelativeResize="0"/>
          <p:nvPr/>
        </p:nvPicPr>
        <p:blipFill rotWithShape="1">
          <a:blip r:embed="rId5">
            <a:alphaModFix/>
          </a:blip>
          <a:srcRect b="0" l="0" r="0" t="0"/>
          <a:stretch/>
        </p:blipFill>
        <p:spPr>
          <a:xfrm>
            <a:off x="6334125" y="2247900"/>
            <a:ext cx="5286375" cy="3810000"/>
          </a:xfrm>
          <a:prstGeom prst="rect">
            <a:avLst/>
          </a:prstGeom>
          <a:noFill/>
          <a:ln>
            <a:noFill/>
          </a:ln>
        </p:spPr>
      </p:pic>
      <p:sp>
        <p:nvSpPr>
          <p:cNvPr id="288" name="Google Shape;288;p28"/>
          <p:cNvSpPr txBox="1"/>
          <p:nvPr/>
        </p:nvSpPr>
        <p:spPr>
          <a:xfrm>
            <a:off x="571500" y="381000"/>
            <a:ext cx="11601450"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63B3ED"/>
                </a:solidFill>
                <a:latin typeface="Merriweather"/>
                <a:ea typeface="Merriweather"/>
                <a:cs typeface="Merriweather"/>
                <a:sym typeface="Merriweather"/>
              </a:rPr>
              <a:t>3D Perception &amp; Spatial Vision</a:t>
            </a:r>
            <a:endParaRPr/>
          </a:p>
        </p:txBody>
      </p:sp>
      <p:sp>
        <p:nvSpPr>
          <p:cNvPr id="289" name="Google Shape;289;p28"/>
          <p:cNvSpPr/>
          <p:nvPr/>
        </p:nvSpPr>
        <p:spPr>
          <a:xfrm>
            <a:off x="571500" y="1047750"/>
            <a:ext cx="11049000" cy="19050"/>
          </a:xfrm>
          <a:prstGeom prst="rect">
            <a:avLst/>
          </a:prstGeom>
          <a:solidFill>
            <a:srgbClr val="4A556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90" name="Google Shape;290;p28"/>
          <p:cNvPicPr preferRelativeResize="0"/>
          <p:nvPr/>
        </p:nvPicPr>
        <p:blipFill rotWithShape="1">
          <a:blip r:embed="rId6">
            <a:alphaModFix/>
          </a:blip>
          <a:srcRect b="0" l="0" r="0" t="0"/>
          <a:stretch/>
        </p:blipFill>
        <p:spPr>
          <a:xfrm>
            <a:off x="762000" y="2662237"/>
            <a:ext cx="114300" cy="200025"/>
          </a:xfrm>
          <a:prstGeom prst="rect">
            <a:avLst/>
          </a:prstGeom>
          <a:noFill/>
          <a:ln>
            <a:noFill/>
          </a:ln>
        </p:spPr>
      </p:pic>
      <p:pic>
        <p:nvPicPr>
          <p:cNvPr descr="image.png" id="291" name="Google Shape;291;p28"/>
          <p:cNvPicPr preferRelativeResize="0"/>
          <p:nvPr/>
        </p:nvPicPr>
        <p:blipFill rotWithShape="1">
          <a:blip r:embed="rId6">
            <a:alphaModFix/>
          </a:blip>
          <a:srcRect b="0" l="0" r="0" t="0"/>
          <a:stretch/>
        </p:blipFill>
        <p:spPr>
          <a:xfrm>
            <a:off x="762000" y="3462337"/>
            <a:ext cx="114300" cy="200025"/>
          </a:xfrm>
          <a:prstGeom prst="rect">
            <a:avLst/>
          </a:prstGeom>
          <a:noFill/>
          <a:ln>
            <a:noFill/>
          </a:ln>
        </p:spPr>
      </p:pic>
      <p:pic>
        <p:nvPicPr>
          <p:cNvPr descr="image.png" id="292" name="Google Shape;292;p28"/>
          <p:cNvPicPr preferRelativeResize="0"/>
          <p:nvPr/>
        </p:nvPicPr>
        <p:blipFill rotWithShape="1">
          <a:blip r:embed="rId6">
            <a:alphaModFix/>
          </a:blip>
          <a:srcRect b="0" l="0" r="0" t="0"/>
          <a:stretch/>
        </p:blipFill>
        <p:spPr>
          <a:xfrm>
            <a:off x="762000" y="4262437"/>
            <a:ext cx="114300" cy="200025"/>
          </a:xfrm>
          <a:prstGeom prst="rect">
            <a:avLst/>
          </a:prstGeom>
          <a:noFill/>
          <a:ln>
            <a:noFill/>
          </a:ln>
        </p:spPr>
      </p:pic>
      <p:pic>
        <p:nvPicPr>
          <p:cNvPr descr="image.png" id="293" name="Google Shape;293;p28"/>
          <p:cNvPicPr preferRelativeResize="0"/>
          <p:nvPr/>
        </p:nvPicPr>
        <p:blipFill rotWithShape="1">
          <a:blip r:embed="rId6">
            <a:alphaModFix/>
          </a:blip>
          <a:srcRect b="0" l="0" r="0" t="0"/>
          <a:stretch/>
        </p:blipFill>
        <p:spPr>
          <a:xfrm>
            <a:off x="762000" y="5367337"/>
            <a:ext cx="114300" cy="200025"/>
          </a:xfrm>
          <a:prstGeom prst="rect">
            <a:avLst/>
          </a:prstGeom>
          <a:noFill/>
          <a:ln>
            <a:noFill/>
          </a:ln>
        </p:spPr>
      </p:pic>
      <p:pic>
        <p:nvPicPr>
          <p:cNvPr id="294" name="Google Shape;294;p28"/>
          <p:cNvPicPr preferRelativeResize="0"/>
          <p:nvPr/>
        </p:nvPicPr>
        <p:blipFill rotWithShape="1">
          <a:blip r:embed="rId7">
            <a:alphaModFix/>
          </a:blip>
          <a:srcRect b="0" l="13422" r="13988" t="0"/>
          <a:stretch/>
        </p:blipFill>
        <p:spPr>
          <a:xfrm>
            <a:off x="6334125" y="2263626"/>
            <a:ext cx="5286374" cy="377855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748"/>
        </a:solidFill>
      </p:bgPr>
    </p:bg>
    <p:spTree>
      <p:nvGrpSpPr>
        <p:cNvPr id="298" name="Shape 298"/>
        <p:cNvGrpSpPr/>
        <p:nvPr/>
      </p:nvGrpSpPr>
      <p:grpSpPr>
        <a:xfrm>
          <a:off x="0" y="0"/>
          <a:ext cx="0" cy="0"/>
          <a:chOff x="0" y="0"/>
          <a:chExt cx="0" cy="0"/>
        </a:xfrm>
      </p:grpSpPr>
      <p:pic>
        <p:nvPicPr>
          <p:cNvPr descr="image.png" id="299" name="Google Shape;299;p2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00" name="Google Shape;300;p29"/>
          <p:cNvSpPr txBox="1"/>
          <p:nvPr/>
        </p:nvSpPr>
        <p:spPr>
          <a:xfrm>
            <a:off x="571500" y="3238500"/>
            <a:ext cx="4419600" cy="114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000" u="none" cap="none" strike="noStrike">
                <a:solidFill>
                  <a:srgbClr val="63B3ED"/>
                </a:solidFill>
                <a:latin typeface="DM Sans"/>
                <a:ea typeface="DM Sans"/>
                <a:cs typeface="DM Sans"/>
                <a:sym typeface="DM Sans"/>
              </a:rPr>
              <a:t>76%</a:t>
            </a:r>
            <a:endParaRPr/>
          </a:p>
        </p:txBody>
      </p:sp>
      <p:sp>
        <p:nvSpPr>
          <p:cNvPr id="301" name="Google Shape;301;p29"/>
          <p:cNvSpPr txBox="1"/>
          <p:nvPr/>
        </p:nvSpPr>
        <p:spPr>
          <a:xfrm>
            <a:off x="571500" y="4476750"/>
            <a:ext cx="4419600" cy="5905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A0AEC0"/>
                </a:solidFill>
                <a:latin typeface="DM Sans"/>
                <a:ea typeface="DM Sans"/>
                <a:cs typeface="DM Sans"/>
                <a:sym typeface="DM Sans"/>
              </a:rPr>
              <a:t>Share of Generative AI usage in CV Trends (2023 baseline)</a:t>
            </a:r>
            <a:endParaRPr/>
          </a:p>
        </p:txBody>
      </p:sp>
      <p:sp>
        <p:nvSpPr>
          <p:cNvPr id="302" name="Google Shape;302;p29"/>
          <p:cNvSpPr txBox="1"/>
          <p:nvPr/>
        </p:nvSpPr>
        <p:spPr>
          <a:xfrm>
            <a:off x="5467350" y="3205162"/>
            <a:ext cx="6460807"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90CDF4"/>
                </a:solidFill>
                <a:latin typeface="Merriweather"/>
                <a:ea typeface="Merriweather"/>
                <a:cs typeface="Merriweather"/>
                <a:sym typeface="Merriweather"/>
              </a:rPr>
              <a:t>Solving the Data Scarcity Problem</a:t>
            </a:r>
            <a:endParaRPr/>
          </a:p>
        </p:txBody>
      </p:sp>
      <p:sp>
        <p:nvSpPr>
          <p:cNvPr id="303" name="Google Shape;303;p29"/>
          <p:cNvSpPr txBox="1"/>
          <p:nvPr/>
        </p:nvSpPr>
        <p:spPr>
          <a:xfrm>
            <a:off x="5467350" y="3738562"/>
            <a:ext cx="6153150"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Generative AI is increasingly used to produce synthetic digital images. This is crucial for training models on scenarios that are rare (edge cases in driving), dangerous, or heavily restricted by privacy regulations (medical imaging).</a:t>
            </a:r>
            <a:endParaRPr/>
          </a:p>
        </p:txBody>
      </p:sp>
      <p:sp>
        <p:nvSpPr>
          <p:cNvPr id="304" name="Google Shape;304;p29"/>
          <p:cNvSpPr txBox="1"/>
          <p:nvPr/>
        </p:nvSpPr>
        <p:spPr>
          <a:xfrm>
            <a:off x="571500" y="381000"/>
            <a:ext cx="11601450"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63B3ED"/>
                </a:solidFill>
                <a:latin typeface="Merriweather"/>
                <a:ea typeface="Merriweather"/>
                <a:cs typeface="Merriweather"/>
                <a:sym typeface="Merriweather"/>
              </a:rPr>
              <a:t>Synthetic Training Data</a:t>
            </a:r>
            <a:endParaRPr/>
          </a:p>
        </p:txBody>
      </p:sp>
      <p:sp>
        <p:nvSpPr>
          <p:cNvPr id="305" name="Google Shape;305;p29"/>
          <p:cNvSpPr/>
          <p:nvPr/>
        </p:nvSpPr>
        <p:spPr>
          <a:xfrm>
            <a:off x="571500" y="1047750"/>
            <a:ext cx="11049000" cy="19050"/>
          </a:xfrm>
          <a:prstGeom prst="rect">
            <a:avLst/>
          </a:prstGeom>
          <a:solidFill>
            <a:srgbClr val="4A556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748"/>
        </a:solidFill>
      </p:bgPr>
    </p:bg>
    <p:spTree>
      <p:nvGrpSpPr>
        <p:cNvPr id="309" name="Shape 309"/>
        <p:cNvGrpSpPr/>
        <p:nvPr/>
      </p:nvGrpSpPr>
      <p:grpSpPr>
        <a:xfrm>
          <a:off x="0" y="0"/>
          <a:ext cx="0" cy="0"/>
          <a:chOff x="0" y="0"/>
          <a:chExt cx="0" cy="0"/>
        </a:xfrm>
      </p:grpSpPr>
      <p:pic>
        <p:nvPicPr>
          <p:cNvPr descr="image.png" id="310" name="Google Shape;310;p3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11" name="Google Shape;311;p30"/>
          <p:cNvSpPr txBox="1"/>
          <p:nvPr/>
        </p:nvSpPr>
        <p:spPr>
          <a:xfrm>
            <a:off x="1830466" y="2442269"/>
            <a:ext cx="8531066" cy="7143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500" u="none" cap="none" strike="noStrike">
                <a:solidFill>
                  <a:srgbClr val="63B3ED"/>
                </a:solidFill>
                <a:latin typeface="Merriweather"/>
                <a:ea typeface="Merriweather"/>
                <a:cs typeface="Merriweather"/>
                <a:sym typeface="Merriweather"/>
              </a:rPr>
              <a:t>Part 4: Industry Applications</a:t>
            </a:r>
            <a:endParaRPr/>
          </a:p>
        </p:txBody>
      </p:sp>
      <p:sp>
        <p:nvSpPr>
          <p:cNvPr id="312" name="Google Shape;312;p30"/>
          <p:cNvSpPr/>
          <p:nvPr/>
        </p:nvSpPr>
        <p:spPr>
          <a:xfrm>
            <a:off x="5381625" y="3442394"/>
            <a:ext cx="1428750" cy="38100"/>
          </a:xfrm>
          <a:prstGeom prst="rect">
            <a:avLst/>
          </a:prstGeom>
          <a:solidFill>
            <a:srgbClr val="63B3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3" name="Google Shape;313;p30"/>
          <p:cNvSpPr txBox="1"/>
          <p:nvPr/>
        </p:nvSpPr>
        <p:spPr>
          <a:xfrm>
            <a:off x="2033587" y="3785294"/>
            <a:ext cx="8124825" cy="4875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1" lang="en-US" sz="2400" u="none" cap="none" strike="noStrike">
                <a:solidFill>
                  <a:srgbClr val="A0AEC0"/>
                </a:solidFill>
                <a:latin typeface="DM Sans"/>
                <a:ea typeface="DM Sans"/>
                <a:cs typeface="DM Sans"/>
                <a:sym typeface="DM Sans"/>
              </a:rPr>
              <a:t>Where theory meets the real world.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748"/>
        </a:solidFill>
      </p:bgPr>
    </p:bg>
    <p:spTree>
      <p:nvGrpSpPr>
        <p:cNvPr id="317" name="Shape 317"/>
        <p:cNvGrpSpPr/>
        <p:nvPr/>
      </p:nvGrpSpPr>
      <p:grpSpPr>
        <a:xfrm>
          <a:off x="0" y="0"/>
          <a:ext cx="0" cy="0"/>
          <a:chOff x="0" y="0"/>
          <a:chExt cx="0" cy="0"/>
        </a:xfrm>
      </p:grpSpPr>
      <p:pic>
        <p:nvPicPr>
          <p:cNvPr descr="image.png" id="318" name="Google Shape;318;p3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19" name="Google Shape;319;p31"/>
          <p:cNvSpPr txBox="1"/>
          <p:nvPr/>
        </p:nvSpPr>
        <p:spPr>
          <a:xfrm>
            <a:off x="571500" y="571500"/>
            <a:ext cx="4950618" cy="1714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63B3ED"/>
                </a:solidFill>
                <a:latin typeface="Merriweather"/>
                <a:ea typeface="Merriweather"/>
                <a:cs typeface="Merriweather"/>
                <a:sym typeface="Merriweather"/>
              </a:rPr>
              <a:t>Mobility &amp; Autonomous Vehicles</a:t>
            </a:r>
            <a:endParaRPr/>
          </a:p>
        </p:txBody>
      </p:sp>
      <p:pic>
        <p:nvPicPr>
          <p:cNvPr descr="image.png" id="320" name="Google Shape;320;p31"/>
          <p:cNvPicPr preferRelativeResize="0"/>
          <p:nvPr/>
        </p:nvPicPr>
        <p:blipFill rotWithShape="1">
          <a:blip r:embed="rId4">
            <a:alphaModFix/>
          </a:blip>
          <a:srcRect b="0" l="0" r="0" t="0"/>
          <a:stretch/>
        </p:blipFill>
        <p:spPr>
          <a:xfrm>
            <a:off x="6334125" y="0"/>
            <a:ext cx="5857875" cy="6858000"/>
          </a:xfrm>
          <a:prstGeom prst="rect">
            <a:avLst/>
          </a:prstGeom>
          <a:noFill/>
          <a:ln>
            <a:noFill/>
          </a:ln>
        </p:spPr>
      </p:pic>
      <p:sp>
        <p:nvSpPr>
          <p:cNvPr id="321" name="Google Shape;321;p31"/>
          <p:cNvSpPr txBox="1"/>
          <p:nvPr/>
        </p:nvSpPr>
        <p:spPr>
          <a:xfrm>
            <a:off x="571500" y="3148012"/>
            <a:ext cx="47148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CV acts as the primary sensory system for autonomous driving and Advanced Driver Assistance Systems (ADAS).</a:t>
            </a:r>
            <a:endParaRPr/>
          </a:p>
        </p:txBody>
      </p:sp>
      <p:sp>
        <p:nvSpPr>
          <p:cNvPr id="322" name="Google Shape;322;p31"/>
          <p:cNvSpPr txBox="1"/>
          <p:nvPr/>
        </p:nvSpPr>
        <p:spPr>
          <a:xfrm>
            <a:off x="571500" y="4443412"/>
            <a:ext cx="471487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Models perform real-time object detection (pedestrians, vehicles), lane tracking, and semantic segmentation to navigate complex urban environments reliably.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748"/>
        </a:solidFill>
      </p:bgPr>
    </p:bg>
    <p:spTree>
      <p:nvGrpSpPr>
        <p:cNvPr id="326" name="Shape 326"/>
        <p:cNvGrpSpPr/>
        <p:nvPr/>
      </p:nvGrpSpPr>
      <p:grpSpPr>
        <a:xfrm>
          <a:off x="0" y="0"/>
          <a:ext cx="0" cy="0"/>
          <a:chOff x="0" y="0"/>
          <a:chExt cx="0" cy="0"/>
        </a:xfrm>
      </p:grpSpPr>
      <p:pic>
        <p:nvPicPr>
          <p:cNvPr descr="image.png" id="327" name="Google Shape;327;p3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28" name="Google Shape;328;p32"/>
          <p:cNvPicPr preferRelativeResize="0"/>
          <p:nvPr/>
        </p:nvPicPr>
        <p:blipFill rotWithShape="1">
          <a:blip r:embed="rId4">
            <a:alphaModFix/>
          </a:blip>
          <a:srcRect b="0" l="0" r="0" t="0"/>
          <a:stretch/>
        </p:blipFill>
        <p:spPr>
          <a:xfrm>
            <a:off x="571500" y="2247900"/>
            <a:ext cx="5286375" cy="3810000"/>
          </a:xfrm>
          <a:prstGeom prst="rect">
            <a:avLst/>
          </a:prstGeom>
          <a:noFill/>
          <a:ln>
            <a:noFill/>
          </a:ln>
        </p:spPr>
      </p:pic>
      <p:sp>
        <p:nvSpPr>
          <p:cNvPr id="329" name="Google Shape;329;p32"/>
          <p:cNvSpPr txBox="1"/>
          <p:nvPr/>
        </p:nvSpPr>
        <p:spPr>
          <a:xfrm>
            <a:off x="6334125" y="2405062"/>
            <a:ext cx="5550693"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90CDF4"/>
                </a:solidFill>
                <a:latin typeface="Merriweather"/>
                <a:ea typeface="Merriweather"/>
                <a:cs typeface="Merriweather"/>
                <a:sym typeface="Merriweather"/>
              </a:rPr>
              <a:t>Augmenting Clinical Workflows</a:t>
            </a:r>
            <a:endParaRPr/>
          </a:p>
        </p:txBody>
      </p:sp>
      <p:pic>
        <p:nvPicPr>
          <p:cNvPr descr="image.png" id="330" name="Google Shape;330;p32"/>
          <p:cNvPicPr preferRelativeResize="0"/>
          <p:nvPr/>
        </p:nvPicPr>
        <p:blipFill rotWithShape="1">
          <a:blip r:embed="rId5">
            <a:alphaModFix/>
          </a:blip>
          <a:srcRect b="0" l="0" r="0" t="0"/>
          <a:stretch/>
        </p:blipFill>
        <p:spPr>
          <a:xfrm>
            <a:off x="571500" y="2247900"/>
            <a:ext cx="5286375" cy="3810000"/>
          </a:xfrm>
          <a:prstGeom prst="rect">
            <a:avLst/>
          </a:prstGeom>
          <a:noFill/>
          <a:ln>
            <a:noFill/>
          </a:ln>
        </p:spPr>
      </p:pic>
      <p:sp>
        <p:nvSpPr>
          <p:cNvPr id="331" name="Google Shape;331;p32"/>
          <p:cNvSpPr txBox="1"/>
          <p:nvPr/>
        </p:nvSpPr>
        <p:spPr>
          <a:xfrm>
            <a:off x="6810375" y="2890837"/>
            <a:ext cx="481012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AI-enabled medical devices are expanding rapidly, particularly in radiology for automated diagnostics and scan analysis.</a:t>
            </a:r>
            <a:endParaRPr/>
          </a:p>
        </p:txBody>
      </p:sp>
      <p:sp>
        <p:nvSpPr>
          <p:cNvPr id="332" name="Google Shape;332;p32"/>
          <p:cNvSpPr txBox="1"/>
          <p:nvPr/>
        </p:nvSpPr>
        <p:spPr>
          <a:xfrm>
            <a:off x="6810375" y="3995737"/>
            <a:ext cx="48101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Pose estimation supports remote patient rehabilitation and movement analysis.</a:t>
            </a:r>
            <a:endParaRPr/>
          </a:p>
        </p:txBody>
      </p:sp>
      <p:sp>
        <p:nvSpPr>
          <p:cNvPr id="333" name="Google Shape;333;p32"/>
          <p:cNvSpPr txBox="1"/>
          <p:nvPr/>
        </p:nvSpPr>
        <p:spPr>
          <a:xfrm>
            <a:off x="6810375" y="4795837"/>
            <a:ext cx="481012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In biotech, automated cell counting and microscopy analysis accelerate drug discovery pipelines by processing millions of images.</a:t>
            </a:r>
            <a:endParaRPr/>
          </a:p>
        </p:txBody>
      </p:sp>
      <p:sp>
        <p:nvSpPr>
          <p:cNvPr id="334" name="Google Shape;334;p32"/>
          <p:cNvSpPr txBox="1"/>
          <p:nvPr/>
        </p:nvSpPr>
        <p:spPr>
          <a:xfrm>
            <a:off x="571500" y="381000"/>
            <a:ext cx="11601450"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63B3ED"/>
                </a:solidFill>
                <a:latin typeface="Merriweather"/>
                <a:ea typeface="Merriweather"/>
                <a:cs typeface="Merriweather"/>
                <a:sym typeface="Merriweather"/>
              </a:rPr>
              <a:t>Healthcare &amp; Medical Imaging</a:t>
            </a:r>
            <a:endParaRPr/>
          </a:p>
        </p:txBody>
      </p:sp>
      <p:sp>
        <p:nvSpPr>
          <p:cNvPr id="335" name="Google Shape;335;p32"/>
          <p:cNvSpPr/>
          <p:nvPr/>
        </p:nvSpPr>
        <p:spPr>
          <a:xfrm>
            <a:off x="571500" y="1047750"/>
            <a:ext cx="11049000" cy="19050"/>
          </a:xfrm>
          <a:prstGeom prst="rect">
            <a:avLst/>
          </a:prstGeom>
          <a:solidFill>
            <a:srgbClr val="4A556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36" name="Google Shape;336;p32"/>
          <p:cNvPicPr preferRelativeResize="0"/>
          <p:nvPr/>
        </p:nvPicPr>
        <p:blipFill rotWithShape="1">
          <a:blip r:embed="rId6">
            <a:alphaModFix/>
          </a:blip>
          <a:srcRect b="0" l="0" r="0" t="0"/>
          <a:stretch/>
        </p:blipFill>
        <p:spPr>
          <a:xfrm>
            <a:off x="6524625" y="2909887"/>
            <a:ext cx="114300" cy="200025"/>
          </a:xfrm>
          <a:prstGeom prst="rect">
            <a:avLst/>
          </a:prstGeom>
          <a:noFill/>
          <a:ln>
            <a:noFill/>
          </a:ln>
        </p:spPr>
      </p:pic>
      <p:pic>
        <p:nvPicPr>
          <p:cNvPr descr="image.png" id="337" name="Google Shape;337;p32"/>
          <p:cNvPicPr preferRelativeResize="0"/>
          <p:nvPr/>
        </p:nvPicPr>
        <p:blipFill rotWithShape="1">
          <a:blip r:embed="rId6">
            <a:alphaModFix/>
          </a:blip>
          <a:srcRect b="0" l="0" r="0" t="0"/>
          <a:stretch/>
        </p:blipFill>
        <p:spPr>
          <a:xfrm>
            <a:off x="6524625" y="4014787"/>
            <a:ext cx="114300" cy="200025"/>
          </a:xfrm>
          <a:prstGeom prst="rect">
            <a:avLst/>
          </a:prstGeom>
          <a:noFill/>
          <a:ln>
            <a:noFill/>
          </a:ln>
        </p:spPr>
      </p:pic>
      <p:pic>
        <p:nvPicPr>
          <p:cNvPr descr="image.png" id="338" name="Google Shape;338;p32"/>
          <p:cNvPicPr preferRelativeResize="0"/>
          <p:nvPr/>
        </p:nvPicPr>
        <p:blipFill rotWithShape="1">
          <a:blip r:embed="rId6">
            <a:alphaModFix/>
          </a:blip>
          <a:srcRect b="0" l="0" r="0" t="0"/>
          <a:stretch/>
        </p:blipFill>
        <p:spPr>
          <a:xfrm>
            <a:off x="6524625" y="4814887"/>
            <a:ext cx="114300" cy="2000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748"/>
        </a:solidFill>
      </p:bgPr>
    </p:bg>
    <p:spTree>
      <p:nvGrpSpPr>
        <p:cNvPr id="342" name="Shape 342"/>
        <p:cNvGrpSpPr/>
        <p:nvPr/>
      </p:nvGrpSpPr>
      <p:grpSpPr>
        <a:xfrm>
          <a:off x="0" y="0"/>
          <a:ext cx="0" cy="0"/>
          <a:chOff x="0" y="0"/>
          <a:chExt cx="0" cy="0"/>
        </a:xfrm>
      </p:grpSpPr>
      <p:pic>
        <p:nvPicPr>
          <p:cNvPr descr="image.png" id="343" name="Google Shape;343;p3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44" name="Google Shape;344;p33"/>
          <p:cNvPicPr preferRelativeResize="0"/>
          <p:nvPr/>
        </p:nvPicPr>
        <p:blipFill rotWithShape="1">
          <a:blip r:embed="rId4">
            <a:alphaModFix/>
          </a:blip>
          <a:srcRect b="0" l="0" r="0" t="0"/>
          <a:stretch/>
        </p:blipFill>
        <p:spPr>
          <a:xfrm>
            <a:off x="571500" y="2514600"/>
            <a:ext cx="3492549" cy="3276600"/>
          </a:xfrm>
          <a:prstGeom prst="rect">
            <a:avLst/>
          </a:prstGeom>
          <a:noFill/>
          <a:ln>
            <a:noFill/>
          </a:ln>
        </p:spPr>
      </p:pic>
      <p:pic>
        <p:nvPicPr>
          <p:cNvPr descr="image.png" id="345" name="Google Shape;345;p33"/>
          <p:cNvPicPr preferRelativeResize="0"/>
          <p:nvPr/>
        </p:nvPicPr>
        <p:blipFill rotWithShape="1">
          <a:blip r:embed="rId5">
            <a:alphaModFix/>
          </a:blip>
          <a:srcRect b="0" l="0" r="0" t="0"/>
          <a:stretch/>
        </p:blipFill>
        <p:spPr>
          <a:xfrm>
            <a:off x="4349799" y="2514600"/>
            <a:ext cx="3492549" cy="3276600"/>
          </a:xfrm>
          <a:prstGeom prst="rect">
            <a:avLst/>
          </a:prstGeom>
          <a:noFill/>
          <a:ln>
            <a:noFill/>
          </a:ln>
        </p:spPr>
      </p:pic>
      <p:pic>
        <p:nvPicPr>
          <p:cNvPr descr="image.png" id="346" name="Google Shape;346;p33"/>
          <p:cNvPicPr preferRelativeResize="0"/>
          <p:nvPr/>
        </p:nvPicPr>
        <p:blipFill rotWithShape="1">
          <a:blip r:embed="rId6">
            <a:alphaModFix/>
          </a:blip>
          <a:srcRect b="0" l="0" r="0" t="0"/>
          <a:stretch/>
        </p:blipFill>
        <p:spPr>
          <a:xfrm>
            <a:off x="8128099" y="2514600"/>
            <a:ext cx="3492549" cy="3276600"/>
          </a:xfrm>
          <a:prstGeom prst="rect">
            <a:avLst/>
          </a:prstGeom>
          <a:noFill/>
          <a:ln>
            <a:noFill/>
          </a:ln>
        </p:spPr>
      </p:pic>
      <p:sp>
        <p:nvSpPr>
          <p:cNvPr id="347" name="Google Shape;347;p33"/>
          <p:cNvSpPr txBox="1"/>
          <p:nvPr/>
        </p:nvSpPr>
        <p:spPr>
          <a:xfrm>
            <a:off x="882521" y="3467100"/>
            <a:ext cx="2870358" cy="342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90CDF4"/>
                </a:solidFill>
                <a:latin typeface="Merriweather"/>
                <a:ea typeface="Merriweather"/>
                <a:cs typeface="Merriweather"/>
                <a:sym typeface="Merriweather"/>
              </a:rPr>
              <a:t>Traffic Management</a:t>
            </a:r>
            <a:endParaRPr/>
          </a:p>
        </p:txBody>
      </p:sp>
      <p:sp>
        <p:nvSpPr>
          <p:cNvPr id="348" name="Google Shape;348;p33"/>
          <p:cNvSpPr txBox="1"/>
          <p:nvPr/>
        </p:nvSpPr>
        <p:spPr>
          <a:xfrm>
            <a:off x="857250" y="4143375"/>
            <a:ext cx="2921049" cy="121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Real-time analysis of traffic flow, vehicle counts, and violation detection for adaptive signal control.</a:t>
            </a:r>
            <a:endParaRPr/>
          </a:p>
        </p:txBody>
      </p:sp>
      <p:sp>
        <p:nvSpPr>
          <p:cNvPr id="349" name="Google Shape;349;p33"/>
          <p:cNvSpPr txBox="1"/>
          <p:nvPr/>
        </p:nvSpPr>
        <p:spPr>
          <a:xfrm>
            <a:off x="5075872" y="3467100"/>
            <a:ext cx="2040255" cy="342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90CDF4"/>
                </a:solidFill>
                <a:latin typeface="Merriweather"/>
                <a:ea typeface="Merriweather"/>
                <a:cs typeface="Merriweather"/>
                <a:sym typeface="Merriweather"/>
              </a:rPr>
              <a:t>Smart Parking</a:t>
            </a:r>
            <a:endParaRPr/>
          </a:p>
        </p:txBody>
      </p:sp>
      <p:sp>
        <p:nvSpPr>
          <p:cNvPr id="350" name="Google Shape;350;p33"/>
          <p:cNvSpPr txBox="1"/>
          <p:nvPr/>
        </p:nvSpPr>
        <p:spPr>
          <a:xfrm>
            <a:off x="4635549" y="4143375"/>
            <a:ext cx="2921049" cy="121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Camera systems detecting available spaces, feeding data to guidance apps to reduce urban congestion.</a:t>
            </a:r>
            <a:endParaRPr/>
          </a:p>
        </p:txBody>
      </p:sp>
      <p:sp>
        <p:nvSpPr>
          <p:cNvPr id="351" name="Google Shape;351;p33"/>
          <p:cNvSpPr txBox="1"/>
          <p:nvPr/>
        </p:nvSpPr>
        <p:spPr>
          <a:xfrm>
            <a:off x="8509128" y="3467100"/>
            <a:ext cx="2730341" cy="342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90CDF4"/>
                </a:solidFill>
                <a:latin typeface="Merriweather"/>
                <a:ea typeface="Merriweather"/>
                <a:cs typeface="Merriweather"/>
                <a:sym typeface="Merriweather"/>
              </a:rPr>
              <a:t>Urban Maintenance</a:t>
            </a:r>
            <a:endParaRPr/>
          </a:p>
        </p:txBody>
      </p:sp>
      <p:sp>
        <p:nvSpPr>
          <p:cNvPr id="352" name="Google Shape;352;p33"/>
          <p:cNvSpPr txBox="1"/>
          <p:nvPr/>
        </p:nvSpPr>
        <p:spPr>
          <a:xfrm>
            <a:off x="8413849" y="4143375"/>
            <a:ext cx="2921049" cy="121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Automated detection of potholes, graffiti, and infrastructure damage for proactive repair scheduling.</a:t>
            </a:r>
            <a:endParaRPr/>
          </a:p>
        </p:txBody>
      </p:sp>
      <p:pic>
        <p:nvPicPr>
          <p:cNvPr descr="image.png" id="353" name="Google Shape;353;p33"/>
          <p:cNvPicPr preferRelativeResize="0"/>
          <p:nvPr/>
        </p:nvPicPr>
        <p:blipFill rotWithShape="1">
          <a:blip r:embed="rId7">
            <a:alphaModFix/>
          </a:blip>
          <a:srcRect b="0" l="0" r="0" t="0"/>
          <a:stretch/>
        </p:blipFill>
        <p:spPr>
          <a:xfrm>
            <a:off x="2127200" y="2847975"/>
            <a:ext cx="381000" cy="381000"/>
          </a:xfrm>
          <a:prstGeom prst="rect">
            <a:avLst/>
          </a:prstGeom>
          <a:noFill/>
          <a:ln>
            <a:noFill/>
          </a:ln>
        </p:spPr>
      </p:pic>
      <p:pic>
        <p:nvPicPr>
          <p:cNvPr descr="image.png" id="354" name="Google Shape;354;p33"/>
          <p:cNvPicPr preferRelativeResize="0"/>
          <p:nvPr/>
        </p:nvPicPr>
        <p:blipFill rotWithShape="1">
          <a:blip r:embed="rId8">
            <a:alphaModFix/>
          </a:blip>
          <a:srcRect b="0" l="0" r="0" t="0"/>
          <a:stretch/>
        </p:blipFill>
        <p:spPr>
          <a:xfrm>
            <a:off x="5929312" y="2847975"/>
            <a:ext cx="333375" cy="381000"/>
          </a:xfrm>
          <a:prstGeom prst="rect">
            <a:avLst/>
          </a:prstGeom>
          <a:noFill/>
          <a:ln>
            <a:noFill/>
          </a:ln>
        </p:spPr>
      </p:pic>
      <p:pic>
        <p:nvPicPr>
          <p:cNvPr descr="image.png" id="355" name="Google Shape;355;p33"/>
          <p:cNvPicPr preferRelativeResize="0"/>
          <p:nvPr/>
        </p:nvPicPr>
        <p:blipFill rotWithShape="1">
          <a:blip r:embed="rId9">
            <a:alphaModFix/>
          </a:blip>
          <a:srcRect b="0" l="0" r="0" t="0"/>
          <a:stretch/>
        </p:blipFill>
        <p:spPr>
          <a:xfrm>
            <a:off x="9659987" y="2847975"/>
            <a:ext cx="428625" cy="381000"/>
          </a:xfrm>
          <a:prstGeom prst="rect">
            <a:avLst/>
          </a:prstGeom>
          <a:noFill/>
          <a:ln>
            <a:noFill/>
          </a:ln>
        </p:spPr>
      </p:pic>
      <p:sp>
        <p:nvSpPr>
          <p:cNvPr id="356" name="Google Shape;356;p33"/>
          <p:cNvSpPr txBox="1"/>
          <p:nvPr/>
        </p:nvSpPr>
        <p:spPr>
          <a:xfrm>
            <a:off x="571500" y="381000"/>
            <a:ext cx="11601450"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63B3ED"/>
                </a:solidFill>
                <a:latin typeface="Merriweather"/>
                <a:ea typeface="Merriweather"/>
                <a:cs typeface="Merriweather"/>
                <a:sym typeface="Merriweather"/>
              </a:rPr>
              <a:t>Smart City Infrastructure</a:t>
            </a:r>
            <a:endParaRPr/>
          </a:p>
        </p:txBody>
      </p:sp>
      <p:sp>
        <p:nvSpPr>
          <p:cNvPr id="357" name="Google Shape;357;p33"/>
          <p:cNvSpPr/>
          <p:nvPr/>
        </p:nvSpPr>
        <p:spPr>
          <a:xfrm>
            <a:off x="571500" y="1047750"/>
            <a:ext cx="11049000" cy="19050"/>
          </a:xfrm>
          <a:prstGeom prst="rect">
            <a:avLst/>
          </a:prstGeom>
          <a:solidFill>
            <a:srgbClr val="4A556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748"/>
        </a:solidFill>
      </p:bgPr>
    </p:bg>
    <p:spTree>
      <p:nvGrpSpPr>
        <p:cNvPr id="361" name="Shape 361"/>
        <p:cNvGrpSpPr/>
        <p:nvPr/>
      </p:nvGrpSpPr>
      <p:grpSpPr>
        <a:xfrm>
          <a:off x="0" y="0"/>
          <a:ext cx="0" cy="0"/>
          <a:chOff x="0" y="0"/>
          <a:chExt cx="0" cy="0"/>
        </a:xfrm>
      </p:grpSpPr>
      <p:pic>
        <p:nvPicPr>
          <p:cNvPr descr="image.png" id="362" name="Google Shape;362;p3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63" name="Google Shape;363;p34"/>
          <p:cNvPicPr preferRelativeResize="0"/>
          <p:nvPr/>
        </p:nvPicPr>
        <p:blipFill rotWithShape="1">
          <a:blip r:embed="rId4">
            <a:alphaModFix/>
          </a:blip>
          <a:srcRect b="0" l="0" r="0" t="0"/>
          <a:stretch/>
        </p:blipFill>
        <p:spPr>
          <a:xfrm>
            <a:off x="6334125" y="2247900"/>
            <a:ext cx="5286375" cy="3810000"/>
          </a:xfrm>
          <a:prstGeom prst="rect">
            <a:avLst/>
          </a:prstGeom>
          <a:noFill/>
          <a:ln>
            <a:noFill/>
          </a:ln>
        </p:spPr>
      </p:pic>
      <p:sp>
        <p:nvSpPr>
          <p:cNvPr id="364" name="Google Shape;364;p34"/>
          <p:cNvSpPr txBox="1"/>
          <p:nvPr/>
        </p:nvSpPr>
        <p:spPr>
          <a:xfrm>
            <a:off x="571500" y="2557462"/>
            <a:ext cx="5550693"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90CDF4"/>
                </a:solidFill>
                <a:latin typeface="Merriweather"/>
                <a:ea typeface="Merriweather"/>
                <a:cs typeface="Merriweather"/>
                <a:sym typeface="Merriweather"/>
              </a:rPr>
              <a:t>Quality Assurance at Scale</a:t>
            </a:r>
            <a:endParaRPr/>
          </a:p>
        </p:txBody>
      </p:sp>
      <p:sp>
        <p:nvSpPr>
          <p:cNvPr id="365" name="Google Shape;365;p34"/>
          <p:cNvSpPr txBox="1"/>
          <p:nvPr/>
        </p:nvSpPr>
        <p:spPr>
          <a:xfrm>
            <a:off x="1047750" y="3043237"/>
            <a:ext cx="481012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Automated Visual Inspection (AVI) systems detect micro-defects on production lines with higher accuracy and speed than human operators.</a:t>
            </a:r>
            <a:endParaRPr/>
          </a:p>
        </p:txBody>
      </p:sp>
      <p:sp>
        <p:nvSpPr>
          <p:cNvPr id="366" name="Google Shape;366;p34"/>
          <p:cNvSpPr txBox="1"/>
          <p:nvPr/>
        </p:nvSpPr>
        <p:spPr>
          <a:xfrm>
            <a:off x="1047750" y="4148137"/>
            <a:ext cx="48101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Enables predictive maintenance by visually monitoring equipment wear and tear.</a:t>
            </a:r>
            <a:endParaRPr/>
          </a:p>
        </p:txBody>
      </p:sp>
      <p:sp>
        <p:nvSpPr>
          <p:cNvPr id="367" name="Google Shape;367;p34"/>
          <p:cNvSpPr txBox="1"/>
          <p:nvPr/>
        </p:nvSpPr>
        <p:spPr>
          <a:xfrm>
            <a:off x="1047750" y="4948237"/>
            <a:ext cx="48101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Vision-guided robotics are heavily utilized in warehouse logistics for automated picking and sorting.</a:t>
            </a:r>
            <a:endParaRPr/>
          </a:p>
        </p:txBody>
      </p:sp>
      <p:pic>
        <p:nvPicPr>
          <p:cNvPr descr="image.png" id="368" name="Google Shape;368;p34"/>
          <p:cNvPicPr preferRelativeResize="0"/>
          <p:nvPr/>
        </p:nvPicPr>
        <p:blipFill rotWithShape="1">
          <a:blip r:embed="rId5">
            <a:alphaModFix/>
          </a:blip>
          <a:srcRect b="0" l="0" r="0" t="0"/>
          <a:stretch/>
        </p:blipFill>
        <p:spPr>
          <a:xfrm>
            <a:off x="6334125" y="2247900"/>
            <a:ext cx="5286375" cy="3810000"/>
          </a:xfrm>
          <a:prstGeom prst="rect">
            <a:avLst/>
          </a:prstGeom>
          <a:noFill/>
          <a:ln>
            <a:noFill/>
          </a:ln>
        </p:spPr>
      </p:pic>
      <p:sp>
        <p:nvSpPr>
          <p:cNvPr id="369" name="Google Shape;369;p34"/>
          <p:cNvSpPr txBox="1"/>
          <p:nvPr/>
        </p:nvSpPr>
        <p:spPr>
          <a:xfrm>
            <a:off x="571500" y="381000"/>
            <a:ext cx="11601450"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63B3ED"/>
                </a:solidFill>
                <a:latin typeface="Merriweather"/>
                <a:ea typeface="Merriweather"/>
                <a:cs typeface="Merriweather"/>
                <a:sym typeface="Merriweather"/>
              </a:rPr>
              <a:t>Manufacturing &amp; Industry 4.0</a:t>
            </a:r>
            <a:endParaRPr/>
          </a:p>
        </p:txBody>
      </p:sp>
      <p:sp>
        <p:nvSpPr>
          <p:cNvPr id="370" name="Google Shape;370;p34"/>
          <p:cNvSpPr/>
          <p:nvPr/>
        </p:nvSpPr>
        <p:spPr>
          <a:xfrm>
            <a:off x="571500" y="1047750"/>
            <a:ext cx="11049000" cy="19050"/>
          </a:xfrm>
          <a:prstGeom prst="rect">
            <a:avLst/>
          </a:prstGeom>
          <a:solidFill>
            <a:srgbClr val="4A556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71" name="Google Shape;371;p34"/>
          <p:cNvPicPr preferRelativeResize="0"/>
          <p:nvPr/>
        </p:nvPicPr>
        <p:blipFill rotWithShape="1">
          <a:blip r:embed="rId6">
            <a:alphaModFix/>
          </a:blip>
          <a:srcRect b="0" l="0" r="0" t="0"/>
          <a:stretch/>
        </p:blipFill>
        <p:spPr>
          <a:xfrm>
            <a:off x="762000" y="3062287"/>
            <a:ext cx="114300" cy="200025"/>
          </a:xfrm>
          <a:prstGeom prst="rect">
            <a:avLst/>
          </a:prstGeom>
          <a:noFill/>
          <a:ln>
            <a:noFill/>
          </a:ln>
        </p:spPr>
      </p:pic>
      <p:pic>
        <p:nvPicPr>
          <p:cNvPr descr="image.png" id="372" name="Google Shape;372;p34"/>
          <p:cNvPicPr preferRelativeResize="0"/>
          <p:nvPr/>
        </p:nvPicPr>
        <p:blipFill rotWithShape="1">
          <a:blip r:embed="rId6">
            <a:alphaModFix/>
          </a:blip>
          <a:srcRect b="0" l="0" r="0" t="0"/>
          <a:stretch/>
        </p:blipFill>
        <p:spPr>
          <a:xfrm>
            <a:off x="762000" y="4167187"/>
            <a:ext cx="114300" cy="200025"/>
          </a:xfrm>
          <a:prstGeom prst="rect">
            <a:avLst/>
          </a:prstGeom>
          <a:noFill/>
          <a:ln>
            <a:noFill/>
          </a:ln>
        </p:spPr>
      </p:pic>
      <p:pic>
        <p:nvPicPr>
          <p:cNvPr descr="image.png" id="373" name="Google Shape;373;p34"/>
          <p:cNvPicPr preferRelativeResize="0"/>
          <p:nvPr/>
        </p:nvPicPr>
        <p:blipFill rotWithShape="1">
          <a:blip r:embed="rId6">
            <a:alphaModFix/>
          </a:blip>
          <a:srcRect b="0" l="0" r="0" t="0"/>
          <a:stretch/>
        </p:blipFill>
        <p:spPr>
          <a:xfrm>
            <a:off x="762000" y="4967287"/>
            <a:ext cx="114300" cy="2000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748"/>
        </a:solidFill>
      </p:bgPr>
    </p:bg>
    <p:spTree>
      <p:nvGrpSpPr>
        <p:cNvPr id="377" name="Shape 377"/>
        <p:cNvGrpSpPr/>
        <p:nvPr/>
      </p:nvGrpSpPr>
      <p:grpSpPr>
        <a:xfrm>
          <a:off x="0" y="0"/>
          <a:ext cx="0" cy="0"/>
          <a:chOff x="0" y="0"/>
          <a:chExt cx="0" cy="0"/>
        </a:xfrm>
      </p:grpSpPr>
      <p:pic>
        <p:nvPicPr>
          <p:cNvPr descr="image.png" id="378" name="Google Shape;378;p3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79" name="Google Shape;379;p35"/>
          <p:cNvPicPr preferRelativeResize="0"/>
          <p:nvPr/>
        </p:nvPicPr>
        <p:blipFill rotWithShape="1">
          <a:blip r:embed="rId4">
            <a:alphaModFix/>
          </a:blip>
          <a:srcRect b="0" l="0" r="0" t="0"/>
          <a:stretch/>
        </p:blipFill>
        <p:spPr>
          <a:xfrm>
            <a:off x="571500" y="2247900"/>
            <a:ext cx="5286375" cy="3810000"/>
          </a:xfrm>
          <a:prstGeom prst="rect">
            <a:avLst/>
          </a:prstGeom>
          <a:noFill/>
          <a:ln>
            <a:noFill/>
          </a:ln>
        </p:spPr>
      </p:pic>
      <p:sp>
        <p:nvSpPr>
          <p:cNvPr id="380" name="Google Shape;380;p35"/>
          <p:cNvSpPr txBox="1"/>
          <p:nvPr/>
        </p:nvSpPr>
        <p:spPr>
          <a:xfrm>
            <a:off x="6334125" y="2509837"/>
            <a:ext cx="5550693"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90CDF4"/>
                </a:solidFill>
                <a:latin typeface="Merriweather"/>
                <a:ea typeface="Merriweather"/>
                <a:cs typeface="Merriweather"/>
                <a:sym typeface="Merriweather"/>
              </a:rPr>
              <a:t>Explosive Growth</a:t>
            </a:r>
            <a:endParaRPr/>
          </a:p>
        </p:txBody>
      </p:sp>
      <p:sp>
        <p:nvSpPr>
          <p:cNvPr id="381" name="Google Shape;381;p35"/>
          <p:cNvSpPr txBox="1"/>
          <p:nvPr/>
        </p:nvSpPr>
        <p:spPr>
          <a:xfrm>
            <a:off x="6334125" y="3186112"/>
            <a:ext cx="52863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The CV market is expanding rapidly as the technology transitions from experimental projects to core product capabilities.</a:t>
            </a:r>
            <a:endParaRPr/>
          </a:p>
        </p:txBody>
      </p:sp>
      <p:sp>
        <p:nvSpPr>
          <p:cNvPr id="382" name="Google Shape;382;p35"/>
          <p:cNvSpPr txBox="1"/>
          <p:nvPr/>
        </p:nvSpPr>
        <p:spPr>
          <a:xfrm>
            <a:off x="6334125" y="4433887"/>
            <a:ext cx="528637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For example, the utilization of computer vision specifically in autonomous vehicles is projected to reach massive scale with high compound annual growth rates (CAGR) approaching 40% through 2026.</a:t>
            </a:r>
            <a:endParaRPr/>
          </a:p>
        </p:txBody>
      </p:sp>
      <p:pic>
        <p:nvPicPr>
          <p:cNvPr descr="image.png" id="383" name="Google Shape;383;p35"/>
          <p:cNvPicPr preferRelativeResize="0"/>
          <p:nvPr/>
        </p:nvPicPr>
        <p:blipFill rotWithShape="1">
          <a:blip r:embed="rId5">
            <a:alphaModFix/>
          </a:blip>
          <a:srcRect b="0" l="0" r="0" t="0"/>
          <a:stretch/>
        </p:blipFill>
        <p:spPr>
          <a:xfrm>
            <a:off x="571500" y="2247900"/>
            <a:ext cx="5286375" cy="3810000"/>
          </a:xfrm>
          <a:prstGeom prst="rect">
            <a:avLst/>
          </a:prstGeom>
          <a:noFill/>
          <a:ln>
            <a:noFill/>
          </a:ln>
        </p:spPr>
      </p:pic>
      <p:sp>
        <p:nvSpPr>
          <p:cNvPr id="384" name="Google Shape;384;p35"/>
          <p:cNvSpPr txBox="1"/>
          <p:nvPr/>
        </p:nvSpPr>
        <p:spPr>
          <a:xfrm>
            <a:off x="571500" y="381000"/>
            <a:ext cx="11601450"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63B3ED"/>
                </a:solidFill>
                <a:latin typeface="Merriweather"/>
                <a:ea typeface="Merriweather"/>
                <a:cs typeface="Merriweather"/>
                <a:sym typeface="Merriweather"/>
              </a:rPr>
              <a:t>Market Projection</a:t>
            </a:r>
            <a:endParaRPr/>
          </a:p>
        </p:txBody>
      </p:sp>
      <p:sp>
        <p:nvSpPr>
          <p:cNvPr id="385" name="Google Shape;385;p35"/>
          <p:cNvSpPr/>
          <p:nvPr/>
        </p:nvSpPr>
        <p:spPr>
          <a:xfrm>
            <a:off x="571500" y="1047750"/>
            <a:ext cx="11049000" cy="19050"/>
          </a:xfrm>
          <a:prstGeom prst="rect">
            <a:avLst/>
          </a:prstGeom>
          <a:solidFill>
            <a:srgbClr val="4A556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748"/>
        </a:solidFill>
      </p:bgPr>
    </p:bg>
    <p:spTree>
      <p:nvGrpSpPr>
        <p:cNvPr id="389" name="Shape 389"/>
        <p:cNvGrpSpPr/>
        <p:nvPr/>
      </p:nvGrpSpPr>
      <p:grpSpPr>
        <a:xfrm>
          <a:off x="0" y="0"/>
          <a:ext cx="0" cy="0"/>
          <a:chOff x="0" y="0"/>
          <a:chExt cx="0" cy="0"/>
        </a:xfrm>
      </p:grpSpPr>
      <p:pic>
        <p:nvPicPr>
          <p:cNvPr descr="image.png" id="390" name="Google Shape;390;p3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91" name="Google Shape;391;p36"/>
          <p:cNvSpPr txBox="1"/>
          <p:nvPr/>
        </p:nvSpPr>
        <p:spPr>
          <a:xfrm>
            <a:off x="1645443" y="2442269"/>
            <a:ext cx="8901112" cy="7143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500" u="none" cap="none" strike="noStrike">
                <a:solidFill>
                  <a:srgbClr val="63B3ED"/>
                </a:solidFill>
                <a:latin typeface="Merriweather"/>
                <a:ea typeface="Merriweather"/>
                <a:cs typeface="Merriweather"/>
                <a:sym typeface="Merriweather"/>
              </a:rPr>
              <a:t>Part 5: Strategy &amp; Deployment</a:t>
            </a:r>
            <a:endParaRPr/>
          </a:p>
        </p:txBody>
      </p:sp>
      <p:sp>
        <p:nvSpPr>
          <p:cNvPr id="392" name="Google Shape;392;p36"/>
          <p:cNvSpPr/>
          <p:nvPr/>
        </p:nvSpPr>
        <p:spPr>
          <a:xfrm>
            <a:off x="5381625" y="3442394"/>
            <a:ext cx="1428750" cy="38100"/>
          </a:xfrm>
          <a:prstGeom prst="rect">
            <a:avLst/>
          </a:prstGeom>
          <a:solidFill>
            <a:srgbClr val="63B3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3" name="Google Shape;393;p36"/>
          <p:cNvSpPr txBox="1"/>
          <p:nvPr/>
        </p:nvSpPr>
        <p:spPr>
          <a:xfrm>
            <a:off x="1857375" y="3785294"/>
            <a:ext cx="8477250" cy="4875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1" lang="en-US" sz="2400" u="none" cap="none" strike="noStrike">
                <a:solidFill>
                  <a:srgbClr val="A0AEC0"/>
                </a:solidFill>
                <a:latin typeface="DM Sans"/>
                <a:ea typeface="DM Sans"/>
                <a:cs typeface="DM Sans"/>
                <a:sym typeface="DM Sans"/>
              </a:rPr>
              <a:t>Taking CV from the lab to production.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748"/>
        </a:solidFill>
      </p:bgPr>
    </p:bg>
    <p:spTree>
      <p:nvGrpSpPr>
        <p:cNvPr id="397" name="Shape 397"/>
        <p:cNvGrpSpPr/>
        <p:nvPr/>
      </p:nvGrpSpPr>
      <p:grpSpPr>
        <a:xfrm>
          <a:off x="0" y="0"/>
          <a:ext cx="0" cy="0"/>
          <a:chOff x="0" y="0"/>
          <a:chExt cx="0" cy="0"/>
        </a:xfrm>
      </p:grpSpPr>
      <p:pic>
        <p:nvPicPr>
          <p:cNvPr descr="image.png" id="398" name="Google Shape;398;p3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99" name="Google Shape;399;p37"/>
          <p:cNvPicPr preferRelativeResize="0"/>
          <p:nvPr/>
        </p:nvPicPr>
        <p:blipFill rotWithShape="1">
          <a:blip r:embed="rId4">
            <a:alphaModFix/>
          </a:blip>
          <a:srcRect b="0" l="0" r="0" t="0"/>
          <a:stretch/>
        </p:blipFill>
        <p:spPr>
          <a:xfrm>
            <a:off x="571500" y="2514600"/>
            <a:ext cx="3492549" cy="3276600"/>
          </a:xfrm>
          <a:prstGeom prst="rect">
            <a:avLst/>
          </a:prstGeom>
          <a:noFill/>
          <a:ln>
            <a:noFill/>
          </a:ln>
        </p:spPr>
      </p:pic>
      <p:pic>
        <p:nvPicPr>
          <p:cNvPr descr="image.png" id="400" name="Google Shape;400;p37"/>
          <p:cNvPicPr preferRelativeResize="0"/>
          <p:nvPr/>
        </p:nvPicPr>
        <p:blipFill rotWithShape="1">
          <a:blip r:embed="rId5">
            <a:alphaModFix/>
          </a:blip>
          <a:srcRect b="0" l="0" r="0" t="0"/>
          <a:stretch/>
        </p:blipFill>
        <p:spPr>
          <a:xfrm>
            <a:off x="4349799" y="2514600"/>
            <a:ext cx="3492549" cy="3276600"/>
          </a:xfrm>
          <a:prstGeom prst="rect">
            <a:avLst/>
          </a:prstGeom>
          <a:noFill/>
          <a:ln>
            <a:noFill/>
          </a:ln>
        </p:spPr>
      </p:pic>
      <p:pic>
        <p:nvPicPr>
          <p:cNvPr descr="image.png" id="401" name="Google Shape;401;p37"/>
          <p:cNvPicPr preferRelativeResize="0"/>
          <p:nvPr/>
        </p:nvPicPr>
        <p:blipFill rotWithShape="1">
          <a:blip r:embed="rId6">
            <a:alphaModFix/>
          </a:blip>
          <a:srcRect b="0" l="0" r="0" t="0"/>
          <a:stretch/>
        </p:blipFill>
        <p:spPr>
          <a:xfrm>
            <a:off x="8128099" y="2514600"/>
            <a:ext cx="3492549" cy="3276600"/>
          </a:xfrm>
          <a:prstGeom prst="rect">
            <a:avLst/>
          </a:prstGeom>
          <a:noFill/>
          <a:ln>
            <a:noFill/>
          </a:ln>
        </p:spPr>
      </p:pic>
      <p:sp>
        <p:nvSpPr>
          <p:cNvPr id="402" name="Google Shape;402;p37"/>
          <p:cNvSpPr txBox="1"/>
          <p:nvPr/>
        </p:nvSpPr>
        <p:spPr>
          <a:xfrm>
            <a:off x="1047541" y="3467100"/>
            <a:ext cx="2540317" cy="342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90CDF4"/>
                </a:solidFill>
                <a:latin typeface="Merriweather"/>
                <a:ea typeface="Merriweather"/>
                <a:cs typeface="Merriweather"/>
                <a:sym typeface="Merriweather"/>
              </a:rPr>
              <a:t>Targeted Labeling</a:t>
            </a:r>
            <a:endParaRPr/>
          </a:p>
        </p:txBody>
      </p:sp>
      <p:sp>
        <p:nvSpPr>
          <p:cNvPr id="403" name="Google Shape;403;p37"/>
          <p:cNvSpPr txBox="1"/>
          <p:nvPr/>
        </p:nvSpPr>
        <p:spPr>
          <a:xfrm>
            <a:off x="857250" y="4143375"/>
            <a:ext cx="2921049" cy="121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Focus expensive manual labeling efforts on the core, unique tasks where foundation models fall short.</a:t>
            </a:r>
            <a:endParaRPr/>
          </a:p>
        </p:txBody>
      </p:sp>
      <p:sp>
        <p:nvSpPr>
          <p:cNvPr id="404" name="Google Shape;404;p37"/>
          <p:cNvSpPr txBox="1"/>
          <p:nvPr/>
        </p:nvSpPr>
        <p:spPr>
          <a:xfrm>
            <a:off x="5080873" y="3467100"/>
            <a:ext cx="2030253" cy="342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90CDF4"/>
                </a:solidFill>
                <a:latin typeface="Merriweather"/>
                <a:ea typeface="Merriweather"/>
                <a:cs typeface="Merriweather"/>
                <a:sym typeface="Merriweather"/>
              </a:rPr>
              <a:t>Synthetic Data</a:t>
            </a:r>
            <a:endParaRPr/>
          </a:p>
        </p:txBody>
      </p:sp>
      <p:sp>
        <p:nvSpPr>
          <p:cNvPr id="405" name="Google Shape;405;p37"/>
          <p:cNvSpPr txBox="1"/>
          <p:nvPr/>
        </p:nvSpPr>
        <p:spPr>
          <a:xfrm>
            <a:off x="4635549" y="4143375"/>
            <a:ext cx="2921049" cy="914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Utilize generative tools to create synthetic data to fill gaps and represent rare edge cases.</a:t>
            </a:r>
            <a:endParaRPr/>
          </a:p>
        </p:txBody>
      </p:sp>
      <p:sp>
        <p:nvSpPr>
          <p:cNvPr id="406" name="Google Shape;406;p37"/>
          <p:cNvSpPr txBox="1"/>
          <p:nvPr/>
        </p:nvSpPr>
        <p:spPr>
          <a:xfrm>
            <a:off x="8774162" y="3467100"/>
            <a:ext cx="2200275" cy="342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90CDF4"/>
                </a:solidFill>
                <a:latin typeface="Merriweather"/>
                <a:ea typeface="Merriweather"/>
                <a:cs typeface="Merriweather"/>
                <a:sym typeface="Merriweather"/>
              </a:rPr>
              <a:t>Unlabeled Value</a:t>
            </a:r>
            <a:endParaRPr/>
          </a:p>
        </p:txBody>
      </p:sp>
      <p:sp>
        <p:nvSpPr>
          <p:cNvPr id="407" name="Google Shape;407;p37"/>
          <p:cNvSpPr txBox="1"/>
          <p:nvPr/>
        </p:nvSpPr>
        <p:spPr>
          <a:xfrm>
            <a:off x="8413849" y="4143375"/>
            <a:ext cx="2921049" cy="121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Employ Self-Supervised Learning (SSL) to extract baseline representations from large volumes of raw, unlabeled video.</a:t>
            </a:r>
            <a:endParaRPr/>
          </a:p>
        </p:txBody>
      </p:sp>
      <p:pic>
        <p:nvPicPr>
          <p:cNvPr descr="image.png" id="408" name="Google Shape;408;p37"/>
          <p:cNvPicPr preferRelativeResize="0"/>
          <p:nvPr/>
        </p:nvPicPr>
        <p:blipFill rotWithShape="1">
          <a:blip r:embed="rId7">
            <a:alphaModFix/>
          </a:blip>
          <a:srcRect b="0" l="0" r="0" t="0"/>
          <a:stretch/>
        </p:blipFill>
        <p:spPr>
          <a:xfrm>
            <a:off x="2127200" y="2847975"/>
            <a:ext cx="381000" cy="381000"/>
          </a:xfrm>
          <a:prstGeom prst="rect">
            <a:avLst/>
          </a:prstGeom>
          <a:noFill/>
          <a:ln>
            <a:noFill/>
          </a:ln>
        </p:spPr>
      </p:pic>
      <p:pic>
        <p:nvPicPr>
          <p:cNvPr descr="image.png" id="409" name="Google Shape;409;p37"/>
          <p:cNvPicPr preferRelativeResize="0"/>
          <p:nvPr/>
        </p:nvPicPr>
        <p:blipFill rotWithShape="1">
          <a:blip r:embed="rId8">
            <a:alphaModFix/>
          </a:blip>
          <a:srcRect b="0" l="0" r="0" t="0"/>
          <a:stretch/>
        </p:blipFill>
        <p:spPr>
          <a:xfrm>
            <a:off x="5857875" y="2847975"/>
            <a:ext cx="476250" cy="381000"/>
          </a:xfrm>
          <a:prstGeom prst="rect">
            <a:avLst/>
          </a:prstGeom>
          <a:noFill/>
          <a:ln>
            <a:noFill/>
          </a:ln>
        </p:spPr>
      </p:pic>
      <p:pic>
        <p:nvPicPr>
          <p:cNvPr descr="image.png" id="410" name="Google Shape;410;p37"/>
          <p:cNvPicPr preferRelativeResize="0"/>
          <p:nvPr/>
        </p:nvPicPr>
        <p:blipFill rotWithShape="1">
          <a:blip r:embed="rId9">
            <a:alphaModFix/>
          </a:blip>
          <a:srcRect b="0" l="0" r="0" t="0"/>
          <a:stretch/>
        </p:blipFill>
        <p:spPr>
          <a:xfrm>
            <a:off x="9683799" y="2847975"/>
            <a:ext cx="381000" cy="381000"/>
          </a:xfrm>
          <a:prstGeom prst="rect">
            <a:avLst/>
          </a:prstGeom>
          <a:noFill/>
          <a:ln>
            <a:noFill/>
          </a:ln>
        </p:spPr>
      </p:pic>
      <p:sp>
        <p:nvSpPr>
          <p:cNvPr id="411" name="Google Shape;411;p37"/>
          <p:cNvSpPr txBox="1"/>
          <p:nvPr/>
        </p:nvSpPr>
        <p:spPr>
          <a:xfrm>
            <a:off x="571500" y="381000"/>
            <a:ext cx="11601450"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63B3ED"/>
                </a:solidFill>
                <a:latin typeface="Merriweather"/>
                <a:ea typeface="Merriweather"/>
                <a:cs typeface="Merriweather"/>
                <a:sym typeface="Merriweather"/>
              </a:rPr>
              <a:t>Building a Data Strategy</a:t>
            </a:r>
            <a:endParaRPr/>
          </a:p>
        </p:txBody>
      </p:sp>
      <p:sp>
        <p:nvSpPr>
          <p:cNvPr id="412" name="Google Shape;412;p37"/>
          <p:cNvSpPr/>
          <p:nvPr/>
        </p:nvSpPr>
        <p:spPr>
          <a:xfrm>
            <a:off x="571500" y="1047750"/>
            <a:ext cx="11049000" cy="19050"/>
          </a:xfrm>
          <a:prstGeom prst="rect">
            <a:avLst/>
          </a:prstGeom>
          <a:solidFill>
            <a:srgbClr val="4A556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748"/>
        </a:solidFill>
      </p:bgPr>
    </p:bg>
    <p:spTree>
      <p:nvGrpSpPr>
        <p:cNvPr id="416" name="Shape 416"/>
        <p:cNvGrpSpPr/>
        <p:nvPr/>
      </p:nvGrpSpPr>
      <p:grpSpPr>
        <a:xfrm>
          <a:off x="0" y="0"/>
          <a:ext cx="0" cy="0"/>
          <a:chOff x="0" y="0"/>
          <a:chExt cx="0" cy="0"/>
        </a:xfrm>
      </p:grpSpPr>
      <p:pic>
        <p:nvPicPr>
          <p:cNvPr descr="image.png" id="417" name="Google Shape;417;p3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18" name="Google Shape;418;p38"/>
          <p:cNvSpPr txBox="1"/>
          <p:nvPr/>
        </p:nvSpPr>
        <p:spPr>
          <a:xfrm>
            <a:off x="571500" y="2309812"/>
            <a:ext cx="5550693"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90CDF4"/>
                </a:solidFill>
                <a:latin typeface="Merriweather"/>
                <a:ea typeface="Merriweather"/>
                <a:cs typeface="Merriweather"/>
                <a:sym typeface="Merriweather"/>
              </a:rPr>
              <a:t>When to Build Custom:</a:t>
            </a:r>
            <a:endParaRPr/>
          </a:p>
        </p:txBody>
      </p:sp>
      <p:sp>
        <p:nvSpPr>
          <p:cNvPr id="419" name="Google Shape;419;p38"/>
          <p:cNvSpPr txBox="1"/>
          <p:nvPr/>
        </p:nvSpPr>
        <p:spPr>
          <a:xfrm>
            <a:off x="6334125" y="3286125"/>
            <a:ext cx="5550693"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90CDF4"/>
                </a:solidFill>
                <a:latin typeface="Merriweather"/>
                <a:ea typeface="Merriweather"/>
                <a:cs typeface="Merriweather"/>
                <a:sym typeface="Merriweather"/>
              </a:rPr>
              <a:t>A Hybrid Approach:</a:t>
            </a:r>
            <a:endParaRPr/>
          </a:p>
        </p:txBody>
      </p:sp>
      <p:sp>
        <p:nvSpPr>
          <p:cNvPr id="420" name="Google Shape;420;p38"/>
          <p:cNvSpPr txBox="1"/>
          <p:nvPr/>
        </p:nvSpPr>
        <p:spPr>
          <a:xfrm>
            <a:off x="6334125" y="3962400"/>
            <a:ext cx="52863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Many teams start with APIs for rapid prototyping and routine tasks, using the resulting labeled data to later train specialized custom models for high-value edge cases.</a:t>
            </a:r>
            <a:endParaRPr/>
          </a:p>
        </p:txBody>
      </p:sp>
      <p:sp>
        <p:nvSpPr>
          <p:cNvPr id="421" name="Google Shape;421;p38"/>
          <p:cNvSpPr txBox="1"/>
          <p:nvPr/>
        </p:nvSpPr>
        <p:spPr>
          <a:xfrm>
            <a:off x="1047750" y="2795587"/>
            <a:ext cx="48101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Objects or environmental conditions are highly unique to the organization.</a:t>
            </a:r>
            <a:endParaRPr/>
          </a:p>
        </p:txBody>
      </p:sp>
      <p:sp>
        <p:nvSpPr>
          <p:cNvPr id="422" name="Google Shape;422;p38"/>
          <p:cNvSpPr txBox="1"/>
          <p:nvPr/>
        </p:nvSpPr>
        <p:spPr>
          <a:xfrm>
            <a:off x="1047750" y="3595687"/>
            <a:ext cx="48101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Required accuracy exceeds what standard API models deliver.</a:t>
            </a:r>
            <a:endParaRPr/>
          </a:p>
        </p:txBody>
      </p:sp>
      <p:sp>
        <p:nvSpPr>
          <p:cNvPr id="423" name="Google Shape;423;p38"/>
          <p:cNvSpPr txBox="1"/>
          <p:nvPr/>
        </p:nvSpPr>
        <p:spPr>
          <a:xfrm>
            <a:off x="1047750" y="4395787"/>
            <a:ext cx="48101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Data privacy requirements prohibit sending images to third-party cloud services.</a:t>
            </a:r>
            <a:endParaRPr/>
          </a:p>
        </p:txBody>
      </p:sp>
      <p:sp>
        <p:nvSpPr>
          <p:cNvPr id="424" name="Google Shape;424;p38"/>
          <p:cNvSpPr txBox="1"/>
          <p:nvPr/>
        </p:nvSpPr>
        <p:spPr>
          <a:xfrm>
            <a:off x="1047750" y="5195887"/>
            <a:ext cx="48101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Processing volumes are so high that cloud API costs exceed edge infrastructure costs.</a:t>
            </a:r>
            <a:endParaRPr/>
          </a:p>
        </p:txBody>
      </p:sp>
      <p:sp>
        <p:nvSpPr>
          <p:cNvPr id="425" name="Google Shape;425;p38"/>
          <p:cNvSpPr txBox="1"/>
          <p:nvPr/>
        </p:nvSpPr>
        <p:spPr>
          <a:xfrm>
            <a:off x="571500" y="381000"/>
            <a:ext cx="11601450"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63B3ED"/>
                </a:solidFill>
                <a:latin typeface="Merriweather"/>
                <a:ea typeface="Merriweather"/>
                <a:cs typeface="Merriweather"/>
                <a:sym typeface="Merriweather"/>
              </a:rPr>
              <a:t>API vs. Custom Development</a:t>
            </a:r>
            <a:endParaRPr/>
          </a:p>
        </p:txBody>
      </p:sp>
      <p:sp>
        <p:nvSpPr>
          <p:cNvPr id="426" name="Google Shape;426;p38"/>
          <p:cNvSpPr/>
          <p:nvPr/>
        </p:nvSpPr>
        <p:spPr>
          <a:xfrm>
            <a:off x="571500" y="1047750"/>
            <a:ext cx="11049000" cy="19050"/>
          </a:xfrm>
          <a:prstGeom prst="rect">
            <a:avLst/>
          </a:prstGeom>
          <a:solidFill>
            <a:srgbClr val="4A556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27" name="Google Shape;427;p38"/>
          <p:cNvPicPr preferRelativeResize="0"/>
          <p:nvPr/>
        </p:nvPicPr>
        <p:blipFill rotWithShape="1">
          <a:blip r:embed="rId4">
            <a:alphaModFix/>
          </a:blip>
          <a:srcRect b="0" l="0" r="0" t="0"/>
          <a:stretch/>
        </p:blipFill>
        <p:spPr>
          <a:xfrm>
            <a:off x="762000" y="2814637"/>
            <a:ext cx="114300" cy="200025"/>
          </a:xfrm>
          <a:prstGeom prst="rect">
            <a:avLst/>
          </a:prstGeom>
          <a:noFill/>
          <a:ln>
            <a:noFill/>
          </a:ln>
        </p:spPr>
      </p:pic>
      <p:pic>
        <p:nvPicPr>
          <p:cNvPr descr="image.png" id="428" name="Google Shape;428;p38"/>
          <p:cNvPicPr preferRelativeResize="0"/>
          <p:nvPr/>
        </p:nvPicPr>
        <p:blipFill rotWithShape="1">
          <a:blip r:embed="rId4">
            <a:alphaModFix/>
          </a:blip>
          <a:srcRect b="0" l="0" r="0" t="0"/>
          <a:stretch/>
        </p:blipFill>
        <p:spPr>
          <a:xfrm>
            <a:off x="762000" y="3614737"/>
            <a:ext cx="114300" cy="200025"/>
          </a:xfrm>
          <a:prstGeom prst="rect">
            <a:avLst/>
          </a:prstGeom>
          <a:noFill/>
          <a:ln>
            <a:noFill/>
          </a:ln>
        </p:spPr>
      </p:pic>
      <p:pic>
        <p:nvPicPr>
          <p:cNvPr descr="image.png" id="429" name="Google Shape;429;p38"/>
          <p:cNvPicPr preferRelativeResize="0"/>
          <p:nvPr/>
        </p:nvPicPr>
        <p:blipFill rotWithShape="1">
          <a:blip r:embed="rId4">
            <a:alphaModFix/>
          </a:blip>
          <a:srcRect b="0" l="0" r="0" t="0"/>
          <a:stretch/>
        </p:blipFill>
        <p:spPr>
          <a:xfrm>
            <a:off x="762000" y="4414837"/>
            <a:ext cx="114300" cy="200025"/>
          </a:xfrm>
          <a:prstGeom prst="rect">
            <a:avLst/>
          </a:prstGeom>
          <a:noFill/>
          <a:ln>
            <a:noFill/>
          </a:ln>
        </p:spPr>
      </p:pic>
      <p:pic>
        <p:nvPicPr>
          <p:cNvPr descr="image.png" id="430" name="Google Shape;430;p38"/>
          <p:cNvPicPr preferRelativeResize="0"/>
          <p:nvPr/>
        </p:nvPicPr>
        <p:blipFill rotWithShape="1">
          <a:blip r:embed="rId4">
            <a:alphaModFix/>
          </a:blip>
          <a:srcRect b="0" l="0" r="0" t="0"/>
          <a:stretch/>
        </p:blipFill>
        <p:spPr>
          <a:xfrm>
            <a:off x="762000" y="5214937"/>
            <a:ext cx="114300" cy="2000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748"/>
        </a:solidFill>
      </p:bgPr>
    </p:bg>
    <p:spTree>
      <p:nvGrpSpPr>
        <p:cNvPr id="434" name="Shape 434"/>
        <p:cNvGrpSpPr/>
        <p:nvPr/>
      </p:nvGrpSpPr>
      <p:grpSpPr>
        <a:xfrm>
          <a:off x="0" y="0"/>
          <a:ext cx="0" cy="0"/>
          <a:chOff x="0" y="0"/>
          <a:chExt cx="0" cy="0"/>
        </a:xfrm>
      </p:grpSpPr>
      <p:pic>
        <p:nvPicPr>
          <p:cNvPr descr="image.png" id="435" name="Google Shape;435;p3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36" name="Google Shape;436;p39"/>
          <p:cNvSpPr txBox="1"/>
          <p:nvPr/>
        </p:nvSpPr>
        <p:spPr>
          <a:xfrm>
            <a:off x="4362450" y="2709862"/>
            <a:ext cx="7620952"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90CDF4"/>
                </a:solidFill>
                <a:latin typeface="Merriweather"/>
                <a:ea typeface="Merriweather"/>
                <a:cs typeface="Merriweather"/>
                <a:sym typeface="Merriweather"/>
              </a:rPr>
              <a:t>Navigating Compliance</a:t>
            </a:r>
            <a:endParaRPr/>
          </a:p>
        </p:txBody>
      </p:sp>
      <p:pic>
        <p:nvPicPr>
          <p:cNvPr descr="image.png" id="437" name="Google Shape;437;p39"/>
          <p:cNvPicPr preferRelativeResize="0"/>
          <p:nvPr/>
        </p:nvPicPr>
        <p:blipFill rotWithShape="1">
          <a:blip r:embed="rId4">
            <a:alphaModFix/>
          </a:blip>
          <a:srcRect b="0" l="0" r="0" t="0"/>
          <a:stretch/>
        </p:blipFill>
        <p:spPr>
          <a:xfrm>
            <a:off x="1633537" y="3648075"/>
            <a:ext cx="1190625" cy="952500"/>
          </a:xfrm>
          <a:prstGeom prst="rect">
            <a:avLst/>
          </a:prstGeom>
          <a:noFill/>
          <a:ln>
            <a:noFill/>
          </a:ln>
        </p:spPr>
      </p:pic>
      <p:sp>
        <p:nvSpPr>
          <p:cNvPr id="438" name="Google Shape;438;p39"/>
          <p:cNvSpPr txBox="1"/>
          <p:nvPr/>
        </p:nvSpPr>
        <p:spPr>
          <a:xfrm>
            <a:off x="4838700" y="3195637"/>
            <a:ext cx="67818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2E8F0"/>
                </a:solidFill>
                <a:latin typeface="DM Sans"/>
                <a:ea typeface="DM Sans"/>
                <a:cs typeface="DM Sans"/>
                <a:sym typeface="DM Sans"/>
              </a:rPr>
              <a:t>EU AI Act:</a:t>
            </a:r>
            <a:r>
              <a:rPr b="0" i="0" lang="en-US" sz="1500" u="none" cap="none" strike="noStrike">
                <a:solidFill>
                  <a:srgbClr val="E2E8F0"/>
                </a:solidFill>
                <a:latin typeface="DM Sans"/>
                <a:ea typeface="DM Sans"/>
                <a:cs typeface="DM Sans"/>
                <a:sym typeface="DM Sans"/>
              </a:rPr>
              <a:t> Establishes binding requirements, prohibiting real-time biometric surveillance in public spaces in most cases.</a:t>
            </a:r>
            <a:endParaRPr/>
          </a:p>
        </p:txBody>
      </p:sp>
      <p:sp>
        <p:nvSpPr>
          <p:cNvPr id="439" name="Google Shape;439;p39"/>
          <p:cNvSpPr txBox="1"/>
          <p:nvPr/>
        </p:nvSpPr>
        <p:spPr>
          <a:xfrm>
            <a:off x="4838700" y="3995737"/>
            <a:ext cx="67818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2E8F0"/>
                </a:solidFill>
                <a:latin typeface="DM Sans"/>
                <a:ea typeface="DM Sans"/>
                <a:cs typeface="DM Sans"/>
                <a:sym typeface="DM Sans"/>
              </a:rPr>
              <a:t>Regulated Sectors:</a:t>
            </a:r>
            <a:r>
              <a:rPr b="0" i="0" lang="en-US" sz="1500" u="none" cap="none" strike="noStrike">
                <a:solidFill>
                  <a:srgbClr val="E2E8F0"/>
                </a:solidFill>
                <a:latin typeface="DM Sans"/>
                <a:ea typeface="DM Sans"/>
                <a:cs typeface="DM Sans"/>
                <a:sym typeface="DM Sans"/>
              </a:rPr>
              <a:t> Medical imaging and autonomous driving face strict auditing, documentation, and human-oversight requirements.</a:t>
            </a:r>
            <a:endParaRPr/>
          </a:p>
        </p:txBody>
      </p:sp>
      <p:sp>
        <p:nvSpPr>
          <p:cNvPr id="440" name="Google Shape;440;p39"/>
          <p:cNvSpPr txBox="1"/>
          <p:nvPr/>
        </p:nvSpPr>
        <p:spPr>
          <a:xfrm>
            <a:off x="4838700" y="4795837"/>
            <a:ext cx="67818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2E8F0"/>
                </a:solidFill>
                <a:latin typeface="DM Sans"/>
                <a:ea typeface="DM Sans"/>
                <a:cs typeface="DM Sans"/>
                <a:sym typeface="DM Sans"/>
              </a:rPr>
              <a:t>Privacy Engineering:</a:t>
            </a:r>
            <a:r>
              <a:rPr b="0" i="0" lang="en-US" sz="1500" u="none" cap="none" strike="noStrike">
                <a:solidFill>
                  <a:srgbClr val="E2E8F0"/>
                </a:solidFill>
                <a:latin typeface="DM Sans"/>
                <a:ea typeface="DM Sans"/>
                <a:cs typeface="DM Sans"/>
                <a:sym typeface="DM Sans"/>
              </a:rPr>
              <a:t> Techniques like federated learning and on-device anonymization (blurring faces before storage) are critical for compliance.</a:t>
            </a:r>
            <a:endParaRPr/>
          </a:p>
        </p:txBody>
      </p:sp>
      <p:sp>
        <p:nvSpPr>
          <p:cNvPr id="441" name="Google Shape;441;p39"/>
          <p:cNvSpPr txBox="1"/>
          <p:nvPr/>
        </p:nvSpPr>
        <p:spPr>
          <a:xfrm>
            <a:off x="571500" y="381000"/>
            <a:ext cx="11601450"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63B3ED"/>
                </a:solidFill>
                <a:latin typeface="Merriweather"/>
                <a:ea typeface="Merriweather"/>
                <a:cs typeface="Merriweather"/>
                <a:sym typeface="Merriweather"/>
              </a:rPr>
              <a:t>Regulatory &amp; Ethical Considerations</a:t>
            </a:r>
            <a:endParaRPr/>
          </a:p>
        </p:txBody>
      </p:sp>
      <p:sp>
        <p:nvSpPr>
          <p:cNvPr id="442" name="Google Shape;442;p39"/>
          <p:cNvSpPr/>
          <p:nvPr/>
        </p:nvSpPr>
        <p:spPr>
          <a:xfrm>
            <a:off x="571500" y="1047750"/>
            <a:ext cx="11049000" cy="19050"/>
          </a:xfrm>
          <a:prstGeom prst="rect">
            <a:avLst/>
          </a:prstGeom>
          <a:solidFill>
            <a:srgbClr val="4A556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43" name="Google Shape;443;p39"/>
          <p:cNvPicPr preferRelativeResize="0"/>
          <p:nvPr/>
        </p:nvPicPr>
        <p:blipFill rotWithShape="1">
          <a:blip r:embed="rId5">
            <a:alphaModFix/>
          </a:blip>
          <a:srcRect b="0" l="0" r="0" t="0"/>
          <a:stretch/>
        </p:blipFill>
        <p:spPr>
          <a:xfrm>
            <a:off x="4552950" y="3214687"/>
            <a:ext cx="114300" cy="200025"/>
          </a:xfrm>
          <a:prstGeom prst="rect">
            <a:avLst/>
          </a:prstGeom>
          <a:noFill/>
          <a:ln>
            <a:noFill/>
          </a:ln>
        </p:spPr>
      </p:pic>
      <p:pic>
        <p:nvPicPr>
          <p:cNvPr descr="image.png" id="444" name="Google Shape;444;p39"/>
          <p:cNvPicPr preferRelativeResize="0"/>
          <p:nvPr/>
        </p:nvPicPr>
        <p:blipFill rotWithShape="1">
          <a:blip r:embed="rId5">
            <a:alphaModFix/>
          </a:blip>
          <a:srcRect b="0" l="0" r="0" t="0"/>
          <a:stretch/>
        </p:blipFill>
        <p:spPr>
          <a:xfrm>
            <a:off x="4552950" y="4014787"/>
            <a:ext cx="114300" cy="200025"/>
          </a:xfrm>
          <a:prstGeom prst="rect">
            <a:avLst/>
          </a:prstGeom>
          <a:noFill/>
          <a:ln>
            <a:noFill/>
          </a:ln>
        </p:spPr>
      </p:pic>
      <p:pic>
        <p:nvPicPr>
          <p:cNvPr descr="image.png" id="445" name="Google Shape;445;p39"/>
          <p:cNvPicPr preferRelativeResize="0"/>
          <p:nvPr/>
        </p:nvPicPr>
        <p:blipFill rotWithShape="1">
          <a:blip r:embed="rId5">
            <a:alphaModFix/>
          </a:blip>
          <a:srcRect b="0" l="0" r="0" t="0"/>
          <a:stretch/>
        </p:blipFill>
        <p:spPr>
          <a:xfrm>
            <a:off x="4552950" y="4814887"/>
            <a:ext cx="114300" cy="2000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6CB0"/>
        </a:solidFill>
      </p:bgPr>
    </p:bg>
    <p:spTree>
      <p:nvGrpSpPr>
        <p:cNvPr id="449" name="Shape 449"/>
        <p:cNvGrpSpPr/>
        <p:nvPr/>
      </p:nvGrpSpPr>
      <p:grpSpPr>
        <a:xfrm>
          <a:off x="0" y="0"/>
          <a:ext cx="0" cy="0"/>
          <a:chOff x="0" y="0"/>
          <a:chExt cx="0" cy="0"/>
        </a:xfrm>
      </p:grpSpPr>
      <p:pic>
        <p:nvPicPr>
          <p:cNvPr descr="image.png" id="450" name="Google Shape;450;p4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51" name="Google Shape;451;p40"/>
          <p:cNvSpPr txBox="1"/>
          <p:nvPr/>
        </p:nvSpPr>
        <p:spPr>
          <a:xfrm>
            <a:off x="3530679" y="2594669"/>
            <a:ext cx="5130641" cy="733425"/>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5250" u="none" cap="none" strike="noStrike">
                <a:solidFill>
                  <a:srgbClr val="FFFFFF"/>
                </a:solidFill>
                <a:latin typeface="Merriweather"/>
                <a:ea typeface="Merriweather"/>
                <a:cs typeface="Merriweather"/>
                <a:sym typeface="Merriweather"/>
              </a:rPr>
              <a:t>Lab Session 1</a:t>
            </a:r>
            <a:endParaRPr/>
          </a:p>
        </p:txBody>
      </p:sp>
      <p:sp>
        <p:nvSpPr>
          <p:cNvPr id="452" name="Google Shape;452;p40"/>
          <p:cNvSpPr txBox="1"/>
          <p:nvPr/>
        </p:nvSpPr>
        <p:spPr>
          <a:xfrm>
            <a:off x="3652837" y="3632894"/>
            <a:ext cx="4886325" cy="4875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1" lang="en-US" sz="2400" u="none" cap="none" strike="noStrike">
                <a:solidFill>
                  <a:srgbClr val="EBF8FF"/>
                </a:solidFill>
                <a:latin typeface="DM Sans"/>
                <a:ea typeface="DM Sans"/>
                <a:cs typeface="DM Sans"/>
                <a:sym typeface="DM Sans"/>
              </a:rPr>
              <a:t>Building a Baseline Image Classifier</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6CB0"/>
        </a:solidFill>
      </p:bgPr>
    </p:bg>
    <p:spTree>
      <p:nvGrpSpPr>
        <p:cNvPr id="456" name="Shape 456"/>
        <p:cNvGrpSpPr/>
        <p:nvPr/>
      </p:nvGrpSpPr>
      <p:grpSpPr>
        <a:xfrm>
          <a:off x="0" y="0"/>
          <a:ext cx="0" cy="0"/>
          <a:chOff x="0" y="0"/>
          <a:chExt cx="0" cy="0"/>
        </a:xfrm>
      </p:grpSpPr>
      <p:pic>
        <p:nvPicPr>
          <p:cNvPr descr="image.png" id="457" name="Google Shape;457;p4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58" name="Google Shape;458;p41"/>
          <p:cNvSpPr txBox="1"/>
          <p:nvPr/>
        </p:nvSpPr>
        <p:spPr>
          <a:xfrm>
            <a:off x="2085498" y="2594669"/>
            <a:ext cx="8021002" cy="733425"/>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5250" u="none" cap="none" strike="noStrike">
                <a:solidFill>
                  <a:srgbClr val="FFFFFF"/>
                </a:solidFill>
                <a:latin typeface="Merriweather"/>
                <a:ea typeface="Merriweather"/>
                <a:cs typeface="Merriweather"/>
                <a:sym typeface="Merriweather"/>
              </a:rPr>
              <a:t>Lab Session 2</a:t>
            </a:r>
            <a:endParaRPr/>
          </a:p>
        </p:txBody>
      </p:sp>
      <p:sp>
        <p:nvSpPr>
          <p:cNvPr id="459" name="Google Shape;459;p41"/>
          <p:cNvSpPr txBox="1"/>
          <p:nvPr/>
        </p:nvSpPr>
        <p:spPr>
          <a:xfrm>
            <a:off x="2276475" y="3632894"/>
            <a:ext cx="7639050" cy="4875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1" lang="en-US" sz="2400" u="none" cap="none" strike="noStrike">
                <a:solidFill>
                  <a:srgbClr val="EBF8FF"/>
                </a:solidFill>
                <a:latin typeface="DM Sans"/>
                <a:ea typeface="DM Sans"/>
                <a:cs typeface="DM Sans"/>
                <a:sym typeface="DM Sans"/>
              </a:rPr>
              <a:t>Implementing Edge Detection &amp; Basic Object Tracking</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748"/>
        </a:solidFill>
      </p:bgPr>
    </p:bg>
    <p:spTree>
      <p:nvGrpSpPr>
        <p:cNvPr id="463" name="Shape 463"/>
        <p:cNvGrpSpPr/>
        <p:nvPr/>
      </p:nvGrpSpPr>
      <p:grpSpPr>
        <a:xfrm>
          <a:off x="0" y="0"/>
          <a:ext cx="0" cy="0"/>
          <a:chOff x="0" y="0"/>
          <a:chExt cx="0" cy="0"/>
        </a:xfrm>
      </p:grpSpPr>
      <p:pic>
        <p:nvPicPr>
          <p:cNvPr descr="image.png" id="464" name="Google Shape;464;p4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65" name="Google Shape;465;p42"/>
          <p:cNvSpPr txBox="1"/>
          <p:nvPr/>
        </p:nvSpPr>
        <p:spPr>
          <a:xfrm>
            <a:off x="3970734" y="2318444"/>
            <a:ext cx="4250531" cy="9620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000" u="none" cap="none" strike="noStrike">
                <a:solidFill>
                  <a:srgbClr val="63B3ED"/>
                </a:solidFill>
                <a:latin typeface="Merriweather"/>
                <a:ea typeface="Merriweather"/>
                <a:cs typeface="Merriweather"/>
                <a:sym typeface="Merriweather"/>
              </a:rPr>
              <a:t>Q&amp;A</a:t>
            </a:r>
            <a:endParaRPr/>
          </a:p>
        </p:txBody>
      </p:sp>
      <p:sp>
        <p:nvSpPr>
          <p:cNvPr id="466" name="Google Shape;466;p42"/>
          <p:cNvSpPr/>
          <p:nvPr/>
        </p:nvSpPr>
        <p:spPr>
          <a:xfrm>
            <a:off x="5381625" y="3566219"/>
            <a:ext cx="1428750" cy="38100"/>
          </a:xfrm>
          <a:prstGeom prst="rect">
            <a:avLst/>
          </a:prstGeom>
          <a:solidFill>
            <a:srgbClr val="63B3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7" name="Google Shape;467;p42"/>
          <p:cNvSpPr txBox="1"/>
          <p:nvPr/>
        </p:nvSpPr>
        <p:spPr>
          <a:xfrm>
            <a:off x="4071937" y="3909119"/>
            <a:ext cx="4048200" cy="215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