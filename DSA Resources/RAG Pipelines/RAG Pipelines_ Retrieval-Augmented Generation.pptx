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12192000"/>
  <p:notesSz cx="6858000" cy="9144000"/>
  <p:embeddedFontLst>
    <p:embeddedFont>
      <p:font typeface="Plus Jakarta Sans"/>
      <p:regular r:id="rId57"/>
      <p:bold r:id="rId58"/>
      <p:italic r:id="rId59"/>
      <p:boldItalic r:id="rId60"/>
    </p:embeddedFont>
    <p:embeddedFont>
      <p:font typeface="Outfit"/>
      <p:regular r:id="rId61"/>
      <p:bold r:id="rId62"/>
    </p:embeddedFont>
    <p:embeddedFont>
      <p:font typeface="Outfit Medium"/>
      <p:regular r:id="rId63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B73867-2DD5-442D-AF99-7BAC98A7F023}">
  <a:tblStyle styleId="{5FB73867-2DD5-442D-AF99-7BAC98A7F02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utfit-bold.fntdata"/><Relationship Id="rId61" Type="http://schemas.openxmlformats.org/officeDocument/2006/relationships/font" Target="fonts/Outfit-regular.fntdata"/><Relationship Id="rId20" Type="http://schemas.openxmlformats.org/officeDocument/2006/relationships/slide" Target="slides/slide14.xml"/><Relationship Id="rId64" Type="http://schemas.openxmlformats.org/officeDocument/2006/relationships/font" Target="fonts/OutfitMedium-bold.fntdata"/><Relationship Id="rId63" Type="http://schemas.openxmlformats.org/officeDocument/2006/relationships/font" Target="fonts/OutfitMedium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PlusJakartaSans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PlusJakartaSans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PlusJakartaSans-italic.fntdata"/><Relationship Id="rId14" Type="http://schemas.openxmlformats.org/officeDocument/2006/relationships/slide" Target="slides/slide8.xml"/><Relationship Id="rId58" Type="http://schemas.openxmlformats.org/officeDocument/2006/relationships/font" Target="fonts/PlusJakarta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35.png"/><Relationship Id="rId7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Relationship Id="rId7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3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9" Type="http://schemas.openxmlformats.org/officeDocument/2006/relationships/image" Target="../media/image48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Relationship Id="rId8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4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55.png"/><Relationship Id="rId5" Type="http://schemas.openxmlformats.org/officeDocument/2006/relationships/image" Target="../media/image39.png"/><Relationship Id="rId6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4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46.png"/><Relationship Id="rId7" Type="http://schemas.openxmlformats.org/officeDocument/2006/relationships/image" Target="../media/image43.png"/><Relationship Id="rId8" Type="http://schemas.openxmlformats.org/officeDocument/2006/relationships/image" Target="../media/image5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Relationship Id="rId4" Type="http://schemas.openxmlformats.org/officeDocument/2006/relationships/image" Target="../media/image38.png"/><Relationship Id="rId5" Type="http://schemas.openxmlformats.org/officeDocument/2006/relationships/image" Target="../media/image15.png"/><Relationship Id="rId6" Type="http://schemas.openxmlformats.org/officeDocument/2006/relationships/image" Target="../media/image42.png"/><Relationship Id="rId7" Type="http://schemas.openxmlformats.org/officeDocument/2006/relationships/image" Target="../media/image50.png"/><Relationship Id="rId8" Type="http://schemas.openxmlformats.org/officeDocument/2006/relationships/image" Target="../media/image4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Relationship Id="rId4" Type="http://schemas.openxmlformats.org/officeDocument/2006/relationships/image" Target="../media/image59.png"/><Relationship Id="rId5" Type="http://schemas.openxmlformats.org/officeDocument/2006/relationships/image" Target="../media/image6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8.png"/><Relationship Id="rId7" Type="http://schemas.openxmlformats.org/officeDocument/2006/relationships/image" Target="../media/image5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Relationship Id="rId4" Type="http://schemas.openxmlformats.org/officeDocument/2006/relationships/image" Target="../media/image5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Relationship Id="rId4" Type="http://schemas.openxmlformats.org/officeDocument/2006/relationships/image" Target="../media/image6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40443" y="2500312"/>
            <a:ext cx="8911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RAG Pipelines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52612" y="3424237"/>
            <a:ext cx="8486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Core Foundations to Highly Advanced Architectures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60508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455670" y="2938462"/>
            <a:ext cx="52806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Part 1: Foundations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762250" y="3852862"/>
            <a:ext cx="666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Understanding the Mechanics of Retrieval-Augmented Generation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2681287"/>
            <a:ext cx="52768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71%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4205287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 Early GenAI Adopters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334125" y="2681287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Why the massive adoption?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334125" y="3205162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Retrieval-Augmented Generation (RAG) is now the default pattern for grounding large language models in private, recent, or domain-specific data.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334125" y="4119562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solves the critical LLM limitations: hallucinations, outdated training cutoffs, and lack of access to proprietary enterprise knowledge.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Rise of RAG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28862"/>
            <a:ext cx="34226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328862"/>
            <a:ext cx="34226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328862"/>
            <a:ext cx="34226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876300" y="3395662"/>
            <a:ext cx="117014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Retrieve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876300" y="3919537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Fetch relevant documents or data chunks from an external knowledge base based on the user's semantic query.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4679900" y="3395662"/>
            <a:ext cx="131016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Augment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679900" y="3919537"/>
            <a:ext cx="28320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Combine the retrieved information with the original user prompt to provide rich, factual context.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483500" y="3395662"/>
            <a:ext cx="138017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Generate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483500" y="3919537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 the augmented prompt to the LLM to synthesize an accurate, well-reasoned, and grounded answer.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9900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3500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Three Pillars of RAG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90750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723900" y="21907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19150" y="2190750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Knowledge: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RAG fetches real-time data. Fine-tuning requires retraining to update facts.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23900" y="28479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19150" y="2847975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&amp; Speed: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Updating a vector database is instantaneous and cheap. Fine-tuning is computationally expensive.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23900" y="35052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19150" y="3505200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Hallucination Reduction: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RAG grounds answers in verifiable citations. Fine-tuning relies on internalized parametric memory.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23900" y="41624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19150" y="4162425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Access Control: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RAG allows document-level permission filtering before generation.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00275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RAG vs. Fine-Tuning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81025" y="581025"/>
            <a:ext cx="554069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Basic RAG Architecture</a:t>
            </a:r>
            <a:endParaRPr/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81025" y="2757487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 Data Pipeline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81025" y="3281362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Documents are ingested, chunked into smaller segments, and converted into high-dimensional vectors (embeddings).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81025" y="3982342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 inference, the user query is also embedded. The system performs a similarity search to find the nearest vector chunks, returning the context.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/>
          <p:nvPr/>
        </p:nvSpPr>
        <p:spPr>
          <a:xfrm>
            <a:off x="581025" y="3838575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517605" y="4191000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Rule-Based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581025" y="4572000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Rigid databases and exact keyword matching (Pre-2010s).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3348614" y="2543175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Pure LLMs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3412033" y="2924175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Relying solely on internal parametric memory (GPT-3 era).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179622" y="4191000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Basic RAG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243042" y="4572000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Injecting external context via naive vector similarity search.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010631" y="2543175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Agentic RAG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074050" y="2924175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routing, multi-step reasoning, and web fallback.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1735112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566121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7397129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0228138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Evolution of AI Context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2064990" y="2621458"/>
            <a:ext cx="8061870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RAG gives large language models what they've always lacked: connected, verifiable context.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824263" y="4827091"/>
            <a:ext cx="2543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Enterprise AI Paradigm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493490" y="2907208"/>
            <a:ext cx="40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"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0288789" y="4446086"/>
            <a:ext cx="40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"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Value Proposition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19375"/>
            <a:ext cx="52768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19375"/>
            <a:ext cx="527685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971550" y="3009900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What is an Embedding?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971550" y="3533775"/>
            <a:ext cx="449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embedding is a mathematical representation of text as an array of floating-point numbers (a vector). It captures the semantic meaning, context, and relationships of words, not just their spelling.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724650" y="3009900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 Vector Space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724650" y="3533775"/>
            <a:ext cx="449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this high-dimensional space, sentences with similar meanings are plotted closer together. A query vector for "dog" will naturally locate near documents containing "puppy" or "canine".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Understanding Embeddings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75" y="2190750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6334125" y="2881312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Purpose-Built Infrastructure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334125" y="3405187"/>
            <a:ext cx="52768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SQL databases are terrible at similarity search. Vector databases (like Chroma, Pinecone, or Milvus) are optimized to store high-dimensional arrays and execute Approximate Nearest Neighbor (ANN) algorithms in milliseconds across millions of records.</a:t>
            </a:r>
            <a:endParaRPr/>
          </a:p>
        </p:txBody>
      </p:sp>
      <p:pic>
        <p:nvPicPr>
          <p:cNvPr descr="image.png" id="199" name="Google Shape;19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0675" y="2228850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Inside a Vector Database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/>
          <p:nvPr/>
        </p:nvSpPr>
        <p:spPr>
          <a:xfrm>
            <a:off x="5619750" y="277653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1525428" y="3109912"/>
            <a:ext cx="914114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Document Processing &amp; Chunking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3276600" y="4024312"/>
            <a:ext cx="563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Garbage in, garbage out: Preparing data for retrieval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2190750" y="24479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 Limits: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LLMs have finite context windows. You cannot pass a 500-page manual in a single prompt efficiently.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2190750" y="31527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Embedding a whole document dilutes its meaning. Embedding smaller chunks yields highly specific semantic matching.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2190750" y="38576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Efficiency: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Passing only relevant chunks to the LLM reduces token usage, saving significantly on API costs.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2190750" y="45624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Noise Reduction: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Small chunks prevent the model from being distracted by irrelevant information contained in large documents.</a:t>
            </a:r>
            <a:endParaRPr/>
          </a:p>
        </p:txBody>
      </p:sp>
      <p:pic>
        <p:nvPicPr>
          <p:cNvPr descr="image.png" id="218" name="Google Shape;2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57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162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867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57200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Why Chunking Matters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33612"/>
            <a:ext cx="3422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233612"/>
            <a:ext cx="3422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33612"/>
            <a:ext cx="34226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581025" y="4567237"/>
            <a:ext cx="3422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Fixed-Size Chunking: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Splitting by raw character count with overlap. Simple, but breaks mid-sentence.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4384625" y="4567237"/>
            <a:ext cx="3422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Recursive Character: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Splits using natural delimiters (paragraphs, sentences, words) to preserve structure.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8188225" y="4567237"/>
            <a:ext cx="3422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Semantic Chunking: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Dynamically groups sentences based on shifts in embedding similarity.</a:t>
            </a:r>
            <a:endParaRPr/>
          </a:p>
        </p:txBody>
      </p:sp>
      <p:pic>
        <p:nvPicPr>
          <p:cNvPr descr="image.png" id="234" name="Google Shape;23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2243137"/>
            <a:ext cx="34035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4150" y="2243137"/>
            <a:ext cx="34035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7750" y="2243137"/>
            <a:ext cx="340355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Common Chunking Strategies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/>
          <p:nvPr/>
        </p:nvSpPr>
        <p:spPr>
          <a:xfrm>
            <a:off x="581025" y="2314575"/>
            <a:ext cx="11030100" cy="308610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26"/>
          <p:cNvGraphicFramePr/>
          <p:nvPr/>
        </p:nvGraphicFramePr>
        <p:xfrm>
          <a:off x="581025" y="2314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{5FB73867-2DD5-442D-AF99-7BAC98A7F023}</a:tableStyleId>
              </a:tblPr>
              <a:tblGrid>
                <a:gridCol w="1894725"/>
                <a:gridCol w="2945900"/>
                <a:gridCol w="3950200"/>
                <a:gridCol w="2229600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Deployment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Best For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Open 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ChromaDB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Local / Client-server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Prototyping &amp; Local Apps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Pinecone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Fully Managed SaaS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Zero-ops Production 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Weaviate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Cloud / On-Prem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Search &amp; Enterprise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Milvus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Cloud / Kubernetes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Massive Billion-Vector Scale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4" name="Google Shape;244;p26"/>
          <p:cNvSpPr/>
          <p:nvPr/>
        </p:nvSpPr>
        <p:spPr>
          <a:xfrm>
            <a:off x="585787" y="2947987"/>
            <a:ext cx="18947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2480518" y="2947987"/>
            <a:ext cx="29459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5426422" y="2947987"/>
            <a:ext cx="39501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9376618" y="2947987"/>
            <a:ext cx="2229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585787" y="3557587"/>
            <a:ext cx="1894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2480518" y="3557587"/>
            <a:ext cx="294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5426422" y="3557587"/>
            <a:ext cx="3950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9376618" y="3557587"/>
            <a:ext cx="2229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585787" y="4167187"/>
            <a:ext cx="1894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2480518" y="4167187"/>
            <a:ext cx="294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426422" y="4167187"/>
            <a:ext cx="3950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9376618" y="4167187"/>
            <a:ext cx="2229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585787" y="4776787"/>
            <a:ext cx="1894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2480518" y="4776787"/>
            <a:ext cx="294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426422" y="4776787"/>
            <a:ext cx="3950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9376618" y="4776787"/>
            <a:ext cx="2229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Comparing Vector Databases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38275"/>
            <a:ext cx="110299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 txBox="1"/>
          <p:nvPr/>
        </p:nvSpPr>
        <p:spPr>
          <a:xfrm>
            <a:off x="1132582" y="4767262"/>
            <a:ext cx="992683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Larger chunks provide more context but increase generation latency and LLM token processing time. 512-1024 tokens is the standard sweet spot.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Latency vs. Chunk Size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/>
          <p:nvPr/>
        </p:nvSpPr>
        <p:spPr>
          <a:xfrm>
            <a:off x="5619750" y="277653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3365658" y="3109912"/>
            <a:ext cx="546068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Retrieval Phase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3890962" y="4024312"/>
            <a:ext cx="44100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Finding the needle in the digital haystack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28862"/>
            <a:ext cx="34226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328862"/>
            <a:ext cx="34226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328862"/>
            <a:ext cx="34226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 txBox="1"/>
          <p:nvPr/>
        </p:nvSpPr>
        <p:spPr>
          <a:xfrm>
            <a:off x="876300" y="3395662"/>
            <a:ext cx="206025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Lexical (BM25)</a:t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876300" y="3919537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Exact keyword matching. Excellent for searching specific part numbers, names, or exact acronyms where semantics fail.</a:t>
            </a:r>
            <a:endParaRPr/>
          </a:p>
        </p:txBody>
      </p:sp>
      <p:sp>
        <p:nvSpPr>
          <p:cNvPr id="287" name="Google Shape;287;p29"/>
          <p:cNvSpPr txBox="1"/>
          <p:nvPr/>
        </p:nvSpPr>
        <p:spPr>
          <a:xfrm>
            <a:off x="4679900" y="3395662"/>
            <a:ext cx="251031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Dense (Semantic)</a:t>
            </a:r>
            <a:endParaRPr/>
          </a:p>
        </p:txBody>
      </p:sp>
      <p:sp>
        <p:nvSpPr>
          <p:cNvPr id="288" name="Google Shape;288;p29"/>
          <p:cNvSpPr txBox="1"/>
          <p:nvPr/>
        </p:nvSpPr>
        <p:spPr>
          <a:xfrm>
            <a:off x="4679900" y="3919537"/>
            <a:ext cx="28320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Vector similarity. Excellent for understanding intent, synonyms, and conceptual queries.</a:t>
            </a:r>
            <a:endParaRPr/>
          </a:p>
        </p:txBody>
      </p:sp>
      <p:sp>
        <p:nvSpPr>
          <p:cNvPr id="289" name="Google Shape;289;p29"/>
          <p:cNvSpPr txBox="1"/>
          <p:nvPr/>
        </p:nvSpPr>
        <p:spPr>
          <a:xfrm>
            <a:off x="8483500" y="3395662"/>
            <a:ext cx="205025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Hybrid Search</a:t>
            </a:r>
            <a:endParaRPr/>
          </a:p>
        </p:txBody>
      </p:sp>
      <p:sp>
        <p:nvSpPr>
          <p:cNvPr id="290" name="Google Shape;290;p29"/>
          <p:cNvSpPr txBox="1"/>
          <p:nvPr/>
        </p:nvSpPr>
        <p:spPr>
          <a:xfrm>
            <a:off x="8483500" y="3919537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Combines Lexical and Dense search (often via Reciprocal Rank Fusion) to get the best of both worlds.</a:t>
            </a:r>
            <a:endParaRPr/>
          </a:p>
        </p:txBody>
      </p:sp>
      <p:pic>
        <p:nvPicPr>
          <p:cNvPr descr="image.png" id="291" name="Google Shape;29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7003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9900" y="27003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3500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Search Modalities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90750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0"/>
          <p:cNvSpPr txBox="1"/>
          <p:nvPr/>
        </p:nvSpPr>
        <p:spPr>
          <a:xfrm>
            <a:off x="723900" y="21907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02" name="Google Shape;302;p30"/>
          <p:cNvSpPr txBox="1"/>
          <p:nvPr/>
        </p:nvSpPr>
        <p:spPr>
          <a:xfrm>
            <a:off x="819150" y="2190750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query string is passed through the same embedding model used to process the documents.</a:t>
            </a:r>
            <a:endParaRPr/>
          </a:p>
        </p:txBody>
      </p:sp>
      <p:sp>
        <p:nvSpPr>
          <p:cNvPr id="303" name="Google Shape;303;p30"/>
          <p:cNvSpPr txBox="1"/>
          <p:nvPr/>
        </p:nvSpPr>
        <p:spPr>
          <a:xfrm>
            <a:off x="723900" y="28479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819150" y="2847975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system calculates the distance between the query vector and document vectors.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723900" y="35052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06" name="Google Shape;306;p30"/>
          <p:cNvSpPr txBox="1"/>
          <p:nvPr/>
        </p:nvSpPr>
        <p:spPr>
          <a:xfrm>
            <a:off x="819150" y="3505200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Common distance metrics: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Cosine Similarity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Euclidean Distance (L2), or Dot Product.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723900" y="41624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819150" y="4162425"/>
            <a:ext cx="50387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Approximate Nearest Neighbor (ANN) algorithms, like HNSW (Hierarchical Navigable Small World), traverse graph structures to find the closest matches instantly.</a:t>
            </a:r>
            <a:endParaRPr/>
          </a:p>
        </p:txBody>
      </p:sp>
      <p:pic>
        <p:nvPicPr>
          <p:cNvPr descr="image.png" id="309" name="Google Shape;30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00275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Dense Vector Search Mechanics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90787"/>
            <a:ext cx="52768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90787"/>
            <a:ext cx="527685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1"/>
          <p:cNvSpPr txBox="1"/>
          <p:nvPr/>
        </p:nvSpPr>
        <p:spPr>
          <a:xfrm>
            <a:off x="971550" y="2881312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Where Keyword Fails</a:t>
            </a:r>
            <a:endParaRPr/>
          </a:p>
        </p:txBody>
      </p:sp>
      <p:sp>
        <p:nvSpPr>
          <p:cNvPr id="319" name="Google Shape;319;p31"/>
          <p:cNvSpPr txBox="1"/>
          <p:nvPr/>
        </p:nvSpPr>
        <p:spPr>
          <a:xfrm>
            <a:off x="971550" y="3405187"/>
            <a:ext cx="4495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Query: "Where can I grab a bite?"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BM25 keyword search will miss a document stating "The cafeteria serves hot meals at noon" because it shares no exact words.</a:t>
            </a:r>
            <a:endParaRPr/>
          </a:p>
        </p:txBody>
      </p:sp>
      <p:sp>
        <p:nvSpPr>
          <p:cNvPr id="320" name="Google Shape;320;p31"/>
          <p:cNvSpPr txBox="1"/>
          <p:nvPr/>
        </p:nvSpPr>
        <p:spPr>
          <a:xfrm>
            <a:off x="6724650" y="2881312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Where Semantic Fails</a:t>
            </a:r>
            <a:endParaRPr/>
          </a:p>
        </p:txBody>
      </p:sp>
      <p:sp>
        <p:nvSpPr>
          <p:cNvPr id="321" name="Google Shape;321;p31"/>
          <p:cNvSpPr txBox="1"/>
          <p:nvPr/>
        </p:nvSpPr>
        <p:spPr>
          <a:xfrm>
            <a:off x="6724650" y="3405187"/>
            <a:ext cx="4495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Query: "Error code XJ-9932"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dense vector search might return documents about "Error code XJ-9931" because they are conceptually identical, missing the crucial exact ID match.</a:t>
            </a:r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Keyword vs. Semantic Failures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38275"/>
            <a:ext cx="110299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2"/>
          <p:cNvSpPr txBox="1"/>
          <p:nvPr/>
        </p:nvSpPr>
        <p:spPr>
          <a:xfrm>
            <a:off x="1509712" y="5562600"/>
            <a:ext cx="9172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search is rapidly becoming the industry standard to cover both conceptual intent and exact entity matching.</a:t>
            </a:r>
            <a:endParaRPr/>
          </a:p>
        </p:txBody>
      </p:sp>
      <p:sp>
        <p:nvSpPr>
          <p:cNvPr id="330" name="Google Shape;330;p32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Production Search Modality Adoption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3"/>
          <p:cNvSpPr/>
          <p:nvPr/>
        </p:nvSpPr>
        <p:spPr>
          <a:xfrm>
            <a:off x="5619750" y="277653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3035617" y="3109912"/>
            <a:ext cx="612076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Generation Phase</a:t>
            </a:r>
            <a:endParaRPr/>
          </a:p>
        </p:txBody>
      </p:sp>
      <p:sp>
        <p:nvSpPr>
          <p:cNvPr id="338" name="Google Shape;338;p33"/>
          <p:cNvSpPr txBox="1"/>
          <p:nvPr/>
        </p:nvSpPr>
        <p:spPr>
          <a:xfrm>
            <a:off x="4171950" y="4024312"/>
            <a:ext cx="3848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Combining Context with Reasoning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581025" y="2809875"/>
            <a:ext cx="52768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20%</a:t>
            </a:r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581025" y="4333875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Recall Drop</a:t>
            </a:r>
            <a:endParaRPr/>
          </a:p>
        </p:txBody>
      </p:sp>
      <p:sp>
        <p:nvSpPr>
          <p:cNvPr id="346" name="Google Shape;346;p34"/>
          <p:cNvSpPr txBox="1"/>
          <p:nvPr/>
        </p:nvSpPr>
        <p:spPr>
          <a:xfrm>
            <a:off x="6334125" y="2809875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Prompt Size Impact</a:t>
            </a:r>
            <a:endParaRPr/>
          </a:p>
        </p:txBody>
      </p:sp>
      <p:sp>
        <p:nvSpPr>
          <p:cNvPr id="347" name="Google Shape;347;p34"/>
          <p:cNvSpPr txBox="1"/>
          <p:nvPr/>
        </p:nvSpPr>
        <p:spPr>
          <a:xfrm>
            <a:off x="6334125" y="333375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shows that LLMs are highly adept at extracting facts at the very beginning or end of their context window.</a:t>
            </a:r>
            <a:endParaRPr/>
          </a:p>
        </p:txBody>
      </p:sp>
      <p:sp>
        <p:nvSpPr>
          <p:cNvPr id="348" name="Google Shape;348;p34"/>
          <p:cNvSpPr txBox="1"/>
          <p:nvPr/>
        </p:nvSpPr>
        <p:spPr>
          <a:xfrm>
            <a:off x="6334125" y="3990975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However, performance degrades by up to 20% when crucial information is buried in the middle of a massive context payload. Overloading the prompt is detrimental.</a:t>
            </a:r>
            <a:endParaRPr/>
          </a:p>
        </p:txBody>
      </p:sp>
      <p:sp>
        <p:nvSpPr>
          <p:cNvPr id="349" name="Google Shape;349;p3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"Lost in the Middle" Problem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5"/>
          <p:cNvSpPr txBox="1"/>
          <p:nvPr/>
        </p:nvSpPr>
        <p:spPr>
          <a:xfrm>
            <a:off x="2064990" y="2301478"/>
            <a:ext cx="8061870" cy="2559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In a RAG system, prompt engineering is essentially context engineering. You must instruct the model to rely strictly on the provided injection.</a:t>
            </a:r>
            <a:endParaRPr/>
          </a:p>
        </p:txBody>
      </p:sp>
      <p:sp>
        <p:nvSpPr>
          <p:cNvPr id="356" name="Google Shape;356;p35"/>
          <p:cNvSpPr txBox="1"/>
          <p:nvPr/>
        </p:nvSpPr>
        <p:spPr>
          <a:xfrm>
            <a:off x="4138463" y="5147071"/>
            <a:ext cx="3914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LLM Security &amp; Grounding Principles</a:t>
            </a:r>
            <a:endParaRPr/>
          </a:p>
        </p:txBody>
      </p:sp>
      <p:sp>
        <p:nvSpPr>
          <p:cNvPr id="357" name="Google Shape;357;p35"/>
          <p:cNvSpPr txBox="1"/>
          <p:nvPr/>
        </p:nvSpPr>
        <p:spPr>
          <a:xfrm>
            <a:off x="1493490" y="2587228"/>
            <a:ext cx="40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"</a:t>
            </a:r>
            <a:endParaRPr/>
          </a:p>
        </p:txBody>
      </p:sp>
      <p:sp>
        <p:nvSpPr>
          <p:cNvPr id="358" name="Google Shape;358;p35"/>
          <p:cNvSpPr txBox="1"/>
          <p:nvPr/>
        </p:nvSpPr>
        <p:spPr>
          <a:xfrm>
            <a:off x="10288789" y="4766071"/>
            <a:ext cx="40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"</a:t>
            </a:r>
            <a:endParaRPr/>
          </a:p>
        </p:txBody>
      </p:sp>
      <p:sp>
        <p:nvSpPr>
          <p:cNvPr id="359" name="Google Shape;359;p3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Art of Augmentation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4" name="Google Shape;3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6"/>
          <p:cNvSpPr txBox="1"/>
          <p:nvPr/>
        </p:nvSpPr>
        <p:spPr>
          <a:xfrm>
            <a:off x="2190750" y="24479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System Prompts: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"Answer the question based ONLY on the provided context. If the answer is not in the context, say 'I don't know.'"</a:t>
            </a:r>
            <a:endParaRPr/>
          </a:p>
        </p:txBody>
      </p:sp>
      <p:sp>
        <p:nvSpPr>
          <p:cNvPr id="366" name="Google Shape;366;p36"/>
          <p:cNvSpPr txBox="1"/>
          <p:nvPr/>
        </p:nvSpPr>
        <p:spPr>
          <a:xfrm>
            <a:off x="2190750" y="31527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Citation Forcing: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Require the model to append source document IDs or line numbers to every factual claim it generates.</a:t>
            </a:r>
            <a:endParaRPr/>
          </a:p>
        </p:txBody>
      </p:sp>
      <p:sp>
        <p:nvSpPr>
          <p:cNvPr id="367" name="Google Shape;367;p36"/>
          <p:cNvSpPr txBox="1"/>
          <p:nvPr/>
        </p:nvSpPr>
        <p:spPr>
          <a:xfrm>
            <a:off x="2190750" y="38576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 Temperature: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Set generation temperature to 0.0 or 0.1. RAG tasks require deterministic factual extraction, not creative writing.</a:t>
            </a:r>
            <a:endParaRPr/>
          </a:p>
        </p:txBody>
      </p:sp>
      <p:sp>
        <p:nvSpPr>
          <p:cNvPr id="368" name="Google Shape;368;p36"/>
          <p:cNvSpPr txBox="1"/>
          <p:nvPr/>
        </p:nvSpPr>
        <p:spPr>
          <a:xfrm>
            <a:off x="2190750" y="45624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Post-Generation Checks: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Implement a secondary LLM call to verify that the generated answer is completely supported by the original context chunks.</a:t>
            </a:r>
            <a:endParaRPr/>
          </a:p>
        </p:txBody>
      </p:sp>
      <p:pic>
        <p:nvPicPr>
          <p:cNvPr descr="image.png" id="369" name="Google Shape;36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57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162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86715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5720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Handling Hallucinations in Generation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8" name="Google Shape;37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7"/>
          <p:cNvSpPr/>
          <p:nvPr/>
        </p:nvSpPr>
        <p:spPr>
          <a:xfrm>
            <a:off x="5619750" y="247173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7"/>
          <p:cNvSpPr txBox="1"/>
          <p:nvPr/>
        </p:nvSpPr>
        <p:spPr>
          <a:xfrm>
            <a:off x="4305776" y="2805112"/>
            <a:ext cx="3580447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Lab Session 1</a:t>
            </a:r>
            <a:endParaRPr/>
          </a:p>
        </p:txBody>
      </p:sp>
      <p:sp>
        <p:nvSpPr>
          <p:cNvPr id="381" name="Google Shape;381;p37"/>
          <p:cNvSpPr txBox="1"/>
          <p:nvPr/>
        </p:nvSpPr>
        <p:spPr>
          <a:xfrm>
            <a:off x="4348162" y="3719512"/>
            <a:ext cx="3495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Building a Baseline RAG Pipeline</a:t>
            </a:r>
            <a:endParaRPr/>
          </a:p>
        </p:txBody>
      </p:sp>
      <p:sp>
        <p:nvSpPr>
          <p:cNvPr id="382" name="Google Shape;382;p37"/>
          <p:cNvSpPr txBox="1"/>
          <p:nvPr/>
        </p:nvSpPr>
        <p:spPr>
          <a:xfrm>
            <a:off x="5524500" y="444341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 of Session 1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7" name="Google Shape;3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8"/>
          <p:cNvSpPr/>
          <p:nvPr/>
        </p:nvSpPr>
        <p:spPr>
          <a:xfrm>
            <a:off x="5619750" y="277653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8"/>
          <p:cNvSpPr txBox="1"/>
          <p:nvPr/>
        </p:nvSpPr>
        <p:spPr>
          <a:xfrm>
            <a:off x="1810464" y="3109912"/>
            <a:ext cx="857107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Part 2: Advanced Architectures</a:t>
            </a:r>
            <a:endParaRPr/>
          </a:p>
        </p:txBody>
      </p:sp>
      <p:sp>
        <p:nvSpPr>
          <p:cNvPr id="390" name="Google Shape;390;p38"/>
          <p:cNvSpPr txBox="1"/>
          <p:nvPr/>
        </p:nvSpPr>
        <p:spPr>
          <a:xfrm>
            <a:off x="3167062" y="4024312"/>
            <a:ext cx="5857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Moving from Naive RAG to Production-Grade Systems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5" name="Google Shape;39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9"/>
          <p:cNvSpPr/>
          <p:nvPr/>
        </p:nvSpPr>
        <p:spPr>
          <a:xfrm>
            <a:off x="581025" y="3838575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9"/>
          <p:cNvSpPr txBox="1"/>
          <p:nvPr/>
        </p:nvSpPr>
        <p:spPr>
          <a:xfrm>
            <a:off x="517605" y="4191000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Naive RAG</a:t>
            </a:r>
            <a:endParaRPr/>
          </a:p>
        </p:txBody>
      </p:sp>
      <p:sp>
        <p:nvSpPr>
          <p:cNvPr id="398" name="Google Shape;398;p39"/>
          <p:cNvSpPr txBox="1"/>
          <p:nvPr/>
        </p:nvSpPr>
        <p:spPr>
          <a:xfrm>
            <a:off x="581025" y="4572000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query -&gt; Vector DB -&gt; Generate. Prone to noisy retrieval.</a:t>
            </a:r>
            <a:endParaRPr/>
          </a:p>
        </p:txBody>
      </p:sp>
      <p:sp>
        <p:nvSpPr>
          <p:cNvPr id="399" name="Google Shape;399;p39"/>
          <p:cNvSpPr txBox="1"/>
          <p:nvPr/>
        </p:nvSpPr>
        <p:spPr>
          <a:xfrm>
            <a:off x="3348614" y="2543175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Pre-Retrieval</a:t>
            </a:r>
            <a:endParaRPr/>
          </a:p>
        </p:txBody>
      </p:sp>
      <p:sp>
        <p:nvSpPr>
          <p:cNvPr id="400" name="Google Shape;400;p39"/>
          <p:cNvSpPr txBox="1"/>
          <p:nvPr/>
        </p:nvSpPr>
        <p:spPr>
          <a:xfrm>
            <a:off x="3412033" y="2924175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Query routing, rewriting, and expansion before searching.</a:t>
            </a:r>
            <a:endParaRPr/>
          </a:p>
        </p:txBody>
      </p:sp>
      <p:sp>
        <p:nvSpPr>
          <p:cNvPr id="401" name="Google Shape;401;p39"/>
          <p:cNvSpPr txBox="1"/>
          <p:nvPr/>
        </p:nvSpPr>
        <p:spPr>
          <a:xfrm>
            <a:off x="6179622" y="4191000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Post-Retrieval</a:t>
            </a:r>
            <a:endParaRPr/>
          </a:p>
        </p:txBody>
      </p:sp>
      <p:sp>
        <p:nvSpPr>
          <p:cNvPr id="402" name="Google Shape;402;p39"/>
          <p:cNvSpPr txBox="1"/>
          <p:nvPr/>
        </p:nvSpPr>
        <p:spPr>
          <a:xfrm>
            <a:off x="6243042" y="4572000"/>
            <a:ext cx="2536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Reranking, filtering, and compressing retrieved documents.</a:t>
            </a:r>
            <a:endParaRPr/>
          </a:p>
        </p:txBody>
      </p:sp>
      <p:sp>
        <p:nvSpPr>
          <p:cNvPr id="403" name="Google Shape;403;p39"/>
          <p:cNvSpPr txBox="1"/>
          <p:nvPr/>
        </p:nvSpPr>
        <p:spPr>
          <a:xfrm>
            <a:off x="9010631" y="2543175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Agentic RAG</a:t>
            </a:r>
            <a:endParaRPr/>
          </a:p>
        </p:txBody>
      </p:sp>
      <p:sp>
        <p:nvSpPr>
          <p:cNvPr id="404" name="Google Shape;404;p39"/>
          <p:cNvSpPr txBox="1"/>
          <p:nvPr/>
        </p:nvSpPr>
        <p:spPr>
          <a:xfrm>
            <a:off x="9074050" y="2924175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Self-reflection, evaluation loops, and iterative search.</a:t>
            </a:r>
            <a:endParaRPr/>
          </a:p>
        </p:txBody>
      </p:sp>
      <p:sp>
        <p:nvSpPr>
          <p:cNvPr id="405" name="Google Shape;405;p39"/>
          <p:cNvSpPr/>
          <p:nvPr/>
        </p:nvSpPr>
        <p:spPr>
          <a:xfrm>
            <a:off x="1735112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9"/>
          <p:cNvSpPr/>
          <p:nvPr/>
        </p:nvSpPr>
        <p:spPr>
          <a:xfrm>
            <a:off x="4566121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9"/>
          <p:cNvSpPr/>
          <p:nvPr/>
        </p:nvSpPr>
        <p:spPr>
          <a:xfrm>
            <a:off x="7397129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9"/>
          <p:cNvSpPr/>
          <p:nvPr/>
        </p:nvSpPr>
        <p:spPr>
          <a:xfrm>
            <a:off x="10228138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Progression to Advanced RAG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4" name="Google Shape;41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lowing holographic visualization of query transformation: a conversational user query entering a glowing AI brain, which rewrites it into multiple precise, structured search queries branching out, on a dark blue futuristic background with neon blue and cyan accents, highly detailed, high-tech aesthetic." id="415" name="Google Shape;415;p40"/>
          <p:cNvPicPr preferRelativeResize="0"/>
          <p:nvPr/>
        </p:nvPicPr>
        <p:blipFill rotWithShape="1">
          <a:blip r:embed="rId4">
            <a:alphaModFix/>
          </a:blip>
          <a:srcRect b="0" l="5485" r="5476" t="0"/>
          <a:stretch/>
        </p:blipFill>
        <p:spPr>
          <a:xfrm>
            <a:off x="6334125" y="2190750"/>
            <a:ext cx="5277000" cy="33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0"/>
          <p:cNvSpPr txBox="1"/>
          <p:nvPr/>
        </p:nvSpPr>
        <p:spPr>
          <a:xfrm>
            <a:off x="723900" y="219075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17" name="Google Shape;417;p40"/>
          <p:cNvSpPr txBox="1"/>
          <p:nvPr/>
        </p:nvSpPr>
        <p:spPr>
          <a:xfrm>
            <a:off x="819150" y="2190750"/>
            <a:ext cx="5038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Users rarely write perfect search queries. They use pronouns ("what is its impact?") or vague phrasing.</a:t>
            </a:r>
            <a:endParaRPr/>
          </a:p>
        </p:txBody>
      </p:sp>
      <p:sp>
        <p:nvSpPr>
          <p:cNvPr id="418" name="Google Shape;418;p40"/>
          <p:cNvSpPr txBox="1"/>
          <p:nvPr/>
        </p:nvSpPr>
        <p:spPr>
          <a:xfrm>
            <a:off x="723900" y="284797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19" name="Google Shape;419;p40"/>
          <p:cNvSpPr txBox="1"/>
          <p:nvPr/>
        </p:nvSpPr>
        <p:spPr>
          <a:xfrm>
            <a:off x="819150" y="2847975"/>
            <a:ext cx="5038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Query Rewriting: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 LLM rewrites the user's conversational query into a standalone, highly specific search query.</a:t>
            </a:r>
            <a:endParaRPr/>
          </a:p>
        </p:txBody>
      </p:sp>
      <p:sp>
        <p:nvSpPr>
          <p:cNvPr id="420" name="Google Shape;420;p40"/>
          <p:cNvSpPr txBox="1"/>
          <p:nvPr/>
        </p:nvSpPr>
        <p:spPr>
          <a:xfrm>
            <a:off x="723900" y="350520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21" name="Google Shape;421;p40"/>
          <p:cNvSpPr txBox="1"/>
          <p:nvPr/>
        </p:nvSpPr>
        <p:spPr>
          <a:xfrm>
            <a:off x="819150" y="3505200"/>
            <a:ext cx="503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Step-Back Prompting: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LLM generates a broader, abstract question to retrieve high-level principles before answering the specific query.</a:t>
            </a:r>
            <a:endParaRPr/>
          </a:p>
        </p:txBody>
      </p:sp>
      <p:sp>
        <p:nvSpPr>
          <p:cNvPr id="422" name="Google Shape;422;p40"/>
          <p:cNvSpPr txBox="1"/>
          <p:nvPr/>
        </p:nvSpPr>
        <p:spPr>
          <a:xfrm>
            <a:off x="723900" y="441960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23" name="Google Shape;423;p40"/>
          <p:cNvSpPr txBox="1"/>
          <p:nvPr/>
        </p:nvSpPr>
        <p:spPr>
          <a:xfrm>
            <a:off x="819150" y="4419600"/>
            <a:ext cx="503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Multi-Query: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LLM generates 3-5 variations of the query, retrieves documents for all of them, and unions the results to maximize recall.</a:t>
            </a:r>
            <a:endParaRPr/>
          </a:p>
        </p:txBody>
      </p:sp>
      <p:sp>
        <p:nvSpPr>
          <p:cNvPr id="424" name="Google Shape;424;p40"/>
          <p:cNvSpPr txBox="1"/>
          <p:nvPr/>
        </p:nvSpPr>
        <p:spPr>
          <a:xfrm>
            <a:off x="581025" y="58102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Pre-Retrieval: Query Transformation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9" name="Google Shape;4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71687"/>
            <a:ext cx="34226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071687"/>
            <a:ext cx="34226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2071687"/>
            <a:ext cx="342260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1"/>
          <p:cNvSpPr txBox="1"/>
          <p:nvPr/>
        </p:nvSpPr>
        <p:spPr>
          <a:xfrm>
            <a:off x="876300" y="3138487"/>
            <a:ext cx="205025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Query Routing</a:t>
            </a:r>
            <a:endParaRPr/>
          </a:p>
        </p:txBody>
      </p:sp>
      <p:sp>
        <p:nvSpPr>
          <p:cNvPr id="434" name="Google Shape;434;p41"/>
          <p:cNvSpPr txBox="1"/>
          <p:nvPr/>
        </p:nvSpPr>
        <p:spPr>
          <a:xfrm>
            <a:off x="876300" y="3662362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Dynamically routing a query to the appropriate database. (e.g., SQL for math queries, Vector DB for text, Graph DB for relationships).</a:t>
            </a:r>
            <a:endParaRPr/>
          </a:p>
        </p:txBody>
      </p:sp>
      <p:sp>
        <p:nvSpPr>
          <p:cNvPr id="435" name="Google Shape;435;p41"/>
          <p:cNvSpPr txBox="1"/>
          <p:nvPr/>
        </p:nvSpPr>
        <p:spPr>
          <a:xfrm>
            <a:off x="4679900" y="3138487"/>
            <a:ext cx="244030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Query Expansion</a:t>
            </a:r>
            <a:endParaRPr/>
          </a:p>
        </p:txBody>
      </p:sp>
      <p:sp>
        <p:nvSpPr>
          <p:cNvPr id="436" name="Google Shape;436;p41"/>
          <p:cNvSpPr txBox="1"/>
          <p:nvPr/>
        </p:nvSpPr>
        <p:spPr>
          <a:xfrm>
            <a:off x="4679900" y="3662362"/>
            <a:ext cx="28320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HyDE (Hypothetical Document Embeddings): The LLM hallucinates an answer to the query, and that hallucinated document is embedded to search for the real document.</a:t>
            </a:r>
            <a:endParaRPr/>
          </a:p>
        </p:txBody>
      </p:sp>
      <p:sp>
        <p:nvSpPr>
          <p:cNvPr id="437" name="Google Shape;437;p41"/>
          <p:cNvSpPr txBox="1"/>
          <p:nvPr/>
        </p:nvSpPr>
        <p:spPr>
          <a:xfrm>
            <a:off x="8483500" y="3138487"/>
            <a:ext cx="297365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Metadata Extraction</a:t>
            </a:r>
            <a:endParaRPr/>
          </a:p>
        </p:txBody>
      </p:sp>
      <p:sp>
        <p:nvSpPr>
          <p:cNvPr id="438" name="Google Shape;438;p41"/>
          <p:cNvSpPr txBox="1"/>
          <p:nvPr/>
        </p:nvSpPr>
        <p:spPr>
          <a:xfrm>
            <a:off x="8483500" y="4043362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Using LLMs to extract filters (e.g., "year=2024", "author=Smith") from the prompt to narrow the vector search space.</a:t>
            </a:r>
            <a:endParaRPr/>
          </a:p>
        </p:txBody>
      </p:sp>
      <p:pic>
        <p:nvPicPr>
          <p:cNvPr descr="image.png" id="439" name="Google Shape;439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4431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9900" y="24431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3500" y="24431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1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Advanced Pre-Retrieval Tactics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7" name="Google Shape;44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2"/>
          <p:cNvSpPr/>
          <p:nvPr/>
        </p:nvSpPr>
        <p:spPr>
          <a:xfrm>
            <a:off x="5619750" y="277653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2"/>
          <p:cNvSpPr txBox="1"/>
          <p:nvPr/>
        </p:nvSpPr>
        <p:spPr>
          <a:xfrm>
            <a:off x="2215514" y="3109912"/>
            <a:ext cx="776097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Post-Retrieval Optimization</a:t>
            </a:r>
            <a:endParaRPr/>
          </a:p>
        </p:txBody>
      </p:sp>
      <p:sp>
        <p:nvSpPr>
          <p:cNvPr id="450" name="Google Shape;450;p42"/>
          <p:cNvSpPr txBox="1"/>
          <p:nvPr/>
        </p:nvSpPr>
        <p:spPr>
          <a:xfrm>
            <a:off x="3967162" y="4024312"/>
            <a:ext cx="4257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Refining the payload before generation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5" name="Google Shape;45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75" y="2190750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3"/>
          <p:cNvSpPr txBox="1"/>
          <p:nvPr/>
        </p:nvSpPr>
        <p:spPr>
          <a:xfrm>
            <a:off x="6334125" y="2809875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Cross-Encoders</a:t>
            </a:r>
            <a:endParaRPr/>
          </a:p>
        </p:txBody>
      </p:sp>
      <p:sp>
        <p:nvSpPr>
          <p:cNvPr id="458" name="Google Shape;458;p43"/>
          <p:cNvSpPr txBox="1"/>
          <p:nvPr/>
        </p:nvSpPr>
        <p:spPr>
          <a:xfrm>
            <a:off x="6334125" y="3333750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Bi-encoder embeddings are fast but coarse. A Cross-Encoder reranker compares the query and document together, word-by-word, for highly accurate relevance scoring.</a:t>
            </a:r>
            <a:endParaRPr/>
          </a:p>
        </p:txBody>
      </p:sp>
      <p:sp>
        <p:nvSpPr>
          <p:cNvPr id="459" name="Google Shape;459;p43"/>
          <p:cNvSpPr txBox="1"/>
          <p:nvPr/>
        </p:nvSpPr>
        <p:spPr>
          <a:xfrm>
            <a:off x="6334125" y="424815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Flow: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Retrieve top 20 docs fast via Bi-encoder, pass to Cross-Encoder to re-score and keep only the top 5.</a:t>
            </a:r>
            <a:endParaRPr/>
          </a:p>
        </p:txBody>
      </p:sp>
      <p:pic>
        <p:nvPicPr>
          <p:cNvPr descr="image.png" id="460" name="Google Shape;46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0675" y="2228850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3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Re-ranking Step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6" name="Google Shape;46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7" name="Google Shape;46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38275"/>
            <a:ext cx="110299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4"/>
          <p:cNvSpPr txBox="1"/>
          <p:nvPr/>
        </p:nvSpPr>
        <p:spPr>
          <a:xfrm>
            <a:off x="1132582" y="4457700"/>
            <a:ext cx="992683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Adding a reranking step after initial retrieval drastically improves the final Context Precision, ensuring the best documents are at the top of the prompt.</a:t>
            </a:r>
            <a:endParaRPr/>
          </a:p>
        </p:txBody>
      </p:sp>
      <p:sp>
        <p:nvSpPr>
          <p:cNvPr id="469" name="Google Shape;469;p4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Retrieval Accuracy Comparison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4" name="Google Shape;4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5"/>
          <p:cNvSpPr txBox="1"/>
          <p:nvPr/>
        </p:nvSpPr>
        <p:spPr>
          <a:xfrm>
            <a:off x="2190750" y="280035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 Compression: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Even highly relevant documents contain fluff. We can use smaller LLMs to summarize or extract only the relevant sentences from a chunk before injection.</a:t>
            </a:r>
            <a:endParaRPr/>
          </a:p>
        </p:txBody>
      </p:sp>
      <p:sp>
        <p:nvSpPr>
          <p:cNvPr id="476" name="Google Shape;476;p45"/>
          <p:cNvSpPr txBox="1"/>
          <p:nvPr/>
        </p:nvSpPr>
        <p:spPr>
          <a:xfrm>
            <a:off x="2190750" y="350520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AutoCut / Thresholding: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Dynamically drop retrieved chunks that fall below a certain confidence score (e.g., dropping anything below 0.70 similarity).</a:t>
            </a:r>
            <a:endParaRPr/>
          </a:p>
        </p:txBody>
      </p:sp>
      <p:sp>
        <p:nvSpPr>
          <p:cNvPr id="477" name="Google Shape;477;p45"/>
          <p:cNvSpPr txBox="1"/>
          <p:nvPr/>
        </p:nvSpPr>
        <p:spPr>
          <a:xfrm>
            <a:off x="2190750" y="421005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Small-to-Big Retrieval: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Embed single sentences for precise matching, but if matched, retrieve the parent paragraph for the LLM to understand the context.</a:t>
            </a:r>
            <a:endParaRPr/>
          </a:p>
        </p:txBody>
      </p:sp>
      <p:pic>
        <p:nvPicPr>
          <p:cNvPr descr="image.png" id="478" name="Google Shape;47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098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14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195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Context Compression &amp; Filtering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6" name="Google Shape;48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15045"/>
            <a:ext cx="11029950" cy="5085159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6"/>
          <p:cNvSpPr txBox="1"/>
          <p:nvPr/>
        </p:nvSpPr>
        <p:spPr>
          <a:xfrm>
            <a:off x="1132582" y="5742979"/>
            <a:ext cx="992683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Despite Massive Context LLMs existing, relying on 1M token windows instead of efficient RAG pipelines scales cost and latency exponentially.</a:t>
            </a:r>
            <a:endParaRPr/>
          </a:p>
        </p:txBody>
      </p:sp>
      <p:sp>
        <p:nvSpPr>
          <p:cNvPr id="489" name="Google Shape;489;p46"/>
          <p:cNvSpPr txBox="1"/>
          <p:nvPr/>
        </p:nvSpPr>
        <p:spPr>
          <a:xfrm>
            <a:off x="581025" y="45779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Cost Scaling vs. Context Window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4" name="Google Shape;49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7"/>
          <p:cNvSpPr/>
          <p:nvPr/>
        </p:nvSpPr>
        <p:spPr>
          <a:xfrm>
            <a:off x="5619750" y="277653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7"/>
          <p:cNvSpPr txBox="1"/>
          <p:nvPr/>
        </p:nvSpPr>
        <p:spPr>
          <a:xfrm>
            <a:off x="2470546" y="3109912"/>
            <a:ext cx="725090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Advanced RAG Paradigms</a:t>
            </a:r>
            <a:endParaRPr/>
          </a:p>
        </p:txBody>
      </p:sp>
      <p:sp>
        <p:nvSpPr>
          <p:cNvPr id="497" name="Google Shape;497;p47"/>
          <p:cNvSpPr txBox="1"/>
          <p:nvPr/>
        </p:nvSpPr>
        <p:spPr>
          <a:xfrm>
            <a:off x="4486275" y="4024312"/>
            <a:ext cx="3219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Self-RAG, CRAG, and RAPTOR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2" name="Google Shape;50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8"/>
          <p:cNvSpPr txBox="1"/>
          <p:nvPr/>
        </p:nvSpPr>
        <p:spPr>
          <a:xfrm>
            <a:off x="581025" y="581025"/>
            <a:ext cx="554069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Self-RAG</a:t>
            </a:r>
            <a:endParaRPr/>
          </a:p>
        </p:txBody>
      </p:sp>
      <p:pic>
        <p:nvPicPr>
          <p:cNvPr descr="image.png" id="504" name="Google Shape;50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/>
          <p:nvPr/>
        </p:nvSpPr>
        <p:spPr>
          <a:xfrm>
            <a:off x="581025" y="2406997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Self-Reflection Tokens</a:t>
            </a:r>
            <a:endParaRPr/>
          </a:p>
        </p:txBody>
      </p:sp>
      <p:sp>
        <p:nvSpPr>
          <p:cNvPr id="506" name="Google Shape;506;p48"/>
          <p:cNvSpPr txBox="1"/>
          <p:nvPr/>
        </p:nvSpPr>
        <p:spPr>
          <a:xfrm>
            <a:off x="581025" y="2930872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Instead of blind retrieval, Self-RAG trains models to output "Reflection Tokens" to critique their own output.</a:t>
            </a:r>
            <a:endParaRPr/>
          </a:p>
        </p:txBody>
      </p:sp>
      <p:sp>
        <p:nvSpPr>
          <p:cNvPr id="507" name="Google Shape;507;p48"/>
          <p:cNvSpPr txBox="1"/>
          <p:nvPr/>
        </p:nvSpPr>
        <p:spPr>
          <a:xfrm>
            <a:off x="581025" y="3631852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model determines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it needs to retrieve, evaluates the retrieved passage's relevance, and assesses its own generated sentence for factual support.</a:t>
            </a:r>
            <a:endParaRPr/>
          </a:p>
        </p:txBody>
      </p:sp>
      <p:sp>
        <p:nvSpPr>
          <p:cNvPr id="508" name="Google Shape;508;p48"/>
          <p:cNvSpPr txBox="1"/>
          <p:nvPr/>
        </p:nvSpPr>
        <p:spPr>
          <a:xfrm>
            <a:off x="581025" y="4607123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active learning mechanism drastically reduces ungrounded hallucinations.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3" name="Google Shape;51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28862"/>
            <a:ext cx="34226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5" name="Google Shape;51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328862"/>
            <a:ext cx="34226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328862"/>
            <a:ext cx="34226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9"/>
          <p:cNvSpPr txBox="1"/>
          <p:nvPr/>
        </p:nvSpPr>
        <p:spPr>
          <a:xfrm>
            <a:off x="876300" y="3395662"/>
            <a:ext cx="125015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Evaluate</a:t>
            </a:r>
            <a:endParaRPr/>
          </a:p>
        </p:txBody>
      </p:sp>
      <p:sp>
        <p:nvSpPr>
          <p:cNvPr id="518" name="Google Shape;518;p49"/>
          <p:cNvSpPr txBox="1"/>
          <p:nvPr/>
        </p:nvSpPr>
        <p:spPr>
          <a:xfrm>
            <a:off x="876300" y="3919537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lightweight evaluator scores retrieved documents. Valid documents pass to generation. Invalid documents are filtered out.</a:t>
            </a:r>
            <a:endParaRPr/>
          </a:p>
        </p:txBody>
      </p:sp>
      <p:sp>
        <p:nvSpPr>
          <p:cNvPr id="519" name="Google Shape;519;p49"/>
          <p:cNvSpPr txBox="1"/>
          <p:nvPr/>
        </p:nvSpPr>
        <p:spPr>
          <a:xfrm>
            <a:off x="4679900" y="3395662"/>
            <a:ext cx="1200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Fallback</a:t>
            </a:r>
            <a:endParaRPr/>
          </a:p>
        </p:txBody>
      </p:sp>
      <p:sp>
        <p:nvSpPr>
          <p:cNvPr id="520" name="Google Shape;520;p49"/>
          <p:cNvSpPr txBox="1"/>
          <p:nvPr/>
        </p:nvSpPr>
        <p:spPr>
          <a:xfrm>
            <a:off x="4679900" y="3919537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all local vector search documents are deemed irrelevant, CRAG triggers an external web search to find missing knowledge.</a:t>
            </a:r>
            <a:endParaRPr/>
          </a:p>
        </p:txBody>
      </p:sp>
      <p:sp>
        <p:nvSpPr>
          <p:cNvPr id="521" name="Google Shape;521;p49"/>
          <p:cNvSpPr txBox="1"/>
          <p:nvPr/>
        </p:nvSpPr>
        <p:spPr>
          <a:xfrm>
            <a:off x="8483500" y="3395662"/>
            <a:ext cx="138017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Generate</a:t>
            </a:r>
            <a:endParaRPr/>
          </a:p>
        </p:txBody>
      </p:sp>
      <p:sp>
        <p:nvSpPr>
          <p:cNvPr id="522" name="Google Shape;522;p49"/>
          <p:cNvSpPr txBox="1"/>
          <p:nvPr/>
        </p:nvSpPr>
        <p:spPr>
          <a:xfrm>
            <a:off x="8483500" y="3919537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Only verified, high-confidence context (internal or external) is fed to the generator, guaranteeing precision.</a:t>
            </a:r>
            <a:endParaRPr/>
          </a:p>
        </p:txBody>
      </p:sp>
      <p:pic>
        <p:nvPicPr>
          <p:cNvPr descr="image.png" id="523" name="Google Shape;523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7003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4" name="Google Shape;524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9900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5" name="Google Shape;525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3500" y="27003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9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Corrective RAG (CRAG)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1" name="Google Shape;53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0"/>
          <p:cNvSpPr/>
          <p:nvPr/>
        </p:nvSpPr>
        <p:spPr>
          <a:xfrm>
            <a:off x="581025" y="2314575"/>
            <a:ext cx="11029950" cy="308610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3" name="Google Shape;533;p50"/>
          <p:cNvGraphicFramePr/>
          <p:nvPr/>
        </p:nvGraphicFramePr>
        <p:xfrm>
          <a:off x="581025" y="2314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{5FB73867-2DD5-442D-AF99-7BAC98A7F023}</a:tableStyleId>
              </a:tblPr>
              <a:tblGrid>
                <a:gridCol w="2570100"/>
                <a:gridCol w="2231075"/>
                <a:gridCol w="3007675"/>
                <a:gridCol w="3211550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Standard RAG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Self-RAG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CRAG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Retrieval Trigger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Always (Fixed)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Adaptive (On-demand)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Always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Context Evaluation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Reflection Tokens</a:t>
                      </a:r>
                      <a:endParaRPr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Independent Evaluator</a:t>
                      </a:r>
                      <a:endParaRPr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External Fallback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Web Search</a:t>
                      </a:r>
                      <a:endParaRPr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Medium-High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4" name="Google Shape;534;p50"/>
          <p:cNvSpPr/>
          <p:nvPr/>
        </p:nvSpPr>
        <p:spPr>
          <a:xfrm>
            <a:off x="585787" y="2947987"/>
            <a:ext cx="25701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0"/>
          <p:cNvSpPr/>
          <p:nvPr/>
        </p:nvSpPr>
        <p:spPr>
          <a:xfrm>
            <a:off x="3155900" y="2947987"/>
            <a:ext cx="22310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0"/>
          <p:cNvSpPr/>
          <p:nvPr/>
        </p:nvSpPr>
        <p:spPr>
          <a:xfrm>
            <a:off x="5386982" y="2947987"/>
            <a:ext cx="30076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0"/>
          <p:cNvSpPr/>
          <p:nvPr/>
        </p:nvSpPr>
        <p:spPr>
          <a:xfrm>
            <a:off x="8394650" y="2947987"/>
            <a:ext cx="32115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50"/>
          <p:cNvSpPr/>
          <p:nvPr/>
        </p:nvSpPr>
        <p:spPr>
          <a:xfrm>
            <a:off x="585787" y="3557587"/>
            <a:ext cx="25701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0"/>
          <p:cNvSpPr/>
          <p:nvPr/>
        </p:nvSpPr>
        <p:spPr>
          <a:xfrm>
            <a:off x="3155900" y="3557587"/>
            <a:ext cx="22310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0"/>
          <p:cNvSpPr/>
          <p:nvPr/>
        </p:nvSpPr>
        <p:spPr>
          <a:xfrm>
            <a:off x="5386982" y="3557587"/>
            <a:ext cx="30076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0"/>
          <p:cNvSpPr/>
          <p:nvPr/>
        </p:nvSpPr>
        <p:spPr>
          <a:xfrm>
            <a:off x="8394650" y="3557587"/>
            <a:ext cx="32115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50"/>
          <p:cNvSpPr/>
          <p:nvPr/>
        </p:nvSpPr>
        <p:spPr>
          <a:xfrm>
            <a:off x="585787" y="4167187"/>
            <a:ext cx="25701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50"/>
          <p:cNvSpPr/>
          <p:nvPr/>
        </p:nvSpPr>
        <p:spPr>
          <a:xfrm>
            <a:off x="3155900" y="4167187"/>
            <a:ext cx="22310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0"/>
          <p:cNvSpPr/>
          <p:nvPr/>
        </p:nvSpPr>
        <p:spPr>
          <a:xfrm>
            <a:off x="5386982" y="4167187"/>
            <a:ext cx="30076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0"/>
          <p:cNvSpPr/>
          <p:nvPr/>
        </p:nvSpPr>
        <p:spPr>
          <a:xfrm>
            <a:off x="8394650" y="4167187"/>
            <a:ext cx="32115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0"/>
          <p:cNvSpPr/>
          <p:nvPr/>
        </p:nvSpPr>
        <p:spPr>
          <a:xfrm>
            <a:off x="585787" y="4776787"/>
            <a:ext cx="25701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0"/>
          <p:cNvSpPr/>
          <p:nvPr/>
        </p:nvSpPr>
        <p:spPr>
          <a:xfrm>
            <a:off x="3155900" y="4776787"/>
            <a:ext cx="22310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0"/>
          <p:cNvSpPr/>
          <p:nvPr/>
        </p:nvSpPr>
        <p:spPr>
          <a:xfrm>
            <a:off x="5386982" y="4776787"/>
            <a:ext cx="30076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0"/>
          <p:cNvSpPr/>
          <p:nvPr/>
        </p:nvSpPr>
        <p:spPr>
          <a:xfrm>
            <a:off x="8394650" y="4776787"/>
            <a:ext cx="32115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50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Paradigm Comparison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5" name="Google Shape;55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6" name="Google Shape;55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90750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1"/>
          <p:cNvSpPr txBox="1"/>
          <p:nvPr/>
        </p:nvSpPr>
        <p:spPr>
          <a:xfrm>
            <a:off x="581025" y="2190750"/>
            <a:ext cx="5276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Recursive Abstractive Processing for Tree-Organized Retrieval</a:t>
            </a:r>
            <a:endParaRPr/>
          </a:p>
        </p:txBody>
      </p:sp>
      <p:sp>
        <p:nvSpPr>
          <p:cNvPr id="558" name="Google Shape;558;p51"/>
          <p:cNvSpPr txBox="1"/>
          <p:nvPr/>
        </p:nvSpPr>
        <p:spPr>
          <a:xfrm>
            <a:off x="723900" y="25908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559" name="Google Shape;559;p51"/>
          <p:cNvSpPr txBox="1"/>
          <p:nvPr/>
        </p:nvSpPr>
        <p:spPr>
          <a:xfrm>
            <a:off x="819150" y="2590800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RAG fails at holistic questions requiring synthesis across an entire document (e.g., "What is the overall theme?").</a:t>
            </a:r>
            <a:endParaRPr/>
          </a:p>
        </p:txBody>
      </p:sp>
      <p:sp>
        <p:nvSpPr>
          <p:cNvPr id="560" name="Google Shape;560;p51"/>
          <p:cNvSpPr txBox="1"/>
          <p:nvPr/>
        </p:nvSpPr>
        <p:spPr>
          <a:xfrm>
            <a:off x="723900" y="32480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561" name="Google Shape;561;p51"/>
          <p:cNvSpPr txBox="1"/>
          <p:nvPr/>
        </p:nvSpPr>
        <p:spPr>
          <a:xfrm>
            <a:off x="819150" y="3248025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RAPTOR clusters document chunks, summarizes them, then clusters the summaries, creating a hierarchical tree.</a:t>
            </a:r>
            <a:endParaRPr/>
          </a:p>
        </p:txBody>
      </p:sp>
      <p:sp>
        <p:nvSpPr>
          <p:cNvPr id="562" name="Google Shape;562;p51"/>
          <p:cNvSpPr txBox="1"/>
          <p:nvPr/>
        </p:nvSpPr>
        <p:spPr>
          <a:xfrm>
            <a:off x="723900" y="39052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563" name="Google Shape;563;p51"/>
          <p:cNvSpPr txBox="1"/>
          <p:nvPr/>
        </p:nvSpPr>
        <p:spPr>
          <a:xfrm>
            <a:off x="819150" y="3905250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During retrieval, it traverses the tree, providing both high-level thematic context and specific granular details.</a:t>
            </a:r>
            <a:endParaRPr/>
          </a:p>
        </p:txBody>
      </p:sp>
      <p:pic>
        <p:nvPicPr>
          <p:cNvPr descr="image.png" id="564" name="Google Shape;564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00275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1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RAPTOR Framework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0" name="Google Shape;57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2"/>
          <p:cNvSpPr/>
          <p:nvPr/>
        </p:nvSpPr>
        <p:spPr>
          <a:xfrm>
            <a:off x="5619750" y="277653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2"/>
          <p:cNvSpPr txBox="1"/>
          <p:nvPr/>
        </p:nvSpPr>
        <p:spPr>
          <a:xfrm>
            <a:off x="4580810" y="3109912"/>
            <a:ext cx="303037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GraphRAG</a:t>
            </a:r>
            <a:endParaRPr/>
          </a:p>
        </p:txBody>
      </p:sp>
      <p:sp>
        <p:nvSpPr>
          <p:cNvPr id="573" name="Google Shape;573;p52"/>
          <p:cNvSpPr txBox="1"/>
          <p:nvPr/>
        </p:nvSpPr>
        <p:spPr>
          <a:xfrm>
            <a:off x="4043362" y="4024312"/>
            <a:ext cx="41052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Bridging Semantics and Relationships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8" name="Google Shape;57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3"/>
          <p:cNvSpPr txBox="1"/>
          <p:nvPr/>
        </p:nvSpPr>
        <p:spPr>
          <a:xfrm>
            <a:off x="2064990" y="2301478"/>
            <a:ext cx="8061870" cy="2559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GraphRAG transforms fragmented retrieval into reasoning. It gives language models what they've always lacked: connected context.</a:t>
            </a:r>
            <a:endParaRPr/>
          </a:p>
        </p:txBody>
      </p:sp>
      <p:sp>
        <p:nvSpPr>
          <p:cNvPr id="580" name="Google Shape;580;p53"/>
          <p:cNvSpPr txBox="1"/>
          <p:nvPr/>
        </p:nvSpPr>
        <p:spPr>
          <a:xfrm>
            <a:off x="4586138" y="5147071"/>
            <a:ext cx="3019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Knowledge Graph Principle</a:t>
            </a:r>
            <a:endParaRPr/>
          </a:p>
        </p:txBody>
      </p:sp>
      <p:sp>
        <p:nvSpPr>
          <p:cNvPr id="581" name="Google Shape;581;p53"/>
          <p:cNvSpPr txBox="1"/>
          <p:nvPr/>
        </p:nvSpPr>
        <p:spPr>
          <a:xfrm>
            <a:off x="1493490" y="2587228"/>
            <a:ext cx="40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"</a:t>
            </a:r>
            <a:endParaRPr/>
          </a:p>
        </p:txBody>
      </p:sp>
      <p:sp>
        <p:nvSpPr>
          <p:cNvPr id="582" name="Google Shape;582;p53"/>
          <p:cNvSpPr txBox="1"/>
          <p:nvPr/>
        </p:nvSpPr>
        <p:spPr>
          <a:xfrm>
            <a:off x="10288789" y="4766071"/>
            <a:ext cx="40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"</a:t>
            </a:r>
            <a:endParaRPr/>
          </a:p>
        </p:txBody>
      </p:sp>
      <p:sp>
        <p:nvSpPr>
          <p:cNvPr id="583" name="Google Shape;583;p53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Power of Graphs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8" name="Google Shape;5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9" name="Google Shape;589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33612"/>
            <a:ext cx="3422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0" name="Google Shape;590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233612"/>
            <a:ext cx="3422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1" name="Google Shape;591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33612"/>
            <a:ext cx="34226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4"/>
          <p:cNvSpPr txBox="1"/>
          <p:nvPr/>
        </p:nvSpPr>
        <p:spPr>
          <a:xfrm>
            <a:off x="581025" y="4567237"/>
            <a:ext cx="3422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Relational (SQL):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Highly structured, rigid schemas. Poor for semantic text search.</a:t>
            </a:r>
            <a:endParaRPr/>
          </a:p>
        </p:txBody>
      </p:sp>
      <p:sp>
        <p:nvSpPr>
          <p:cNvPr id="593" name="Google Shape;593;p54"/>
          <p:cNvSpPr txBox="1"/>
          <p:nvPr/>
        </p:nvSpPr>
        <p:spPr>
          <a:xfrm>
            <a:off x="4384625" y="4567237"/>
            <a:ext cx="3422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Vector (Standard RAG):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Unstructured chunk lists. Excellent semantics, but loses relationship context.</a:t>
            </a:r>
            <a:endParaRPr/>
          </a:p>
        </p:txBody>
      </p:sp>
      <p:sp>
        <p:nvSpPr>
          <p:cNvPr id="594" name="Google Shape;594;p54"/>
          <p:cNvSpPr txBox="1"/>
          <p:nvPr/>
        </p:nvSpPr>
        <p:spPr>
          <a:xfrm>
            <a:off x="8188225" y="4567237"/>
            <a:ext cx="3422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GraphRAG: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Extracts entities (nodes) and relations (edges), linking concepts structurally.</a:t>
            </a:r>
            <a:endParaRPr/>
          </a:p>
        </p:txBody>
      </p:sp>
      <p:pic>
        <p:nvPicPr>
          <p:cNvPr descr="image.png" id="595" name="Google Shape;595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2243137"/>
            <a:ext cx="34035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6" name="Google Shape;596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4150" y="2243137"/>
            <a:ext cx="34035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7" name="Google Shape;597;p5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7750" y="2243137"/>
            <a:ext cx="34035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5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 Structuring Evolution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3" name="Google Shape;60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4" name="Google Shape;60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47962"/>
            <a:ext cx="527685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5" name="Google Shape;605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47962"/>
            <a:ext cx="527685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5"/>
          <p:cNvSpPr txBox="1"/>
          <p:nvPr/>
        </p:nvSpPr>
        <p:spPr>
          <a:xfrm>
            <a:off x="971550" y="3138487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Step 1: Entity Extraction</a:t>
            </a:r>
            <a:endParaRPr/>
          </a:p>
        </p:txBody>
      </p:sp>
      <p:sp>
        <p:nvSpPr>
          <p:cNvPr id="607" name="Google Shape;607;p55"/>
          <p:cNvSpPr txBox="1"/>
          <p:nvPr/>
        </p:nvSpPr>
        <p:spPr>
          <a:xfrm>
            <a:off x="971550" y="3662362"/>
            <a:ext cx="4495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LLM reads raw documents and extracts entities (People, Organizations) and their relationships ("Works For", "Acquired"), building a Knowledge Graph.</a:t>
            </a:r>
            <a:endParaRPr/>
          </a:p>
        </p:txBody>
      </p:sp>
      <p:sp>
        <p:nvSpPr>
          <p:cNvPr id="608" name="Google Shape;608;p55"/>
          <p:cNvSpPr txBox="1"/>
          <p:nvPr/>
        </p:nvSpPr>
        <p:spPr>
          <a:xfrm>
            <a:off x="6724650" y="3138487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Step 2: Graph Traversal</a:t>
            </a:r>
            <a:endParaRPr/>
          </a:p>
        </p:txBody>
      </p:sp>
      <p:sp>
        <p:nvSpPr>
          <p:cNvPr id="609" name="Google Shape;609;p55"/>
          <p:cNvSpPr txBox="1"/>
          <p:nvPr/>
        </p:nvSpPr>
        <p:spPr>
          <a:xfrm>
            <a:off x="6724650" y="3662362"/>
            <a:ext cx="4495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When queried, GraphRAG finds the relevant 'pivot' node, then traverses the edges to pull in deeply connected context that a simple vector search would entirely miss.</a:t>
            </a:r>
            <a:endParaRPr/>
          </a:p>
        </p:txBody>
      </p:sp>
      <p:sp>
        <p:nvSpPr>
          <p:cNvPr id="610" name="Google Shape;610;p5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How GraphRAG Works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5" name="Google Shape;61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56"/>
          <p:cNvSpPr/>
          <p:nvPr/>
        </p:nvSpPr>
        <p:spPr>
          <a:xfrm>
            <a:off x="5619750" y="277653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6"/>
          <p:cNvSpPr txBox="1"/>
          <p:nvPr/>
        </p:nvSpPr>
        <p:spPr>
          <a:xfrm>
            <a:off x="2635567" y="3109912"/>
            <a:ext cx="692086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Multimodal &amp; Future RAG</a:t>
            </a:r>
            <a:endParaRPr/>
          </a:p>
        </p:txBody>
      </p:sp>
      <p:sp>
        <p:nvSpPr>
          <p:cNvPr id="618" name="Google Shape;618;p56"/>
          <p:cNvSpPr txBox="1"/>
          <p:nvPr/>
        </p:nvSpPr>
        <p:spPr>
          <a:xfrm>
            <a:off x="4524375" y="4024312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Beyond Text-Based Systems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3" name="Google Shape;62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57"/>
          <p:cNvSpPr txBox="1"/>
          <p:nvPr/>
        </p:nvSpPr>
        <p:spPr>
          <a:xfrm>
            <a:off x="2190750" y="24479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Embeddings: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Utilizing models like CLIP to embed images and text into the same vector space, allowing text-to-image or image-to-image retrieval.</a:t>
            </a:r>
            <a:endParaRPr/>
          </a:p>
        </p:txBody>
      </p:sp>
      <p:sp>
        <p:nvSpPr>
          <p:cNvPr id="625" name="Google Shape;625;p57"/>
          <p:cNvSpPr txBox="1"/>
          <p:nvPr/>
        </p:nvSpPr>
        <p:spPr>
          <a:xfrm>
            <a:off x="2190750" y="31527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Complex PDFs: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Parsing diagrams, tables, and charts natively rather than relying on flawed OCR text extraction.</a:t>
            </a:r>
            <a:endParaRPr/>
          </a:p>
        </p:txBody>
      </p:sp>
      <p:sp>
        <p:nvSpPr>
          <p:cNvPr id="626" name="Google Shape;626;p57"/>
          <p:cNvSpPr txBox="1"/>
          <p:nvPr/>
        </p:nvSpPr>
        <p:spPr>
          <a:xfrm>
            <a:off x="2190750" y="38576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Video &amp; Audio: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Chunking video transcripts alongside frame-by-frame visual embeddings to search deep within enterprise video libraries.</a:t>
            </a:r>
            <a:endParaRPr/>
          </a:p>
        </p:txBody>
      </p:sp>
      <p:sp>
        <p:nvSpPr>
          <p:cNvPr id="627" name="Google Shape;627;p57"/>
          <p:cNvSpPr txBox="1"/>
          <p:nvPr/>
        </p:nvSpPr>
        <p:spPr>
          <a:xfrm>
            <a:off x="2190750" y="45624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Joint Generation: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Vision-Language Models (VLMs) can process the retrieved images directly alongside text to answer complex multimodal queries.</a:t>
            </a:r>
            <a:endParaRPr/>
          </a:p>
        </p:txBody>
      </p:sp>
      <p:pic>
        <p:nvPicPr>
          <p:cNvPr descr="image.png" id="628" name="Google Shape;62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57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9" name="Google Shape;62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162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0" name="Google Shape;630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8671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1" name="Google Shape;631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57200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Multimodal RAG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7" name="Google Shape;63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8" name="Google Shape;638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38275"/>
            <a:ext cx="110299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8"/>
          <p:cNvSpPr txBox="1"/>
          <p:nvPr/>
        </p:nvSpPr>
        <p:spPr>
          <a:xfrm>
            <a:off x="1132582" y="5434012"/>
            <a:ext cx="992683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Text alone solves only 40% of the enterprise knowledge problem. Multimodal RAG is the crucial next frontier for unlocking full AI value.</a:t>
            </a:r>
            <a:endParaRPr/>
          </a:p>
        </p:txBody>
      </p:sp>
      <p:sp>
        <p:nvSpPr>
          <p:cNvPr id="640" name="Google Shape;640;p5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Enterprise Unstructured Data Formats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5" name="Google Shape;6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9"/>
          <p:cNvSpPr txBox="1"/>
          <p:nvPr/>
        </p:nvSpPr>
        <p:spPr>
          <a:xfrm>
            <a:off x="581025" y="2747962"/>
            <a:ext cx="52768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RAGAS</a:t>
            </a:r>
            <a:endParaRPr/>
          </a:p>
        </p:txBody>
      </p:sp>
      <p:sp>
        <p:nvSpPr>
          <p:cNvPr id="647" name="Google Shape;647;p59"/>
          <p:cNvSpPr txBox="1"/>
          <p:nvPr/>
        </p:nvSpPr>
        <p:spPr>
          <a:xfrm>
            <a:off x="581025" y="4271962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Evaluation Framework</a:t>
            </a:r>
            <a:endParaRPr/>
          </a:p>
        </p:txBody>
      </p:sp>
      <p:sp>
        <p:nvSpPr>
          <p:cNvPr id="648" name="Google Shape;648;p59"/>
          <p:cNvSpPr txBox="1"/>
          <p:nvPr/>
        </p:nvSpPr>
        <p:spPr>
          <a:xfrm>
            <a:off x="6334125" y="2747962"/>
            <a:ext cx="554069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You can't improve what you can't measure</a:t>
            </a:r>
            <a:endParaRPr/>
          </a:p>
        </p:txBody>
      </p:sp>
      <p:sp>
        <p:nvSpPr>
          <p:cNvPr id="649" name="Google Shape;649;p59"/>
          <p:cNvSpPr txBox="1"/>
          <p:nvPr/>
        </p:nvSpPr>
        <p:spPr>
          <a:xfrm>
            <a:off x="6334125" y="3652837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RAG is notoriously difficult because you must evaluate both the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retrieval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quality and the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generation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quality.</a:t>
            </a:r>
            <a:endParaRPr/>
          </a:p>
        </p:txBody>
      </p:sp>
      <p:sp>
        <p:nvSpPr>
          <p:cNvPr id="650" name="Google Shape;650;p59"/>
          <p:cNvSpPr txBox="1"/>
          <p:nvPr/>
        </p:nvSpPr>
        <p:spPr>
          <a:xfrm>
            <a:off x="6334125" y="4310062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Frameworks like RAGAS and TruLens use LLMs as judges to score your pipeline automatically.</a:t>
            </a:r>
            <a:endParaRPr/>
          </a:p>
        </p:txBody>
      </p:sp>
      <p:sp>
        <p:nvSpPr>
          <p:cNvPr id="651" name="Google Shape;651;p59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Evaluation &amp; Metrics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0"/>
          <p:cNvSpPr/>
          <p:nvPr/>
        </p:nvSpPr>
        <p:spPr>
          <a:xfrm>
            <a:off x="581025" y="2314575"/>
            <a:ext cx="11029950" cy="308610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7" name="Google Shape;657;p60"/>
          <p:cNvGraphicFramePr/>
          <p:nvPr/>
        </p:nvGraphicFramePr>
        <p:xfrm>
          <a:off x="581025" y="2314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{5FB73867-2DD5-442D-AF99-7BAC98A7F023}</a:tableStyleId>
              </a:tblPr>
              <a:tblGrid>
                <a:gridCol w="2007700"/>
                <a:gridCol w="2500900"/>
                <a:gridCol w="6511825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Component Measured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What It Means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Context 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Are the retrieved documents actually relevant to the query?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Context 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Did we retrieve all the information needed to answer?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Faithfulness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Generator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Is the generated answer derived ONLY from the context? (Hallucinations)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Answer Relevance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Generator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Does the generated answer directly address the original query?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8" name="Google Shape;658;p60"/>
          <p:cNvSpPr/>
          <p:nvPr/>
        </p:nvSpPr>
        <p:spPr>
          <a:xfrm>
            <a:off x="585787" y="2947987"/>
            <a:ext cx="2007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60"/>
          <p:cNvSpPr/>
          <p:nvPr/>
        </p:nvSpPr>
        <p:spPr>
          <a:xfrm>
            <a:off x="2593478" y="2947987"/>
            <a:ext cx="2500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60"/>
          <p:cNvSpPr/>
          <p:nvPr/>
        </p:nvSpPr>
        <p:spPr>
          <a:xfrm>
            <a:off x="5094386" y="2947987"/>
            <a:ext cx="6511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60"/>
          <p:cNvSpPr/>
          <p:nvPr/>
        </p:nvSpPr>
        <p:spPr>
          <a:xfrm>
            <a:off x="585787" y="3557587"/>
            <a:ext cx="2007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60"/>
          <p:cNvSpPr/>
          <p:nvPr/>
        </p:nvSpPr>
        <p:spPr>
          <a:xfrm>
            <a:off x="2593478" y="3557587"/>
            <a:ext cx="2500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60"/>
          <p:cNvSpPr/>
          <p:nvPr/>
        </p:nvSpPr>
        <p:spPr>
          <a:xfrm>
            <a:off x="5094386" y="3557587"/>
            <a:ext cx="6511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60"/>
          <p:cNvSpPr/>
          <p:nvPr/>
        </p:nvSpPr>
        <p:spPr>
          <a:xfrm>
            <a:off x="585787" y="4167187"/>
            <a:ext cx="2007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60"/>
          <p:cNvSpPr/>
          <p:nvPr/>
        </p:nvSpPr>
        <p:spPr>
          <a:xfrm>
            <a:off x="2593478" y="4167187"/>
            <a:ext cx="2500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60"/>
          <p:cNvSpPr/>
          <p:nvPr/>
        </p:nvSpPr>
        <p:spPr>
          <a:xfrm>
            <a:off x="5094386" y="4167187"/>
            <a:ext cx="6511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60"/>
          <p:cNvSpPr/>
          <p:nvPr/>
        </p:nvSpPr>
        <p:spPr>
          <a:xfrm>
            <a:off x="585787" y="4776787"/>
            <a:ext cx="2007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0"/>
          <p:cNvSpPr/>
          <p:nvPr/>
        </p:nvSpPr>
        <p:spPr>
          <a:xfrm>
            <a:off x="2593478" y="4776787"/>
            <a:ext cx="2500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60"/>
          <p:cNvSpPr/>
          <p:nvPr/>
        </p:nvSpPr>
        <p:spPr>
          <a:xfrm>
            <a:off x="5094386" y="4776787"/>
            <a:ext cx="6511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0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Key RAG Evaluation Metrics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5" name="Google Shape;67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1"/>
          <p:cNvSpPr txBox="1"/>
          <p:nvPr/>
        </p:nvSpPr>
        <p:spPr>
          <a:xfrm>
            <a:off x="581025" y="581025"/>
            <a:ext cx="554069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Future: Agentic RAG</a:t>
            </a:r>
            <a:endParaRPr/>
          </a:p>
        </p:txBody>
      </p:sp>
      <p:pic>
        <p:nvPicPr>
          <p:cNvPr descr="image.png" id="677" name="Google Shape;677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1"/>
          <p:cNvSpPr txBox="1"/>
          <p:nvPr/>
        </p:nvSpPr>
        <p:spPr>
          <a:xfrm>
            <a:off x="581025" y="2757487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Autonomous Knowledge Systems</a:t>
            </a:r>
            <a:endParaRPr/>
          </a:p>
        </p:txBody>
      </p:sp>
      <p:sp>
        <p:nvSpPr>
          <p:cNvPr id="679" name="Google Shape;679;p61"/>
          <p:cNvSpPr txBox="1"/>
          <p:nvPr/>
        </p:nvSpPr>
        <p:spPr>
          <a:xfrm>
            <a:off x="581025" y="3281362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Pipelines are transitioning from static linear flows into dynamic autonomous agents.</a:t>
            </a:r>
            <a:endParaRPr/>
          </a:p>
        </p:txBody>
      </p:sp>
      <p:sp>
        <p:nvSpPr>
          <p:cNvPr id="680" name="Google Shape;680;p61"/>
          <p:cNvSpPr txBox="1"/>
          <p:nvPr/>
        </p:nvSpPr>
        <p:spPr>
          <a:xfrm>
            <a:off x="581025" y="3982342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Agentic systems can formulate their own sub-queries, iteratively search, write code to analyze data, and compile vast reports over hours instead of seconds.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5" name="Google Shape;68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62"/>
          <p:cNvSpPr/>
          <p:nvPr/>
        </p:nvSpPr>
        <p:spPr>
          <a:xfrm>
            <a:off x="5619750" y="247173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62"/>
          <p:cNvSpPr txBox="1"/>
          <p:nvPr/>
        </p:nvSpPr>
        <p:spPr>
          <a:xfrm>
            <a:off x="4250769" y="2805112"/>
            <a:ext cx="369046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Lab Session 2</a:t>
            </a:r>
            <a:endParaRPr/>
          </a:p>
        </p:txBody>
      </p:sp>
      <p:sp>
        <p:nvSpPr>
          <p:cNvPr id="688" name="Google Shape;688;p62"/>
          <p:cNvSpPr txBox="1"/>
          <p:nvPr/>
        </p:nvSpPr>
        <p:spPr>
          <a:xfrm>
            <a:off x="3895725" y="3719512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RAG with CRAG and Reranking</a:t>
            </a:r>
            <a:endParaRPr/>
          </a:p>
        </p:txBody>
      </p:sp>
      <p:sp>
        <p:nvSpPr>
          <p:cNvPr id="689" name="Google Shape;689;p62"/>
          <p:cNvSpPr txBox="1"/>
          <p:nvPr/>
        </p:nvSpPr>
        <p:spPr>
          <a:xfrm>
            <a:off x="5505450" y="4443412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 of Session 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