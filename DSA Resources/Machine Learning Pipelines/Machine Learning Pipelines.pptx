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y="6858000" cx="12192000"/>
  <p:notesSz cx="6858000" cy="9144000"/>
  <p:embeddedFontLst>
    <p:embeddedFont>
      <p:font typeface="Poppins"/>
      <p:regular r:id="rId57"/>
      <p:bold r:id="rId58"/>
      <p:italic r:id="rId59"/>
      <p:boldItalic r:id="rId60"/>
    </p:embeddedFont>
    <p:embeddedFont>
      <p:font typeface="Lato"/>
      <p:regular r:id="rId61"/>
      <p:bold r:id="rId62"/>
      <p:italic r:id="rId63"/>
      <p:boldItalic r:id="rId64"/>
    </p:embeddedFont>
    <p:embeddedFont>
      <p:font typeface="Poppins SemiBold"/>
      <p:regular r:id="rId65"/>
      <p:bold r:id="rId66"/>
      <p:italic r:id="rId67"/>
      <p:boldItalic r:id="rId6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3BB4487-84C8-4384-947F-7D79ACCE756E}">
  <a:tblStyle styleId="{B3BB4487-84C8-4384-947F-7D79ACCE756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Lato-bold.fntdata"/><Relationship Id="rId61" Type="http://schemas.openxmlformats.org/officeDocument/2006/relationships/font" Target="fonts/Lato-regular.fntdata"/><Relationship Id="rId20" Type="http://schemas.openxmlformats.org/officeDocument/2006/relationships/slide" Target="slides/slide14.xml"/><Relationship Id="rId64" Type="http://schemas.openxmlformats.org/officeDocument/2006/relationships/font" Target="fonts/Lato-boldItalic.fntdata"/><Relationship Id="rId63" Type="http://schemas.openxmlformats.org/officeDocument/2006/relationships/font" Target="fonts/Lato-italic.fntdata"/><Relationship Id="rId22" Type="http://schemas.openxmlformats.org/officeDocument/2006/relationships/slide" Target="slides/slide16.xml"/><Relationship Id="rId66" Type="http://schemas.openxmlformats.org/officeDocument/2006/relationships/font" Target="fonts/PoppinsSemiBold-bold.fntdata"/><Relationship Id="rId21" Type="http://schemas.openxmlformats.org/officeDocument/2006/relationships/slide" Target="slides/slide15.xml"/><Relationship Id="rId65" Type="http://schemas.openxmlformats.org/officeDocument/2006/relationships/font" Target="fonts/PoppinsSemiBold-regular.fntdata"/><Relationship Id="rId24" Type="http://schemas.openxmlformats.org/officeDocument/2006/relationships/slide" Target="slides/slide18.xml"/><Relationship Id="rId68" Type="http://schemas.openxmlformats.org/officeDocument/2006/relationships/font" Target="fonts/PoppinsSemiBold-boldItalic.fntdata"/><Relationship Id="rId23" Type="http://schemas.openxmlformats.org/officeDocument/2006/relationships/slide" Target="slides/slide17.xml"/><Relationship Id="rId67" Type="http://schemas.openxmlformats.org/officeDocument/2006/relationships/font" Target="fonts/PoppinsSemiBold-italic.fntdata"/><Relationship Id="rId60" Type="http://schemas.openxmlformats.org/officeDocument/2006/relationships/font" Target="fonts/Poppins-bold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font" Target="fonts/Poppins-regular.fntdata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font" Target="fonts/Poppins-italic.fntdata"/><Relationship Id="rId14" Type="http://schemas.openxmlformats.org/officeDocument/2006/relationships/slide" Target="slides/slide8.xml"/><Relationship Id="rId58" Type="http://schemas.openxmlformats.org/officeDocument/2006/relationships/font" Target="fonts/Poppins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14.png"/><Relationship Id="rId8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11.png"/><Relationship Id="rId7" Type="http://schemas.openxmlformats.org/officeDocument/2006/relationships/image" Target="../media/image13.png"/><Relationship Id="rId8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png"/><Relationship Id="rId4" Type="http://schemas.openxmlformats.org/officeDocument/2006/relationships/image" Target="../media/image16.png"/><Relationship Id="rId5" Type="http://schemas.openxmlformats.org/officeDocument/2006/relationships/image" Target="../media/image20.png"/><Relationship Id="rId6" Type="http://schemas.openxmlformats.org/officeDocument/2006/relationships/image" Target="../media/image4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15.png"/><Relationship Id="rId7" Type="http://schemas.openxmlformats.org/officeDocument/2006/relationships/image" Target="../media/image21.png"/><Relationship Id="rId8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png"/><Relationship Id="rId4" Type="http://schemas.openxmlformats.org/officeDocument/2006/relationships/image" Target="../media/image25.png"/><Relationship Id="rId5" Type="http://schemas.openxmlformats.org/officeDocument/2006/relationships/image" Target="../media/image2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2.png"/><Relationship Id="rId4" Type="http://schemas.openxmlformats.org/officeDocument/2006/relationships/image" Target="../media/image27.png"/><Relationship Id="rId5" Type="http://schemas.openxmlformats.org/officeDocument/2006/relationships/image" Target="../media/image19.png"/><Relationship Id="rId6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0.png"/><Relationship Id="rId4" Type="http://schemas.openxmlformats.org/officeDocument/2006/relationships/image" Target="../media/image37.png"/><Relationship Id="rId5" Type="http://schemas.openxmlformats.org/officeDocument/2006/relationships/image" Target="../media/image45.png"/><Relationship Id="rId6" Type="http://schemas.openxmlformats.org/officeDocument/2006/relationships/image" Target="../media/image3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31.png"/><Relationship Id="rId7" Type="http://schemas.openxmlformats.org/officeDocument/2006/relationships/image" Target="../media/image44.png"/><Relationship Id="rId8" Type="http://schemas.openxmlformats.org/officeDocument/2006/relationships/image" Target="../media/image4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0.png"/><Relationship Id="rId4" Type="http://schemas.openxmlformats.org/officeDocument/2006/relationships/image" Target="../media/image3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6.png"/><Relationship Id="rId4" Type="http://schemas.openxmlformats.org/officeDocument/2006/relationships/image" Target="../media/image43.png"/><Relationship Id="rId5" Type="http://schemas.openxmlformats.org/officeDocument/2006/relationships/image" Target="../media/image33.png"/><Relationship Id="rId6" Type="http://schemas.openxmlformats.org/officeDocument/2006/relationships/image" Target="../media/image4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9.png"/><Relationship Id="rId4" Type="http://schemas.openxmlformats.org/officeDocument/2006/relationships/image" Target="../media/image59.png"/><Relationship Id="rId5" Type="http://schemas.openxmlformats.org/officeDocument/2006/relationships/image" Target="../media/image46.png"/><Relationship Id="rId6" Type="http://schemas.openxmlformats.org/officeDocument/2006/relationships/image" Target="../media/image5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4.png"/><Relationship Id="rId4" Type="http://schemas.openxmlformats.org/officeDocument/2006/relationships/image" Target="../media/image67.png"/><Relationship Id="rId5" Type="http://schemas.openxmlformats.org/officeDocument/2006/relationships/image" Target="../media/image5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3.png"/><Relationship Id="rId7" Type="http://schemas.openxmlformats.org/officeDocument/2006/relationships/image" Target="../media/image60.png"/><Relationship Id="rId8" Type="http://schemas.openxmlformats.org/officeDocument/2006/relationships/image" Target="../media/image6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8.png"/><Relationship Id="rId4" Type="http://schemas.openxmlformats.org/officeDocument/2006/relationships/image" Target="../media/image50.png"/><Relationship Id="rId5" Type="http://schemas.openxmlformats.org/officeDocument/2006/relationships/image" Target="../media/image61.png"/><Relationship Id="rId6" Type="http://schemas.openxmlformats.org/officeDocument/2006/relationships/image" Target="../media/image5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51.png"/><Relationship Id="rId7" Type="http://schemas.openxmlformats.org/officeDocument/2006/relationships/image" Target="../media/image56.png"/><Relationship Id="rId8" Type="http://schemas.openxmlformats.org/officeDocument/2006/relationships/image" Target="../media/image6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8.png"/><Relationship Id="rId4" Type="http://schemas.openxmlformats.org/officeDocument/2006/relationships/image" Target="../media/image64.png"/><Relationship Id="rId5" Type="http://schemas.openxmlformats.org/officeDocument/2006/relationships/image" Target="../media/image66.png"/><Relationship Id="rId6" Type="http://schemas.openxmlformats.org/officeDocument/2006/relationships/image" Target="../media/image7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8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70.png"/><Relationship Id="rId4" Type="http://schemas.openxmlformats.org/officeDocument/2006/relationships/image" Target="../media/image69.png"/><Relationship Id="rId5" Type="http://schemas.openxmlformats.org/officeDocument/2006/relationships/image" Target="../media/image76.png"/><Relationship Id="rId6" Type="http://schemas.openxmlformats.org/officeDocument/2006/relationships/image" Target="../media/image7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85.png"/><Relationship Id="rId4" Type="http://schemas.openxmlformats.org/officeDocument/2006/relationships/image" Target="../media/image7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71.png"/><Relationship Id="rId4" Type="http://schemas.openxmlformats.org/officeDocument/2006/relationships/image" Target="../media/image83.png"/><Relationship Id="rId5" Type="http://schemas.openxmlformats.org/officeDocument/2006/relationships/image" Target="../media/image80.png"/><Relationship Id="rId6" Type="http://schemas.openxmlformats.org/officeDocument/2006/relationships/image" Target="../media/image72.png"/><Relationship Id="rId7" Type="http://schemas.openxmlformats.org/officeDocument/2006/relationships/image" Target="../media/image81.png"/><Relationship Id="rId8" Type="http://schemas.openxmlformats.org/officeDocument/2006/relationships/image" Target="../media/image8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9.png"/><Relationship Id="rId4" Type="http://schemas.openxmlformats.org/officeDocument/2006/relationships/image" Target="../media/image24.png"/><Relationship Id="rId5" Type="http://schemas.openxmlformats.org/officeDocument/2006/relationships/image" Target="../media/image73.png"/><Relationship Id="rId6" Type="http://schemas.openxmlformats.org/officeDocument/2006/relationships/image" Target="../media/image79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74.png"/><Relationship Id="rId7" Type="http://schemas.openxmlformats.org/officeDocument/2006/relationships/image" Target="../media/image88.png"/><Relationship Id="rId8" Type="http://schemas.openxmlformats.org/officeDocument/2006/relationships/image" Target="../media/image8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87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86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205388" y="2566987"/>
            <a:ext cx="9781222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Machine Learning Pipelines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1809750" y="3490912"/>
            <a:ext cx="857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From Raw Data to Scalable AI Architectures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Session 1 &amp; 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/>
          <p:nvPr/>
        </p:nvSpPr>
        <p:spPr>
          <a:xfrm>
            <a:off x="5524500" y="2669827"/>
            <a:ext cx="1143000" cy="571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2375535" y="3012727"/>
            <a:ext cx="744093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Session 1: Foundations</a:t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3910012" y="4108102"/>
            <a:ext cx="43719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Beginner to Intermediate Pipeline Concepts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rofessional, high-tech conceptual 3D illustration of a machine learning workflow, showing glowing data nodes, algorithmic processing paths, and an AI brain icon, colored in cyan and purple neon lights against a dark sleek tech background." id="97" name="Google Shape;97;p15"/>
          <p:cNvPicPr preferRelativeResize="0"/>
          <p:nvPr/>
        </p:nvPicPr>
        <p:blipFill rotWithShape="1">
          <a:blip r:embed="rId3">
            <a:alphaModFix/>
          </a:blip>
          <a:srcRect b="0" l="60" r="60" t="0"/>
          <a:stretch/>
        </p:blipFill>
        <p:spPr>
          <a:xfrm>
            <a:off x="6334125" y="2110963"/>
            <a:ext cx="5277000" cy="29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5"/>
          <p:cNvSpPr txBox="1"/>
          <p:nvPr/>
        </p:nvSpPr>
        <p:spPr>
          <a:xfrm>
            <a:off x="466725" y="2262187"/>
            <a:ext cx="114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99" name="Google Shape;99;p15"/>
          <p:cNvSpPr txBox="1"/>
          <p:nvPr/>
        </p:nvSpPr>
        <p:spPr>
          <a:xfrm>
            <a:off x="581025" y="2262187"/>
            <a:ext cx="5277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 machine learning pipeline is a structured workflow that automates the lifecycle of a model.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466725" y="2871787"/>
            <a:ext cx="114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581025" y="2871787"/>
            <a:ext cx="5277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It consists of sequential steps transforming raw materials (data) into a functional product (prediction).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466725" y="3481387"/>
            <a:ext cx="114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581025" y="3481387"/>
            <a:ext cx="5277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Pipelines eliminate manual interventions, ensuring repeatability and consistency across training runs.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466725" y="4090987"/>
            <a:ext cx="114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581025" y="4090987"/>
            <a:ext cx="5277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They bridge the gap between isolated data science experiments and production-ready enterprise software.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581025" y="581025"/>
            <a:ext cx="1158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Intro to ML Pipelines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557462"/>
            <a:ext cx="527685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557462"/>
            <a:ext cx="527685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 txBox="1"/>
          <p:nvPr/>
        </p:nvSpPr>
        <p:spPr>
          <a:xfrm>
            <a:off x="971550" y="2947987"/>
            <a:ext cx="472059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Manual Workflows</a:t>
            </a:r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971550" y="3548062"/>
            <a:ext cx="4495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Data scientists run isolated Jupyter notebooks. Code is executed cell-by-cell. Hard to reproduce results. Prone to the "it worked on my machine" problem when handing off to engineering.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6724650" y="2947987"/>
            <a:ext cx="472059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Automated Pipelines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6724650" y="3548062"/>
            <a:ext cx="4495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Code, data, and configurations are encapsulated into modular steps. Execution is orchestrated automatically. Highly scalable, repeatable, and ready for continuous deployment.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Manual vs. Automated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" name="Google Shape;12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238375"/>
            <a:ext cx="3422600" cy="3381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4625" y="2238375"/>
            <a:ext cx="3422600" cy="3381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88225" y="2238375"/>
            <a:ext cx="3422600" cy="3381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7"/>
          <p:cNvSpPr txBox="1"/>
          <p:nvPr/>
        </p:nvSpPr>
        <p:spPr>
          <a:xfrm>
            <a:off x="923925" y="3314700"/>
            <a:ext cx="2873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Repeatability</a:t>
            </a:r>
            <a:endParaRPr/>
          </a:p>
        </p:txBody>
      </p:sp>
      <p:sp>
        <p:nvSpPr>
          <p:cNvPr id="126" name="Google Shape;126;p17"/>
          <p:cNvSpPr txBox="1"/>
          <p:nvPr/>
        </p:nvSpPr>
        <p:spPr>
          <a:xfrm>
            <a:off x="923925" y="3914775"/>
            <a:ext cx="2736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Ensures that model training is identical every time it runs, eliminating human error and inconsistencies.</a:t>
            </a: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4727525" y="3314700"/>
            <a:ext cx="2873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Scalability</a:t>
            </a:r>
            <a:endParaRPr/>
          </a:p>
        </p:txBody>
      </p:sp>
      <p:sp>
        <p:nvSpPr>
          <p:cNvPr id="128" name="Google Shape;128;p17"/>
          <p:cNvSpPr txBox="1"/>
          <p:nvPr/>
        </p:nvSpPr>
        <p:spPr>
          <a:xfrm>
            <a:off x="4727525" y="3914775"/>
            <a:ext cx="2736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Designed to handle massive increases in data volume or user inference requests without degrading system performance.</a:t>
            </a:r>
            <a:endParaRPr/>
          </a:p>
        </p:txBody>
      </p:sp>
      <p:sp>
        <p:nvSpPr>
          <p:cNvPr id="129" name="Google Shape;129;p17"/>
          <p:cNvSpPr txBox="1"/>
          <p:nvPr/>
        </p:nvSpPr>
        <p:spPr>
          <a:xfrm>
            <a:off x="8531125" y="3314700"/>
            <a:ext cx="2873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Reliability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8531125" y="3914775"/>
            <a:ext cx="2736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Automated checks for data quality and model performance identify issues before they impact business operations.</a:t>
            </a:r>
            <a:endParaRPr/>
          </a:p>
        </p:txBody>
      </p:sp>
      <p:pic>
        <p:nvPicPr>
          <p:cNvPr descr="image.png" id="131" name="Google Shape;13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3925" y="26289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27525" y="2628900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31125" y="26289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Benefits of Pipelines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"/>
          <p:cNvSpPr txBox="1"/>
          <p:nvPr/>
        </p:nvSpPr>
        <p:spPr>
          <a:xfrm>
            <a:off x="1009650" y="2938462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Raw Materials: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Unstructured and structured data enter the system.</a:t>
            </a:r>
            <a:endParaRPr/>
          </a:p>
        </p:txBody>
      </p:sp>
      <p:sp>
        <p:nvSpPr>
          <p:cNvPr id="140" name="Google Shape;140;p18"/>
          <p:cNvSpPr txBox="1"/>
          <p:nvPr/>
        </p:nvSpPr>
        <p:spPr>
          <a:xfrm>
            <a:off x="1009650" y="3433762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Processing Stations: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Data is cleaned, transformed, and engineered into features sequentially.</a:t>
            </a:r>
            <a:endParaRPr/>
          </a:p>
        </p:txBody>
      </p:sp>
      <p:sp>
        <p:nvSpPr>
          <p:cNvPr id="141" name="Google Shape;141;p18"/>
          <p:cNvSpPr txBox="1"/>
          <p:nvPr/>
        </p:nvSpPr>
        <p:spPr>
          <a:xfrm>
            <a:off x="1009650" y="3929062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Quality Control: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Models are trained and rigorously evaluated against baseline metrics.</a:t>
            </a: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1009650" y="4424362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Final Output: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 deployable predictive model emerges, ready to serve end-users reliably.</a:t>
            </a:r>
            <a:endParaRPr/>
          </a:p>
        </p:txBody>
      </p:sp>
      <p:pic>
        <p:nvPicPr>
          <p:cNvPr descr="image.png" id="143" name="Google Shape;14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971800"/>
            <a:ext cx="2190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3467100"/>
            <a:ext cx="2190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3962400"/>
            <a:ext cx="2190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4457700"/>
            <a:ext cx="21907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The Assembly Line Analogy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2" name="Google Shape;15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262187"/>
            <a:ext cx="52768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9"/>
          <p:cNvSpPr txBox="1"/>
          <p:nvPr/>
        </p:nvSpPr>
        <p:spPr>
          <a:xfrm>
            <a:off x="581025" y="2262187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 standard machine learning pipeline is modular. Each stage has a specific input and output, allowing teams to update individual components without rebuilding the entire system.</a:t>
            </a:r>
            <a:endParaRPr/>
          </a:p>
        </p:txBody>
      </p:sp>
      <p:sp>
        <p:nvSpPr>
          <p:cNvPr id="154" name="Google Shape;154;p19"/>
          <p:cNvSpPr txBox="1"/>
          <p:nvPr/>
        </p:nvSpPr>
        <p:spPr>
          <a:xfrm>
            <a:off x="581025" y="3319462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primary stages typically include Data Collection, Preprocessing, Feature Engineering, Model Training, Evaluation, and Deployment.</a:t>
            </a:r>
            <a:endParaRPr/>
          </a:p>
        </p:txBody>
      </p:sp>
      <p:pic>
        <p:nvPicPr>
          <p:cNvPr descr="image.png" id="155" name="Google Shape;15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3650" y="2271712"/>
            <a:ext cx="525780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Core Stages of a Pipeline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/>
        </p:nvSpPr>
        <p:spPr>
          <a:xfrm>
            <a:off x="581025" y="581025"/>
            <a:ext cx="519064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Data Collection</a:t>
            </a:r>
            <a:endParaRPr/>
          </a:p>
        </p:txBody>
      </p:sp>
      <p:pic>
        <p:nvPicPr>
          <p:cNvPr descr="image.png" id="162" name="Google Shape;16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0"/>
          <p:cNvSpPr txBox="1"/>
          <p:nvPr/>
        </p:nvSpPr>
        <p:spPr>
          <a:xfrm>
            <a:off x="581025" y="2871787"/>
            <a:ext cx="49434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Every pipeline begins with data ingestion. This stage involves sourcing raw data from databases, APIs, IoT sensors, or web streams.</a:t>
            </a:r>
            <a:endParaRPr/>
          </a:p>
        </p:txBody>
      </p:sp>
      <p:sp>
        <p:nvSpPr>
          <p:cNvPr id="164" name="Google Shape;164;p20"/>
          <p:cNvSpPr txBox="1"/>
          <p:nvPr/>
        </p:nvSpPr>
        <p:spPr>
          <a:xfrm>
            <a:off x="581025" y="3929062"/>
            <a:ext cx="49434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Data validation occurs immediately. The system flags anomalies like missing values or schema drift to prevent downstream model degradation.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238375"/>
            <a:ext cx="3422600" cy="3381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4625" y="2238375"/>
            <a:ext cx="3422600" cy="3381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88225" y="2238375"/>
            <a:ext cx="3422600" cy="338137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1"/>
          <p:cNvSpPr txBox="1"/>
          <p:nvPr/>
        </p:nvSpPr>
        <p:spPr>
          <a:xfrm>
            <a:off x="923925" y="3314700"/>
            <a:ext cx="2873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Structured</a:t>
            </a:r>
            <a:endParaRPr/>
          </a:p>
        </p:txBody>
      </p:sp>
      <p:sp>
        <p:nvSpPr>
          <p:cNvPr id="173" name="Google Shape;173;p21"/>
          <p:cNvSpPr txBox="1"/>
          <p:nvPr/>
        </p:nvSpPr>
        <p:spPr>
          <a:xfrm>
            <a:off x="923925" y="3914775"/>
            <a:ext cx="2736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Relational databases (SQL), CSV files, and spreadsheets containing highly organized tabular data.</a:t>
            </a:r>
            <a:endParaRPr/>
          </a:p>
        </p:txBody>
      </p:sp>
      <p:sp>
        <p:nvSpPr>
          <p:cNvPr id="174" name="Google Shape;174;p21"/>
          <p:cNvSpPr txBox="1"/>
          <p:nvPr/>
        </p:nvSpPr>
        <p:spPr>
          <a:xfrm>
            <a:off x="4727525" y="3314700"/>
            <a:ext cx="2873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Unstructured</a:t>
            </a:r>
            <a:endParaRPr/>
          </a:p>
        </p:txBody>
      </p:sp>
      <p:sp>
        <p:nvSpPr>
          <p:cNvPr id="175" name="Google Shape;175;p21"/>
          <p:cNvSpPr txBox="1"/>
          <p:nvPr/>
        </p:nvSpPr>
        <p:spPr>
          <a:xfrm>
            <a:off x="4727525" y="3914775"/>
            <a:ext cx="2736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Text documents, emails, images, and video files that require complex parsing and feature extraction.</a:t>
            </a:r>
            <a:endParaRPr/>
          </a:p>
        </p:txBody>
      </p:sp>
      <p:sp>
        <p:nvSpPr>
          <p:cNvPr id="176" name="Google Shape;176;p21"/>
          <p:cNvSpPr txBox="1"/>
          <p:nvPr/>
        </p:nvSpPr>
        <p:spPr>
          <a:xfrm>
            <a:off x="8531125" y="3314700"/>
            <a:ext cx="2873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Streaming</a:t>
            </a:r>
            <a:endParaRPr/>
          </a:p>
        </p:txBody>
      </p:sp>
      <p:sp>
        <p:nvSpPr>
          <p:cNvPr id="177" name="Google Shape;177;p21"/>
          <p:cNvSpPr txBox="1"/>
          <p:nvPr/>
        </p:nvSpPr>
        <p:spPr>
          <a:xfrm>
            <a:off x="8531125" y="3914775"/>
            <a:ext cx="2736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Real-time data from IoT devices, server logs, or live social media feeds requiring continuous ingestion.</a:t>
            </a:r>
            <a:endParaRPr/>
          </a:p>
        </p:txBody>
      </p:sp>
      <p:pic>
        <p:nvPicPr>
          <p:cNvPr descr="image.png" id="178" name="Google Shape;178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3925" y="2628900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27525" y="2628900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31125" y="2628900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1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Data Sources &amp; Types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2"/>
          <p:cNvSpPr txBox="1"/>
          <p:nvPr/>
        </p:nvSpPr>
        <p:spPr>
          <a:xfrm>
            <a:off x="1009650" y="2938462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Cleaning: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Removing duplicate records, correcting erroneous entries, and standardizing formatting.</a:t>
            </a:r>
            <a:endParaRPr/>
          </a:p>
        </p:txBody>
      </p:sp>
      <p:sp>
        <p:nvSpPr>
          <p:cNvPr id="187" name="Google Shape;187;p22"/>
          <p:cNvSpPr txBox="1"/>
          <p:nvPr/>
        </p:nvSpPr>
        <p:spPr>
          <a:xfrm>
            <a:off x="1009650" y="3433762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Missing Values: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Handling nulls through imputation (mean, median) or deletion to maintain dataset integrity.</a:t>
            </a:r>
            <a:endParaRPr/>
          </a:p>
        </p:txBody>
      </p:sp>
      <p:sp>
        <p:nvSpPr>
          <p:cNvPr id="188" name="Google Shape;188;p22"/>
          <p:cNvSpPr txBox="1"/>
          <p:nvPr/>
        </p:nvSpPr>
        <p:spPr>
          <a:xfrm>
            <a:off x="1009650" y="3929062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Scaling: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Normalizing or standardizing numerical values so algorithms don't heavily weight larger numbers.</a:t>
            </a:r>
            <a:endParaRPr/>
          </a:p>
        </p:txBody>
      </p:sp>
      <p:sp>
        <p:nvSpPr>
          <p:cNvPr id="189" name="Google Shape;189;p22"/>
          <p:cNvSpPr txBox="1"/>
          <p:nvPr/>
        </p:nvSpPr>
        <p:spPr>
          <a:xfrm>
            <a:off x="1009650" y="4424362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Encoding: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Converting categorical text labels (e.g., "Red", "Blue") into numerical representations.</a:t>
            </a:r>
            <a:endParaRPr/>
          </a:p>
        </p:txBody>
      </p:sp>
      <p:pic>
        <p:nvPicPr>
          <p:cNvPr descr="image.png" id="190" name="Google Shape;19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971800"/>
            <a:ext cx="2762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467100"/>
            <a:ext cx="2762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962400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457700"/>
            <a:ext cx="2476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2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Data Preprocessing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3"/>
          <p:cNvSpPr/>
          <p:nvPr/>
        </p:nvSpPr>
        <p:spPr>
          <a:xfrm>
            <a:off x="581025" y="1565969"/>
            <a:ext cx="11029950" cy="4726185"/>
          </a:xfrm>
          <a:prstGeom prst="roundRect">
            <a:avLst>
              <a:gd fmla="val 0" name="adj"/>
            </a:avLst>
          </a:prstGeom>
          <a:solidFill>
            <a:srgbClr val="1E293B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0" name="Google Shape;200;p23"/>
          <p:cNvGraphicFramePr/>
          <p:nvPr/>
        </p:nvGraphicFramePr>
        <p:xfrm>
          <a:off x="581025" y="15659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{B3BB4487-84C8-4384-947F-7D79ACCE756E}</a:tableStyleId>
              </a:tblPr>
              <a:tblGrid>
                <a:gridCol w="2356550"/>
                <a:gridCol w="4558150"/>
                <a:gridCol w="4115250"/>
              </a:tblGrid>
              <a:tr h="94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06B6D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Strategy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06B6D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Description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06B6D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Best Use Case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94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Drop Rows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Remove any row with a missing value.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Massive datasets where missing data is negligible.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4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Mean/Median Imputation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Replace missing values with the column average or middle value.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Continuous numerical data without extreme outliers.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4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Mode Imputation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Replace missing values with the most frequent value.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Categorical or highly skewed numerical data.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4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Predictive Imputation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Use a separate ML model to predict the missing value.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Complex datasets where feature relationships are strong.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1" name="Google Shape;201;p23"/>
          <p:cNvSpPr/>
          <p:nvPr/>
        </p:nvSpPr>
        <p:spPr>
          <a:xfrm>
            <a:off x="581025" y="2272605"/>
            <a:ext cx="2356544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3"/>
          <p:cNvSpPr/>
          <p:nvPr/>
        </p:nvSpPr>
        <p:spPr>
          <a:xfrm>
            <a:off x="2937569" y="2272605"/>
            <a:ext cx="4558158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3"/>
          <p:cNvSpPr/>
          <p:nvPr/>
        </p:nvSpPr>
        <p:spPr>
          <a:xfrm>
            <a:off x="7495728" y="2272605"/>
            <a:ext cx="4115246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3"/>
          <p:cNvSpPr/>
          <p:nvPr/>
        </p:nvSpPr>
        <p:spPr>
          <a:xfrm>
            <a:off x="581025" y="3287017"/>
            <a:ext cx="235654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3"/>
          <p:cNvSpPr/>
          <p:nvPr/>
        </p:nvSpPr>
        <p:spPr>
          <a:xfrm>
            <a:off x="2937569" y="3287017"/>
            <a:ext cx="455815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3"/>
          <p:cNvSpPr/>
          <p:nvPr/>
        </p:nvSpPr>
        <p:spPr>
          <a:xfrm>
            <a:off x="7495728" y="3287017"/>
            <a:ext cx="411524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3"/>
          <p:cNvSpPr/>
          <p:nvPr/>
        </p:nvSpPr>
        <p:spPr>
          <a:xfrm>
            <a:off x="581025" y="4287142"/>
            <a:ext cx="235654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3"/>
          <p:cNvSpPr/>
          <p:nvPr/>
        </p:nvSpPr>
        <p:spPr>
          <a:xfrm>
            <a:off x="2937569" y="4287142"/>
            <a:ext cx="455815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3"/>
          <p:cNvSpPr/>
          <p:nvPr/>
        </p:nvSpPr>
        <p:spPr>
          <a:xfrm>
            <a:off x="7495728" y="4287142"/>
            <a:ext cx="411524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3"/>
          <p:cNvSpPr/>
          <p:nvPr/>
        </p:nvSpPr>
        <p:spPr>
          <a:xfrm>
            <a:off x="581025" y="5287267"/>
            <a:ext cx="235654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3"/>
          <p:cNvSpPr/>
          <p:nvPr/>
        </p:nvSpPr>
        <p:spPr>
          <a:xfrm>
            <a:off x="2937569" y="5287267"/>
            <a:ext cx="455815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3"/>
          <p:cNvSpPr/>
          <p:nvPr/>
        </p:nvSpPr>
        <p:spPr>
          <a:xfrm>
            <a:off x="7495728" y="5287267"/>
            <a:ext cx="411524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3"/>
          <p:cNvSpPr txBox="1"/>
          <p:nvPr/>
        </p:nvSpPr>
        <p:spPr>
          <a:xfrm>
            <a:off x="581025" y="565844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Handling Missing Data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"/>
          <p:cNvSpPr txBox="1"/>
          <p:nvPr/>
        </p:nvSpPr>
        <p:spPr>
          <a:xfrm>
            <a:off x="581025" y="581025"/>
            <a:ext cx="519064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Feature Engineering</a:t>
            </a:r>
            <a:endParaRPr/>
          </a:p>
        </p:txBody>
      </p:sp>
      <p:pic>
        <p:nvPicPr>
          <p:cNvPr descr="image.png" id="219" name="Google Shape;21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4"/>
          <p:cNvSpPr txBox="1"/>
          <p:nvPr/>
        </p:nvSpPr>
        <p:spPr>
          <a:xfrm>
            <a:off x="581025" y="2871787"/>
            <a:ext cx="49434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Raw data is rarely ready for algorithms. Feature engineering extracts the most relevant signals to improve model accuracy.</a:t>
            </a:r>
            <a:endParaRPr/>
          </a:p>
        </p:txBody>
      </p:sp>
      <p:sp>
        <p:nvSpPr>
          <p:cNvPr id="221" name="Google Shape;221;p24"/>
          <p:cNvSpPr txBox="1"/>
          <p:nvPr/>
        </p:nvSpPr>
        <p:spPr>
          <a:xfrm>
            <a:off x="581025" y="3929062"/>
            <a:ext cx="49434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Experienced practitioners note that exceptional feature engineering often yields better results than merely switching to a more complex algorithm.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6" name="Google Shape;22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238375"/>
            <a:ext cx="3422600" cy="3381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4625" y="2238375"/>
            <a:ext cx="3422600" cy="3381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88225" y="2238375"/>
            <a:ext cx="3422600" cy="338137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5"/>
          <p:cNvSpPr txBox="1"/>
          <p:nvPr/>
        </p:nvSpPr>
        <p:spPr>
          <a:xfrm>
            <a:off x="923925" y="3314700"/>
            <a:ext cx="2873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Creation</a:t>
            </a:r>
            <a:endParaRPr/>
          </a:p>
        </p:txBody>
      </p:sp>
      <p:sp>
        <p:nvSpPr>
          <p:cNvPr id="230" name="Google Shape;230;p25"/>
          <p:cNvSpPr txBox="1"/>
          <p:nvPr/>
        </p:nvSpPr>
        <p:spPr>
          <a:xfrm>
            <a:off x="923925" y="3914775"/>
            <a:ext cx="2736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Generating new features not present originally, such as calculating 'Body Mass Index' from height and weight.</a:t>
            </a:r>
            <a:endParaRPr/>
          </a:p>
        </p:txBody>
      </p:sp>
      <p:sp>
        <p:nvSpPr>
          <p:cNvPr id="231" name="Google Shape;231;p25"/>
          <p:cNvSpPr txBox="1"/>
          <p:nvPr/>
        </p:nvSpPr>
        <p:spPr>
          <a:xfrm>
            <a:off x="4727525" y="3314700"/>
            <a:ext cx="2873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Extraction</a:t>
            </a:r>
            <a:endParaRPr/>
          </a:p>
        </p:txBody>
      </p:sp>
      <p:sp>
        <p:nvSpPr>
          <p:cNvPr id="232" name="Google Shape;232;p25"/>
          <p:cNvSpPr txBox="1"/>
          <p:nvPr/>
        </p:nvSpPr>
        <p:spPr>
          <a:xfrm>
            <a:off x="4727525" y="3914775"/>
            <a:ext cx="2736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Pulling specific parts from complex data, like extracting the 'Month' and 'Day' from a full timestamp.</a:t>
            </a:r>
            <a:endParaRPr/>
          </a:p>
        </p:txBody>
      </p:sp>
      <p:sp>
        <p:nvSpPr>
          <p:cNvPr id="233" name="Google Shape;233;p25"/>
          <p:cNvSpPr txBox="1"/>
          <p:nvPr/>
        </p:nvSpPr>
        <p:spPr>
          <a:xfrm>
            <a:off x="8531125" y="3314700"/>
            <a:ext cx="2873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Selection</a:t>
            </a:r>
            <a:endParaRPr/>
          </a:p>
        </p:txBody>
      </p:sp>
      <p:sp>
        <p:nvSpPr>
          <p:cNvPr id="234" name="Google Shape;234;p25"/>
          <p:cNvSpPr txBox="1"/>
          <p:nvPr/>
        </p:nvSpPr>
        <p:spPr>
          <a:xfrm>
            <a:off x="8531125" y="3914775"/>
            <a:ext cx="2736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Removing irrelevant or redundant features to reduce noise and improve model training speed and performance.</a:t>
            </a:r>
            <a:endParaRPr/>
          </a:p>
        </p:txBody>
      </p:sp>
      <p:pic>
        <p:nvPicPr>
          <p:cNvPr descr="image.png" id="235" name="Google Shape;235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3925" y="2628900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27525" y="26289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31125" y="26289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5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Engineering Techniques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6"/>
          <p:cNvSpPr txBox="1"/>
          <p:nvPr/>
        </p:nvSpPr>
        <p:spPr>
          <a:xfrm>
            <a:off x="1809750" y="5529262"/>
            <a:ext cx="8572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Separating data ensures the model is evaluated on unseen information, preventing overfitting and providing a true measure of performance.</a:t>
            </a:r>
            <a:endParaRPr/>
          </a:p>
        </p:txBody>
      </p:sp>
      <p:sp>
        <p:nvSpPr>
          <p:cNvPr id="244" name="Google Shape;244;p26"/>
          <p:cNvSpPr txBox="1"/>
          <p:nvPr/>
        </p:nvSpPr>
        <p:spPr>
          <a:xfrm>
            <a:off x="581025" y="528637"/>
            <a:ext cx="1158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Data Splitting</a:t>
            </a:r>
            <a:endParaRPr/>
          </a:p>
        </p:txBody>
      </p:sp>
      <p:grpSp>
        <p:nvGrpSpPr>
          <p:cNvPr id="245" name="Google Shape;245;p26"/>
          <p:cNvGrpSpPr/>
          <p:nvPr/>
        </p:nvGrpSpPr>
        <p:grpSpPr>
          <a:xfrm>
            <a:off x="1971675" y="1690688"/>
            <a:ext cx="3290963" cy="3286200"/>
            <a:chOff x="1971675" y="1690688"/>
            <a:chExt cx="3290963" cy="3286200"/>
          </a:xfrm>
        </p:grpSpPr>
        <p:sp>
          <p:nvSpPr>
            <p:cNvPr id="246" name="Google Shape;246;p26"/>
            <p:cNvSpPr/>
            <p:nvPr/>
          </p:nvSpPr>
          <p:spPr>
            <a:xfrm>
              <a:off x="2190750" y="1905000"/>
              <a:ext cx="2857500" cy="28575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4286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47" name="Google Shape;24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052638" y="1690688"/>
              <a:ext cx="3210000" cy="3286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" name="Google Shape;248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71675" y="2366963"/>
              <a:ext cx="666900" cy="1476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9" name="Google Shape;249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290763" y="1690688"/>
              <a:ext cx="1328700" cy="928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0" name="Google Shape;250;p26"/>
          <p:cNvGrpSpPr/>
          <p:nvPr/>
        </p:nvGrpSpPr>
        <p:grpSpPr>
          <a:xfrm>
            <a:off x="6477000" y="2476500"/>
            <a:ext cx="4229100" cy="304800"/>
            <a:chOff x="0" y="0"/>
            <a:chExt cx="4229100" cy="304800"/>
          </a:xfrm>
        </p:grpSpPr>
        <p:sp>
          <p:nvSpPr>
            <p:cNvPr id="251" name="Google Shape;251;p26"/>
            <p:cNvSpPr/>
            <p:nvPr/>
          </p:nvSpPr>
          <p:spPr>
            <a:xfrm>
              <a:off x="0" y="38100"/>
              <a:ext cx="228600" cy="228600"/>
            </a:xfrm>
            <a:prstGeom prst="roundRect">
              <a:avLst>
                <a:gd fmla="val 25000" name="adj"/>
              </a:avLst>
            </a:prstGeom>
            <a:solidFill>
              <a:srgbClr val="06B6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26"/>
            <p:cNvSpPr txBox="1"/>
            <p:nvPr/>
          </p:nvSpPr>
          <p:spPr>
            <a:xfrm>
              <a:off x="419100" y="0"/>
              <a:ext cx="3810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Training Data </a:t>
              </a:r>
              <a:r>
                <a:rPr b="0" lang="en-US" sz="1600">
                  <a:solidFill>
                    <a:srgbClr val="94A3B8"/>
                  </a:solidFill>
                  <a:latin typeface="Poppins"/>
                  <a:ea typeface="Poppins"/>
                  <a:cs typeface="Poppins"/>
                  <a:sym typeface="Poppins"/>
                </a:rPr>
                <a:t>(70%)</a:t>
              </a:r>
              <a:endParaRPr b="0" sz="16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253" name="Google Shape;253;p26"/>
          <p:cNvGrpSpPr/>
          <p:nvPr/>
        </p:nvGrpSpPr>
        <p:grpSpPr>
          <a:xfrm>
            <a:off x="6477000" y="3143250"/>
            <a:ext cx="4229100" cy="304800"/>
            <a:chOff x="0" y="0"/>
            <a:chExt cx="4229100" cy="304800"/>
          </a:xfrm>
        </p:grpSpPr>
        <p:sp>
          <p:nvSpPr>
            <p:cNvPr id="254" name="Google Shape;254;p26"/>
            <p:cNvSpPr/>
            <p:nvPr/>
          </p:nvSpPr>
          <p:spPr>
            <a:xfrm>
              <a:off x="0" y="38100"/>
              <a:ext cx="228600" cy="228600"/>
            </a:xfrm>
            <a:prstGeom prst="roundRect">
              <a:avLst>
                <a:gd fmla="val 25000" name="adj"/>
              </a:avLst>
            </a:prstGeom>
            <a:solidFill>
              <a:srgbClr val="6366F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26"/>
            <p:cNvSpPr txBox="1"/>
            <p:nvPr/>
          </p:nvSpPr>
          <p:spPr>
            <a:xfrm>
              <a:off x="419100" y="0"/>
              <a:ext cx="3810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Validation Data </a:t>
              </a:r>
              <a:r>
                <a:rPr b="0" lang="en-US" sz="1600">
                  <a:solidFill>
                    <a:srgbClr val="94A3B8"/>
                  </a:solidFill>
                  <a:latin typeface="Poppins"/>
                  <a:ea typeface="Poppins"/>
                  <a:cs typeface="Poppins"/>
                  <a:sym typeface="Poppins"/>
                </a:rPr>
                <a:t>(15%)</a:t>
              </a:r>
              <a:endParaRPr b="0" sz="16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256" name="Google Shape;256;p26"/>
          <p:cNvGrpSpPr/>
          <p:nvPr/>
        </p:nvGrpSpPr>
        <p:grpSpPr>
          <a:xfrm>
            <a:off x="6477000" y="3810000"/>
            <a:ext cx="4229100" cy="304800"/>
            <a:chOff x="0" y="0"/>
            <a:chExt cx="4229100" cy="304800"/>
          </a:xfrm>
        </p:grpSpPr>
        <p:sp>
          <p:nvSpPr>
            <p:cNvPr id="257" name="Google Shape;257;p26"/>
            <p:cNvSpPr/>
            <p:nvPr/>
          </p:nvSpPr>
          <p:spPr>
            <a:xfrm>
              <a:off x="0" y="38100"/>
              <a:ext cx="228600" cy="228600"/>
            </a:xfrm>
            <a:prstGeom prst="roundRect">
              <a:avLst>
                <a:gd fmla="val 25000" name="adj"/>
              </a:avLst>
            </a:prstGeom>
            <a:solidFill>
              <a:srgbClr val="94A3B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6"/>
            <p:cNvSpPr txBox="1"/>
            <p:nvPr/>
          </p:nvSpPr>
          <p:spPr>
            <a:xfrm>
              <a:off x="419100" y="0"/>
              <a:ext cx="3810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Testing Data </a:t>
              </a:r>
              <a:r>
                <a:rPr b="0" lang="en-US" sz="1600">
                  <a:solidFill>
                    <a:srgbClr val="94A3B8"/>
                  </a:solidFill>
                  <a:latin typeface="Poppins"/>
                  <a:ea typeface="Poppins"/>
                  <a:cs typeface="Poppins"/>
                  <a:sym typeface="Poppins"/>
                </a:rPr>
                <a:t>(15%)</a:t>
              </a:r>
              <a:endParaRPr b="0" sz="16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7"/>
          <p:cNvSpPr txBox="1"/>
          <p:nvPr/>
        </p:nvSpPr>
        <p:spPr>
          <a:xfrm>
            <a:off x="1009650" y="2938462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Decision Trees &amp; Forests: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Great for tabular data, capturing non-linear relationships with high interpretability.</a:t>
            </a:r>
            <a:endParaRPr/>
          </a:p>
        </p:txBody>
      </p:sp>
      <p:sp>
        <p:nvSpPr>
          <p:cNvPr id="264" name="Google Shape;264;p27"/>
          <p:cNvSpPr txBox="1"/>
          <p:nvPr/>
        </p:nvSpPr>
        <p:spPr>
          <a:xfrm>
            <a:off x="1009650" y="3433762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Linear/Logistic Regression: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Excellent baselines for continuous prediction or binary classification tasks.</a:t>
            </a:r>
            <a:endParaRPr/>
          </a:p>
        </p:txBody>
      </p:sp>
      <p:sp>
        <p:nvSpPr>
          <p:cNvPr id="265" name="Google Shape;265;p27"/>
          <p:cNvSpPr txBox="1"/>
          <p:nvPr/>
        </p:nvSpPr>
        <p:spPr>
          <a:xfrm>
            <a:off x="1009650" y="3929062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Neural Networks: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Ideal for complex unstructured data like images, audio, and natural language text.</a:t>
            </a:r>
            <a:endParaRPr/>
          </a:p>
        </p:txBody>
      </p:sp>
      <p:sp>
        <p:nvSpPr>
          <p:cNvPr id="266" name="Google Shape;266;p27"/>
          <p:cNvSpPr txBox="1"/>
          <p:nvPr/>
        </p:nvSpPr>
        <p:spPr>
          <a:xfrm>
            <a:off x="1009650" y="4424362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Ensemble Methods: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Combining multiple weak models (e.g., Gradient Boosting) to create a highly accurate strong learner.</a:t>
            </a:r>
            <a:endParaRPr/>
          </a:p>
        </p:txBody>
      </p:sp>
      <p:pic>
        <p:nvPicPr>
          <p:cNvPr descr="image.png" id="267" name="Google Shape;26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971800"/>
            <a:ext cx="2762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467100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962400"/>
            <a:ext cx="3143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457700"/>
            <a:ext cx="27622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7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Model Selection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8"/>
          <p:cNvSpPr txBox="1"/>
          <p:nvPr/>
        </p:nvSpPr>
        <p:spPr>
          <a:xfrm>
            <a:off x="581025" y="581025"/>
            <a:ext cx="5190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Model Training</a:t>
            </a:r>
            <a:endParaRPr/>
          </a:p>
        </p:txBody>
      </p:sp>
      <p:pic>
        <p:nvPicPr>
          <p:cNvPr descr="A glowing 3D artificial intelligence digital brain network with interconnected neural nodes, glowing cyan and blue light streams, complex machine learning circuitry visualization, dark aesthetic presentation style." id="277" name="Google Shape;277;p28"/>
          <p:cNvPicPr preferRelativeResize="0"/>
          <p:nvPr/>
        </p:nvPicPr>
        <p:blipFill rotWithShape="1">
          <a:blip r:embed="rId3">
            <a:alphaModFix/>
          </a:blip>
          <a:srcRect b="1635" l="0" r="0" t="1644"/>
          <a:stretch/>
        </p:blipFill>
        <p:spPr>
          <a:xfrm>
            <a:off x="6096000" y="762000"/>
            <a:ext cx="5514900" cy="5334000"/>
          </a:xfrm>
          <a:prstGeom prst="roundRect">
            <a:avLst>
              <a:gd fmla="val 2857" name="adj"/>
            </a:avLst>
          </a:prstGeom>
          <a:noFill/>
          <a:ln>
            <a:noFill/>
          </a:ln>
        </p:spPr>
      </p:pic>
      <p:sp>
        <p:nvSpPr>
          <p:cNvPr id="278" name="Google Shape;278;p28"/>
          <p:cNvSpPr txBox="1"/>
          <p:nvPr/>
        </p:nvSpPr>
        <p:spPr>
          <a:xfrm>
            <a:off x="581025" y="3024187"/>
            <a:ext cx="4943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chosen algorithm is fed the prepared training data to learn underlying patterns and relationships.</a:t>
            </a:r>
            <a:endParaRPr/>
          </a:p>
        </p:txBody>
      </p:sp>
      <p:sp>
        <p:nvSpPr>
          <p:cNvPr id="279" name="Google Shape;279;p28"/>
          <p:cNvSpPr txBox="1"/>
          <p:nvPr/>
        </p:nvSpPr>
        <p:spPr>
          <a:xfrm>
            <a:off x="581025" y="3776662"/>
            <a:ext cx="49434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This phase is computationally intensive. The model adjusts its internal weights iteratively to minimize the error between its predictions and actual targets.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4" name="Google Shape;28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557462"/>
            <a:ext cx="527685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5" name="Google Shape;28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557462"/>
            <a:ext cx="527685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9"/>
          <p:cNvSpPr txBox="1"/>
          <p:nvPr/>
        </p:nvSpPr>
        <p:spPr>
          <a:xfrm>
            <a:off x="971550" y="2947987"/>
            <a:ext cx="472059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The Training Phase</a:t>
            </a:r>
            <a:endParaRPr/>
          </a:p>
        </p:txBody>
      </p:sp>
      <p:sp>
        <p:nvSpPr>
          <p:cNvPr id="287" name="Google Shape;287;p29"/>
          <p:cNvSpPr txBox="1"/>
          <p:nvPr/>
        </p:nvSpPr>
        <p:spPr>
          <a:xfrm>
            <a:off x="971550" y="3548062"/>
            <a:ext cx="4495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model actively learns from this data. It minimizes a loss function by comparing its predictions to the ground truth. Over-optimizing here leads to memorization rather than generalization.</a:t>
            </a:r>
            <a:endParaRPr/>
          </a:p>
        </p:txBody>
      </p:sp>
      <p:sp>
        <p:nvSpPr>
          <p:cNvPr id="288" name="Google Shape;288;p29"/>
          <p:cNvSpPr txBox="1"/>
          <p:nvPr/>
        </p:nvSpPr>
        <p:spPr>
          <a:xfrm>
            <a:off x="6724650" y="2947987"/>
            <a:ext cx="472059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The Validation Phase</a:t>
            </a:r>
            <a:endParaRPr/>
          </a:p>
        </p:txBody>
      </p:sp>
      <p:sp>
        <p:nvSpPr>
          <p:cNvPr id="289" name="Google Shape;289;p29"/>
          <p:cNvSpPr txBox="1"/>
          <p:nvPr/>
        </p:nvSpPr>
        <p:spPr>
          <a:xfrm>
            <a:off x="6724650" y="3548062"/>
            <a:ext cx="4495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Used to tune the model's architecture. The model does not learn from this data; instead, we use it to check performance and adjust hyperparameter settings to prevent overfitting.</a:t>
            </a:r>
            <a:endParaRPr/>
          </a:p>
        </p:txBody>
      </p:sp>
      <p:sp>
        <p:nvSpPr>
          <p:cNvPr id="290" name="Google Shape;290;p29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Training vs. Validation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0"/>
          <p:cNvSpPr txBox="1"/>
          <p:nvPr/>
        </p:nvSpPr>
        <p:spPr>
          <a:xfrm>
            <a:off x="1009650" y="2938462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Accuracy: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The percentage of total correct predictions. Can be misleading if dataset classes are heavily imbalanced.</a:t>
            </a:r>
            <a:endParaRPr/>
          </a:p>
        </p:txBody>
      </p:sp>
      <p:sp>
        <p:nvSpPr>
          <p:cNvPr id="296" name="Google Shape;296;p30"/>
          <p:cNvSpPr txBox="1"/>
          <p:nvPr/>
        </p:nvSpPr>
        <p:spPr>
          <a:xfrm>
            <a:off x="1009650" y="3433762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Precision: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Out of all positive predictions made, how many were actually correct? Crucial when false positives are costly.</a:t>
            </a:r>
            <a:endParaRPr/>
          </a:p>
        </p:txBody>
      </p:sp>
      <p:sp>
        <p:nvSpPr>
          <p:cNvPr id="297" name="Google Shape;297;p30"/>
          <p:cNvSpPr txBox="1"/>
          <p:nvPr/>
        </p:nvSpPr>
        <p:spPr>
          <a:xfrm>
            <a:off x="1009650" y="3929062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Recall (Sensitivity):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Out of all actual positive cases, how many did the model find? Crucial when false negatives are dangerous.</a:t>
            </a:r>
            <a:endParaRPr/>
          </a:p>
        </p:txBody>
      </p:sp>
      <p:sp>
        <p:nvSpPr>
          <p:cNvPr id="298" name="Google Shape;298;p30"/>
          <p:cNvSpPr txBox="1"/>
          <p:nvPr/>
        </p:nvSpPr>
        <p:spPr>
          <a:xfrm>
            <a:off x="1009650" y="4424362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F1-Score: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The harmonic mean of Precision and Recall, providing a single metric that balances both concerns.</a:t>
            </a:r>
            <a:endParaRPr/>
          </a:p>
        </p:txBody>
      </p:sp>
      <p:pic>
        <p:nvPicPr>
          <p:cNvPr descr="image.png" id="299" name="Google Shape;29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971800"/>
            <a:ext cx="2190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467100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1" name="Google Shape;301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962400"/>
            <a:ext cx="2190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2" name="Google Shape;302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457700"/>
            <a:ext cx="31432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Model Evaluation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8" name="Google Shape;30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581150"/>
            <a:ext cx="11029950" cy="4695825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31"/>
          <p:cNvSpPr txBox="1"/>
          <p:nvPr/>
        </p:nvSpPr>
        <p:spPr>
          <a:xfrm>
            <a:off x="1809750" y="4933950"/>
            <a:ext cx="857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Example: A fraud detection model might boast 95% accuracy by simply guessing "Not Fraud" every time, but Precision and F1-Score reveal its true failure to detect actual fraud.</a:t>
            </a:r>
            <a:endParaRPr/>
          </a:p>
        </p:txBody>
      </p:sp>
      <p:sp>
        <p:nvSpPr>
          <p:cNvPr id="310" name="Google Shape;310;p31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Evaluating Imbalanced Data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2"/>
          <p:cNvSpPr/>
          <p:nvPr/>
        </p:nvSpPr>
        <p:spPr>
          <a:xfrm>
            <a:off x="581025" y="1565969"/>
            <a:ext cx="11029950" cy="4726185"/>
          </a:xfrm>
          <a:prstGeom prst="roundRect">
            <a:avLst>
              <a:gd fmla="val 0" name="adj"/>
            </a:avLst>
          </a:prstGeom>
          <a:solidFill>
            <a:srgbClr val="1E293B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6" name="Google Shape;316;p32"/>
          <p:cNvGraphicFramePr/>
          <p:nvPr/>
        </p:nvGraphicFramePr>
        <p:xfrm>
          <a:off x="581025" y="15659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{B3BB4487-84C8-4384-947F-7D79ACCE756E}</a:tableStyleId>
              </a:tblPr>
              <a:tblGrid>
                <a:gridCol w="2607925"/>
                <a:gridCol w="4263475"/>
                <a:gridCol w="4158550"/>
              </a:tblGrid>
              <a:tr h="94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06B6D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Metric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06B6D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Definition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06B6D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Interpretation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94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MAE (Mean Absolute Error)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Average of absolute differences between prediction and actual.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Highly interpretable; shows average error in original units.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4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MSE (Mean Squared Error)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Average of squared differences.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Heavily penalizes large errors/outliers due to squaring.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4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RMSE (Root Mean Squared Error)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Square root of MSE.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Penalizes large errors but returns to original data units.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4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R-Squared (R²)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Proportion of variance explained by the model.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Scores from 0 to 1; higher indicates better fit to the data.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7" name="Google Shape;317;p32"/>
          <p:cNvSpPr/>
          <p:nvPr/>
        </p:nvSpPr>
        <p:spPr>
          <a:xfrm>
            <a:off x="581025" y="2272605"/>
            <a:ext cx="2607915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32"/>
          <p:cNvSpPr/>
          <p:nvPr/>
        </p:nvSpPr>
        <p:spPr>
          <a:xfrm>
            <a:off x="3188940" y="2272605"/>
            <a:ext cx="4263479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2"/>
          <p:cNvSpPr/>
          <p:nvPr/>
        </p:nvSpPr>
        <p:spPr>
          <a:xfrm>
            <a:off x="7452419" y="2272605"/>
            <a:ext cx="4158555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2"/>
          <p:cNvSpPr/>
          <p:nvPr/>
        </p:nvSpPr>
        <p:spPr>
          <a:xfrm>
            <a:off x="581025" y="3287017"/>
            <a:ext cx="260791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32"/>
          <p:cNvSpPr/>
          <p:nvPr/>
        </p:nvSpPr>
        <p:spPr>
          <a:xfrm>
            <a:off x="3188940" y="3287017"/>
            <a:ext cx="426347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2"/>
          <p:cNvSpPr/>
          <p:nvPr/>
        </p:nvSpPr>
        <p:spPr>
          <a:xfrm>
            <a:off x="7452419" y="3287017"/>
            <a:ext cx="415855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32"/>
          <p:cNvSpPr/>
          <p:nvPr/>
        </p:nvSpPr>
        <p:spPr>
          <a:xfrm>
            <a:off x="581025" y="4287142"/>
            <a:ext cx="260791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2"/>
          <p:cNvSpPr/>
          <p:nvPr/>
        </p:nvSpPr>
        <p:spPr>
          <a:xfrm>
            <a:off x="3188940" y="4287142"/>
            <a:ext cx="426347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32"/>
          <p:cNvSpPr/>
          <p:nvPr/>
        </p:nvSpPr>
        <p:spPr>
          <a:xfrm>
            <a:off x="7452419" y="4287142"/>
            <a:ext cx="415855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2"/>
          <p:cNvSpPr/>
          <p:nvPr/>
        </p:nvSpPr>
        <p:spPr>
          <a:xfrm>
            <a:off x="581025" y="5287267"/>
            <a:ext cx="260791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32"/>
          <p:cNvSpPr/>
          <p:nvPr/>
        </p:nvSpPr>
        <p:spPr>
          <a:xfrm>
            <a:off x="3188940" y="5287267"/>
            <a:ext cx="426347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2"/>
          <p:cNvSpPr/>
          <p:nvPr/>
        </p:nvSpPr>
        <p:spPr>
          <a:xfrm>
            <a:off x="7452419" y="5287267"/>
            <a:ext cx="415855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2"/>
          <p:cNvSpPr txBox="1"/>
          <p:nvPr/>
        </p:nvSpPr>
        <p:spPr>
          <a:xfrm>
            <a:off x="581025" y="565844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Regression Metrics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4" name="Google Shape;33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238375"/>
            <a:ext cx="3422600" cy="3381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5" name="Google Shape;335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4625" y="2238375"/>
            <a:ext cx="3422600" cy="3381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6" name="Google Shape;336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88225" y="2238375"/>
            <a:ext cx="3422600" cy="3381375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33"/>
          <p:cNvSpPr txBox="1"/>
          <p:nvPr/>
        </p:nvSpPr>
        <p:spPr>
          <a:xfrm>
            <a:off x="923925" y="3314700"/>
            <a:ext cx="2873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What are they?</a:t>
            </a:r>
            <a:endParaRPr/>
          </a:p>
        </p:txBody>
      </p:sp>
      <p:sp>
        <p:nvSpPr>
          <p:cNvPr id="338" name="Google Shape;338;p33"/>
          <p:cNvSpPr txBox="1"/>
          <p:nvPr/>
        </p:nvSpPr>
        <p:spPr>
          <a:xfrm>
            <a:off x="923925" y="3914775"/>
            <a:ext cx="2736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Settings configured before training begins (e.g., learning rate, max tree depth) that control the learning process itself.</a:t>
            </a:r>
            <a:endParaRPr/>
          </a:p>
        </p:txBody>
      </p:sp>
      <p:sp>
        <p:nvSpPr>
          <p:cNvPr id="339" name="Google Shape;339;p33"/>
          <p:cNvSpPr txBox="1"/>
          <p:nvPr/>
        </p:nvSpPr>
        <p:spPr>
          <a:xfrm>
            <a:off x="4727525" y="3314700"/>
            <a:ext cx="2873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The Goal</a:t>
            </a:r>
            <a:endParaRPr/>
          </a:p>
        </p:txBody>
      </p:sp>
      <p:sp>
        <p:nvSpPr>
          <p:cNvPr id="340" name="Google Shape;340;p33"/>
          <p:cNvSpPr txBox="1"/>
          <p:nvPr/>
        </p:nvSpPr>
        <p:spPr>
          <a:xfrm>
            <a:off x="4727525" y="3914775"/>
            <a:ext cx="2736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To find the optimal combination of these settings that yields the highest performance on the validation dataset.</a:t>
            </a:r>
            <a:endParaRPr/>
          </a:p>
        </p:txBody>
      </p:sp>
      <p:sp>
        <p:nvSpPr>
          <p:cNvPr id="341" name="Google Shape;341;p33"/>
          <p:cNvSpPr txBox="1"/>
          <p:nvPr/>
        </p:nvSpPr>
        <p:spPr>
          <a:xfrm>
            <a:off x="8531125" y="3314700"/>
            <a:ext cx="2873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Automation</a:t>
            </a:r>
            <a:endParaRPr/>
          </a:p>
        </p:txBody>
      </p:sp>
      <p:sp>
        <p:nvSpPr>
          <p:cNvPr id="342" name="Google Shape;342;p33"/>
          <p:cNvSpPr txBox="1"/>
          <p:nvPr/>
        </p:nvSpPr>
        <p:spPr>
          <a:xfrm>
            <a:off x="8531125" y="3914775"/>
            <a:ext cx="2736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Tuning is automated within the pipeline to iteratively search through parameter spaces without manual guessing.</a:t>
            </a:r>
            <a:endParaRPr/>
          </a:p>
        </p:txBody>
      </p:sp>
      <p:pic>
        <p:nvPicPr>
          <p:cNvPr descr="image.png" id="343" name="Google Shape;343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3925" y="26289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4" name="Google Shape;344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27525" y="262890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5" name="Google Shape;345;p3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31125" y="2628900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3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Hyperparameter Tuning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1" name="Google Shape;35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405062"/>
            <a:ext cx="5276850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2" name="Google Shape;352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405062"/>
            <a:ext cx="5276850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34"/>
          <p:cNvSpPr txBox="1"/>
          <p:nvPr/>
        </p:nvSpPr>
        <p:spPr>
          <a:xfrm>
            <a:off x="971550" y="2795587"/>
            <a:ext cx="472059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Grid Search</a:t>
            </a:r>
            <a:endParaRPr/>
          </a:p>
        </p:txBody>
      </p:sp>
      <p:sp>
        <p:nvSpPr>
          <p:cNvPr id="354" name="Google Shape;354;p34"/>
          <p:cNvSpPr txBox="1"/>
          <p:nvPr/>
        </p:nvSpPr>
        <p:spPr>
          <a:xfrm>
            <a:off x="971550" y="3395662"/>
            <a:ext cx="44958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Exhaustively tests every single possible combination of predefined hyperparameters. It guarantees finding the best combination within the grid but is incredibly slow and computationally expensive for large parameter spaces.</a:t>
            </a:r>
            <a:endParaRPr/>
          </a:p>
        </p:txBody>
      </p:sp>
      <p:sp>
        <p:nvSpPr>
          <p:cNvPr id="355" name="Google Shape;355;p34"/>
          <p:cNvSpPr txBox="1"/>
          <p:nvPr/>
        </p:nvSpPr>
        <p:spPr>
          <a:xfrm>
            <a:off x="6724650" y="2795587"/>
            <a:ext cx="472059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Random Search</a:t>
            </a:r>
            <a:endParaRPr/>
          </a:p>
        </p:txBody>
      </p:sp>
      <p:sp>
        <p:nvSpPr>
          <p:cNvPr id="356" name="Google Shape;356;p34"/>
          <p:cNvSpPr txBox="1"/>
          <p:nvPr/>
        </p:nvSpPr>
        <p:spPr>
          <a:xfrm>
            <a:off x="6724650" y="3395662"/>
            <a:ext cx="4495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Tests a random sampling of hyperparameter combinations within defined ranges. It is significantly faster and often finds a near-optimal solution with a fraction of the computational cost.</a:t>
            </a:r>
            <a:endParaRPr/>
          </a:p>
        </p:txBody>
      </p:sp>
      <p:sp>
        <p:nvSpPr>
          <p:cNvPr id="357" name="Google Shape;357;p34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Grid vs. Random Search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5"/>
          <p:cNvSpPr txBox="1"/>
          <p:nvPr/>
        </p:nvSpPr>
        <p:spPr>
          <a:xfrm>
            <a:off x="1009650" y="2938462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The standard: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Scikit-learn provides a built-in `Pipeline` class to chain data transformations and estimators.</a:t>
            </a:r>
            <a:endParaRPr/>
          </a:p>
        </p:txBody>
      </p:sp>
      <p:sp>
        <p:nvSpPr>
          <p:cNvPr id="363" name="Google Shape;363;p35"/>
          <p:cNvSpPr txBox="1"/>
          <p:nvPr/>
        </p:nvSpPr>
        <p:spPr>
          <a:xfrm>
            <a:off x="1009650" y="3433762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Chaining: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Output of one step (e.g., Imputer) automatically becomes the input to the next (e.g., Scaler).</a:t>
            </a:r>
            <a:endParaRPr/>
          </a:p>
        </p:txBody>
      </p:sp>
      <p:sp>
        <p:nvSpPr>
          <p:cNvPr id="364" name="Google Shape;364;p35"/>
          <p:cNvSpPr txBox="1"/>
          <p:nvPr/>
        </p:nvSpPr>
        <p:spPr>
          <a:xfrm>
            <a:off x="1009650" y="3929062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Prevents Data Leakage: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Ensures transformations like scaling are only fit on training data, never on test data.</a:t>
            </a:r>
            <a:endParaRPr/>
          </a:p>
        </p:txBody>
      </p:sp>
      <p:sp>
        <p:nvSpPr>
          <p:cNvPr id="365" name="Google Shape;365;p35"/>
          <p:cNvSpPr txBox="1"/>
          <p:nvPr/>
        </p:nvSpPr>
        <p:spPr>
          <a:xfrm>
            <a:off x="1009650" y="4424362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Clean Code: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Calling `.fit()` on the pipeline executes all preprocessing and training steps sequentially.</a:t>
            </a:r>
            <a:endParaRPr/>
          </a:p>
        </p:txBody>
      </p:sp>
      <p:pic>
        <p:nvPicPr>
          <p:cNvPr descr="image.png" id="366" name="Google Shape;36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971800"/>
            <a:ext cx="2190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7" name="Google Shape;367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467100"/>
            <a:ext cx="3143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8" name="Google Shape;368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962400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9" name="Google Shape;369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457700"/>
            <a:ext cx="31432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5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Scikit-Learn Pipelines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6"/>
          <p:cNvSpPr txBox="1"/>
          <p:nvPr/>
        </p:nvSpPr>
        <p:spPr>
          <a:xfrm>
            <a:off x="581025" y="2957512"/>
            <a:ext cx="52768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/>
          </a:p>
        </p:txBody>
      </p:sp>
      <p:sp>
        <p:nvSpPr>
          <p:cNvPr id="376" name="Google Shape;376;p36"/>
          <p:cNvSpPr txBox="1"/>
          <p:nvPr/>
        </p:nvSpPr>
        <p:spPr>
          <a:xfrm>
            <a:off x="581025" y="4576762"/>
            <a:ext cx="52768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Interactive Session</a:t>
            </a:r>
            <a:endParaRPr/>
          </a:p>
        </p:txBody>
      </p:sp>
      <p:sp>
        <p:nvSpPr>
          <p:cNvPr id="377" name="Google Shape;377;p36"/>
          <p:cNvSpPr txBox="1"/>
          <p:nvPr/>
        </p:nvSpPr>
        <p:spPr>
          <a:xfrm>
            <a:off x="6334125" y="2947987"/>
            <a:ext cx="55406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Building an End-to-End Pipeline</a:t>
            </a:r>
            <a:endParaRPr/>
          </a:p>
        </p:txBody>
      </p:sp>
      <p:sp>
        <p:nvSpPr>
          <p:cNvPr id="378" name="Google Shape;378;p36"/>
          <p:cNvSpPr txBox="1"/>
          <p:nvPr/>
        </p:nvSpPr>
        <p:spPr>
          <a:xfrm>
            <a:off x="6334125" y="3548062"/>
            <a:ext cx="52768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 this lab, you will construct a fully functional Scikit-Learn pipeline. You will handle missing values, encode categories, scale numerical features, and train a Random Forest model on the Titanic dataset, entirely in code.</a:t>
            </a:r>
            <a:endParaRPr/>
          </a:p>
        </p:txBody>
      </p:sp>
      <p:sp>
        <p:nvSpPr>
          <p:cNvPr id="379" name="Google Shape;379;p36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Hands-on Lab 1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7"/>
          <p:cNvSpPr txBox="1"/>
          <p:nvPr/>
        </p:nvSpPr>
        <p:spPr>
          <a:xfrm>
            <a:off x="305276" y="2401192"/>
            <a:ext cx="11581447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End of Session 1</a:t>
            </a:r>
            <a:endParaRPr/>
          </a:p>
        </p:txBody>
      </p:sp>
      <p:sp>
        <p:nvSpPr>
          <p:cNvPr id="385" name="Google Shape;385;p37"/>
          <p:cNvSpPr txBox="1"/>
          <p:nvPr/>
        </p:nvSpPr>
        <p:spPr>
          <a:xfrm>
            <a:off x="581025" y="3887092"/>
            <a:ext cx="1102995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Questions? Break Time.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8"/>
          <p:cNvSpPr/>
          <p:nvPr/>
        </p:nvSpPr>
        <p:spPr>
          <a:xfrm>
            <a:off x="5524500" y="2669827"/>
            <a:ext cx="1143000" cy="571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38"/>
          <p:cNvSpPr txBox="1"/>
          <p:nvPr/>
        </p:nvSpPr>
        <p:spPr>
          <a:xfrm>
            <a:off x="550306" y="3012727"/>
            <a:ext cx="11091386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Session 2: Advanced Architecture</a:t>
            </a:r>
            <a:endParaRPr/>
          </a:p>
        </p:txBody>
      </p:sp>
      <p:sp>
        <p:nvSpPr>
          <p:cNvPr id="392" name="Google Shape;392;p38"/>
          <p:cNvSpPr txBox="1"/>
          <p:nvPr/>
        </p:nvSpPr>
        <p:spPr>
          <a:xfrm>
            <a:off x="4105275" y="4108102"/>
            <a:ext cx="39814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MLOps, CI/CD, and Production Pipelines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9"/>
          <p:cNvSpPr txBox="1"/>
          <p:nvPr/>
        </p:nvSpPr>
        <p:spPr>
          <a:xfrm>
            <a:off x="1009650" y="2938462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Definition: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Machine Learning Operations (MLOps) is the standardization of ML lifecycle management.</a:t>
            </a:r>
            <a:endParaRPr/>
          </a:p>
        </p:txBody>
      </p:sp>
      <p:sp>
        <p:nvSpPr>
          <p:cNvPr id="398" name="Google Shape;398;p39"/>
          <p:cNvSpPr txBox="1"/>
          <p:nvPr/>
        </p:nvSpPr>
        <p:spPr>
          <a:xfrm>
            <a:off x="1009650" y="3433762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Bridging Teams: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Unites Data Scientists, DevOps, and Software Engineers to deploy models efficiently.</a:t>
            </a:r>
            <a:endParaRPr/>
          </a:p>
        </p:txBody>
      </p:sp>
      <p:sp>
        <p:nvSpPr>
          <p:cNvPr id="399" name="Google Shape;399;p39"/>
          <p:cNvSpPr txBox="1"/>
          <p:nvPr/>
        </p:nvSpPr>
        <p:spPr>
          <a:xfrm>
            <a:off x="1009650" y="3929062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Goal: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Reduce the time from model conception to production deployment while ensuring reliability.</a:t>
            </a:r>
            <a:endParaRPr/>
          </a:p>
        </p:txBody>
      </p:sp>
      <p:sp>
        <p:nvSpPr>
          <p:cNvPr id="400" name="Google Shape;400;p39"/>
          <p:cNvSpPr txBox="1"/>
          <p:nvPr/>
        </p:nvSpPr>
        <p:spPr>
          <a:xfrm>
            <a:off x="1009650" y="4424362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Continuous Cycle: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Focuses heavily on continuous integration, deployment, and automated retraining.</a:t>
            </a:r>
            <a:endParaRPr/>
          </a:p>
        </p:txBody>
      </p:sp>
      <p:pic>
        <p:nvPicPr>
          <p:cNvPr descr="image.png" id="401" name="Google Shape;40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971800"/>
            <a:ext cx="3143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2" name="Google Shape;402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467100"/>
            <a:ext cx="2762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3" name="Google Shape;403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962400"/>
            <a:ext cx="2190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4" name="Google Shape;404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457700"/>
            <a:ext cx="2476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39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Intro to MLOps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0"/>
          <p:cNvSpPr txBox="1"/>
          <p:nvPr/>
        </p:nvSpPr>
        <p:spPr>
          <a:xfrm>
            <a:off x="581025" y="581025"/>
            <a:ext cx="519064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CI/CD for ML</a:t>
            </a:r>
            <a:endParaRPr/>
          </a:p>
        </p:txBody>
      </p:sp>
      <p:pic>
        <p:nvPicPr>
          <p:cNvPr descr="image.png" id="411" name="Google Shape;41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40"/>
          <p:cNvSpPr txBox="1"/>
          <p:nvPr/>
        </p:nvSpPr>
        <p:spPr>
          <a:xfrm>
            <a:off x="581025" y="2871787"/>
            <a:ext cx="49434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Continuous Integration/Deployment is reimagined for ML. Code changes trigger automated testing of both code and model metrics.</a:t>
            </a:r>
            <a:endParaRPr/>
          </a:p>
        </p:txBody>
      </p:sp>
      <p:sp>
        <p:nvSpPr>
          <p:cNvPr id="413" name="Google Shape;413;p40"/>
          <p:cNvSpPr txBox="1"/>
          <p:nvPr/>
        </p:nvSpPr>
        <p:spPr>
          <a:xfrm>
            <a:off x="581025" y="3929062"/>
            <a:ext cx="49434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Models must pass performance gates (e.g., accuracy &gt; 90%) on validation sets before automated deployment to production.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8" name="Google Shape;41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557462"/>
            <a:ext cx="527685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9" name="Google Shape;419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557462"/>
            <a:ext cx="527685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41"/>
          <p:cNvSpPr txBox="1"/>
          <p:nvPr/>
        </p:nvSpPr>
        <p:spPr>
          <a:xfrm>
            <a:off x="971550" y="2947987"/>
            <a:ext cx="472059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Traditional DevOps</a:t>
            </a:r>
            <a:endParaRPr/>
          </a:p>
        </p:txBody>
      </p:sp>
      <p:sp>
        <p:nvSpPr>
          <p:cNvPr id="421" name="Google Shape;421;p41"/>
          <p:cNvSpPr txBox="1"/>
          <p:nvPr/>
        </p:nvSpPr>
        <p:spPr>
          <a:xfrm>
            <a:off x="971550" y="3548062"/>
            <a:ext cx="4495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Focuses on code versioning, unit testing, and deploying static software artifacts. If the code passes tests and compiles, it works as expected. Performance degradation usually implies a hardware issue.</a:t>
            </a:r>
            <a:endParaRPr/>
          </a:p>
        </p:txBody>
      </p:sp>
      <p:sp>
        <p:nvSpPr>
          <p:cNvPr id="422" name="Google Shape;422;p41"/>
          <p:cNvSpPr txBox="1"/>
          <p:nvPr/>
        </p:nvSpPr>
        <p:spPr>
          <a:xfrm>
            <a:off x="6724650" y="2947987"/>
            <a:ext cx="472059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Machine Learning Ops</a:t>
            </a:r>
            <a:endParaRPr/>
          </a:p>
        </p:txBody>
      </p:sp>
      <p:sp>
        <p:nvSpPr>
          <p:cNvPr id="423" name="Google Shape;423;p41"/>
          <p:cNvSpPr txBox="1"/>
          <p:nvPr/>
        </p:nvSpPr>
        <p:spPr>
          <a:xfrm>
            <a:off x="6724650" y="3548062"/>
            <a:ext cx="4495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Focuses on versioning code, data, AND models. A model can "break" silently if real-world data changes, even if the code runs perfectly. Requires constant monitoring of predictive performance.</a:t>
            </a:r>
            <a:endParaRPr/>
          </a:p>
        </p:txBody>
      </p:sp>
      <p:sp>
        <p:nvSpPr>
          <p:cNvPr id="424" name="Google Shape;424;p41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DevOps vs. MLOps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2"/>
          <p:cNvSpPr txBox="1"/>
          <p:nvPr/>
        </p:nvSpPr>
        <p:spPr>
          <a:xfrm>
            <a:off x="581025" y="581025"/>
            <a:ext cx="519064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Version Everything</a:t>
            </a:r>
            <a:endParaRPr/>
          </a:p>
        </p:txBody>
      </p:sp>
      <p:pic>
        <p:nvPicPr>
          <p:cNvPr descr="image.png" id="430" name="Google Shape;430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42"/>
          <p:cNvSpPr txBox="1"/>
          <p:nvPr/>
        </p:nvSpPr>
        <p:spPr>
          <a:xfrm>
            <a:off x="581025" y="3024187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Git handles code, but MLOps requires data and model versioning to ensure reproducibility.</a:t>
            </a:r>
            <a:endParaRPr/>
          </a:p>
        </p:txBody>
      </p:sp>
      <p:sp>
        <p:nvSpPr>
          <p:cNvPr id="432" name="Google Shape;432;p42"/>
          <p:cNvSpPr txBox="1"/>
          <p:nvPr/>
        </p:nvSpPr>
        <p:spPr>
          <a:xfrm>
            <a:off x="581025" y="3776662"/>
            <a:ext cx="49434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Tools like DVC (Data Version Control) and MLflow track exactly which dataset trained which model, maintaining a complete audit trail.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3"/>
          <p:cNvSpPr txBox="1"/>
          <p:nvPr/>
        </p:nvSpPr>
        <p:spPr>
          <a:xfrm>
            <a:off x="1009650" y="2938462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The Silent Killer: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Occurs when data used during inference differs from data used during training.</a:t>
            </a:r>
            <a:endParaRPr/>
          </a:p>
        </p:txBody>
      </p:sp>
      <p:sp>
        <p:nvSpPr>
          <p:cNvPr id="438" name="Google Shape;438;p43"/>
          <p:cNvSpPr txBox="1"/>
          <p:nvPr/>
        </p:nvSpPr>
        <p:spPr>
          <a:xfrm>
            <a:off x="1009650" y="3433762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Causes: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Inconsistent preprocessing logic between the lab and production environments.</a:t>
            </a:r>
            <a:endParaRPr/>
          </a:p>
        </p:txBody>
      </p:sp>
      <p:sp>
        <p:nvSpPr>
          <p:cNvPr id="439" name="Google Shape;439;p43"/>
          <p:cNvSpPr txBox="1"/>
          <p:nvPr/>
        </p:nvSpPr>
        <p:spPr>
          <a:xfrm>
            <a:off x="1009650" y="3929062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Result: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Models perform exceptionally well in testing but fail silently in the real world.</a:t>
            </a:r>
            <a:endParaRPr/>
          </a:p>
        </p:txBody>
      </p:sp>
      <p:sp>
        <p:nvSpPr>
          <p:cNvPr id="440" name="Google Shape;440;p43"/>
          <p:cNvSpPr txBox="1"/>
          <p:nvPr/>
        </p:nvSpPr>
        <p:spPr>
          <a:xfrm>
            <a:off x="1009650" y="4424362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Solution: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Unify feature transformations so the exact same code runs during training and serving.</a:t>
            </a:r>
            <a:endParaRPr/>
          </a:p>
        </p:txBody>
      </p:sp>
      <p:pic>
        <p:nvPicPr>
          <p:cNvPr descr="image.png" id="441" name="Google Shape;44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971800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2" name="Google Shape;442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467100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3" name="Google Shape;443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457700"/>
            <a:ext cx="2476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43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Training-Serving Skew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49" name="Google Shape;449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085975"/>
            <a:ext cx="3422600" cy="3686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0" name="Google Shape;450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4625" y="2085975"/>
            <a:ext cx="3422600" cy="3686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1" name="Google Shape;451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88225" y="2085975"/>
            <a:ext cx="3422600" cy="3686175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44"/>
          <p:cNvSpPr txBox="1"/>
          <p:nvPr/>
        </p:nvSpPr>
        <p:spPr>
          <a:xfrm>
            <a:off x="923925" y="3162300"/>
            <a:ext cx="2873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Centralized</a:t>
            </a:r>
            <a:endParaRPr/>
          </a:p>
        </p:txBody>
      </p:sp>
      <p:sp>
        <p:nvSpPr>
          <p:cNvPr id="453" name="Google Shape;453;p44"/>
          <p:cNvSpPr txBox="1"/>
          <p:nvPr/>
        </p:nvSpPr>
        <p:spPr>
          <a:xfrm>
            <a:off x="923925" y="3762375"/>
            <a:ext cx="27368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 central vault for storing documented, curated, and access-controlled machine learning features across the enterprise.</a:t>
            </a:r>
            <a:endParaRPr/>
          </a:p>
        </p:txBody>
      </p:sp>
      <p:sp>
        <p:nvSpPr>
          <p:cNvPr id="454" name="Google Shape;454;p44"/>
          <p:cNvSpPr txBox="1"/>
          <p:nvPr/>
        </p:nvSpPr>
        <p:spPr>
          <a:xfrm>
            <a:off x="4727525" y="3162300"/>
            <a:ext cx="2873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Consistency</a:t>
            </a:r>
            <a:endParaRPr/>
          </a:p>
        </p:txBody>
      </p:sp>
      <p:sp>
        <p:nvSpPr>
          <p:cNvPr id="455" name="Google Shape;455;p44"/>
          <p:cNvSpPr txBox="1"/>
          <p:nvPr/>
        </p:nvSpPr>
        <p:spPr>
          <a:xfrm>
            <a:off x="4727525" y="3762375"/>
            <a:ext cx="2736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Eliminates training-serving skew by serving the exact same calculated features to both training jobs and real-time APIs.</a:t>
            </a:r>
            <a:endParaRPr/>
          </a:p>
        </p:txBody>
      </p:sp>
      <p:sp>
        <p:nvSpPr>
          <p:cNvPr id="456" name="Google Shape;456;p44"/>
          <p:cNvSpPr txBox="1"/>
          <p:nvPr/>
        </p:nvSpPr>
        <p:spPr>
          <a:xfrm>
            <a:off x="8531125" y="3162300"/>
            <a:ext cx="2873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Reusability</a:t>
            </a:r>
            <a:endParaRPr/>
          </a:p>
        </p:txBody>
      </p:sp>
      <p:sp>
        <p:nvSpPr>
          <p:cNvPr id="457" name="Google Shape;457;p44"/>
          <p:cNvSpPr txBox="1"/>
          <p:nvPr/>
        </p:nvSpPr>
        <p:spPr>
          <a:xfrm>
            <a:off x="8531125" y="3762375"/>
            <a:ext cx="2736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Allows different data science teams to discover and reuse existing features rather than reinventing the wheel.</a:t>
            </a:r>
            <a:endParaRPr/>
          </a:p>
        </p:txBody>
      </p:sp>
      <p:pic>
        <p:nvPicPr>
          <p:cNvPr descr="image.png" id="458" name="Google Shape;458;p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3925" y="247650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9" name="Google Shape;459;p4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27525" y="247650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0" name="Google Shape;460;p4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31125" y="2476500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44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Feature Stores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45"/>
          <p:cNvSpPr txBox="1"/>
          <p:nvPr/>
        </p:nvSpPr>
        <p:spPr>
          <a:xfrm>
            <a:off x="1009650" y="2938462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DAGs: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Pipelines are executed as Directed Acyclic Graphs, ensuring steps run in the correct order.</a:t>
            </a:r>
            <a:endParaRPr/>
          </a:p>
        </p:txBody>
      </p:sp>
      <p:sp>
        <p:nvSpPr>
          <p:cNvPr id="467" name="Google Shape;467;p45"/>
          <p:cNvSpPr txBox="1"/>
          <p:nvPr/>
        </p:nvSpPr>
        <p:spPr>
          <a:xfrm>
            <a:off x="1009650" y="3433762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Apache Airflow: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Python-based platform for scheduling and monitoring massive batch data pipelines.</a:t>
            </a:r>
            <a:endParaRPr/>
          </a:p>
        </p:txBody>
      </p:sp>
      <p:sp>
        <p:nvSpPr>
          <p:cNvPr id="468" name="Google Shape;468;p45"/>
          <p:cNvSpPr txBox="1"/>
          <p:nvPr/>
        </p:nvSpPr>
        <p:spPr>
          <a:xfrm>
            <a:off x="1009650" y="3929062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Kubeflow Pipelines: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Kubernetes-native orchestrator specifically built for containerized ML workflows.</a:t>
            </a:r>
            <a:endParaRPr/>
          </a:p>
        </p:txBody>
      </p:sp>
      <p:sp>
        <p:nvSpPr>
          <p:cNvPr id="469" name="Google Shape;469;p45"/>
          <p:cNvSpPr txBox="1"/>
          <p:nvPr/>
        </p:nvSpPr>
        <p:spPr>
          <a:xfrm>
            <a:off x="1009650" y="4424362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Tracking: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These tools provide UI dashboards to monitor pipeline health, retry failures, and track run metadata.</a:t>
            </a:r>
            <a:endParaRPr/>
          </a:p>
        </p:txBody>
      </p:sp>
      <p:pic>
        <p:nvPicPr>
          <p:cNvPr descr="image.png" id="470" name="Google Shape;470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971800"/>
            <a:ext cx="2762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1" name="Google Shape;471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467100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2" name="Google Shape;472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962400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3" name="Google Shape;473;p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457700"/>
            <a:ext cx="2476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45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Orchestration Tools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79" name="Google Shape;47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238375"/>
            <a:ext cx="3422600" cy="3381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0" name="Google Shape;480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4625" y="2238375"/>
            <a:ext cx="3422600" cy="3381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1" name="Google Shape;481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88225" y="2238375"/>
            <a:ext cx="3422600" cy="3381375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46"/>
          <p:cNvSpPr txBox="1"/>
          <p:nvPr/>
        </p:nvSpPr>
        <p:spPr>
          <a:xfrm>
            <a:off x="923925" y="3314700"/>
            <a:ext cx="2873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Docker</a:t>
            </a:r>
            <a:endParaRPr/>
          </a:p>
        </p:txBody>
      </p:sp>
      <p:sp>
        <p:nvSpPr>
          <p:cNvPr id="483" name="Google Shape;483;p46"/>
          <p:cNvSpPr txBox="1"/>
          <p:nvPr/>
        </p:nvSpPr>
        <p:spPr>
          <a:xfrm>
            <a:off x="923925" y="3914775"/>
            <a:ext cx="2736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Packages the ML model, pipeline code, and all system dependencies into a single, portable unit.</a:t>
            </a:r>
            <a:endParaRPr/>
          </a:p>
        </p:txBody>
      </p:sp>
      <p:sp>
        <p:nvSpPr>
          <p:cNvPr id="484" name="Google Shape;484;p46"/>
          <p:cNvSpPr txBox="1"/>
          <p:nvPr/>
        </p:nvSpPr>
        <p:spPr>
          <a:xfrm>
            <a:off x="4727525" y="3314700"/>
            <a:ext cx="2873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Environment</a:t>
            </a:r>
            <a:endParaRPr/>
          </a:p>
        </p:txBody>
      </p:sp>
      <p:sp>
        <p:nvSpPr>
          <p:cNvPr id="485" name="Google Shape;485;p46"/>
          <p:cNvSpPr txBox="1"/>
          <p:nvPr/>
        </p:nvSpPr>
        <p:spPr>
          <a:xfrm>
            <a:off x="4727525" y="3914775"/>
            <a:ext cx="2736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Guarantees that the pipeline runs identically on a developer's laptop as it does in the cloud production server.</a:t>
            </a:r>
            <a:endParaRPr/>
          </a:p>
        </p:txBody>
      </p:sp>
      <p:sp>
        <p:nvSpPr>
          <p:cNvPr id="486" name="Google Shape;486;p46"/>
          <p:cNvSpPr txBox="1"/>
          <p:nvPr/>
        </p:nvSpPr>
        <p:spPr>
          <a:xfrm>
            <a:off x="8531125" y="3314700"/>
            <a:ext cx="2873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Microservices</a:t>
            </a:r>
            <a:endParaRPr/>
          </a:p>
        </p:txBody>
      </p:sp>
      <p:sp>
        <p:nvSpPr>
          <p:cNvPr id="487" name="Google Shape;487;p46"/>
          <p:cNvSpPr txBox="1"/>
          <p:nvPr/>
        </p:nvSpPr>
        <p:spPr>
          <a:xfrm>
            <a:off x="8531125" y="3914775"/>
            <a:ext cx="2736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Enables wrapping the model as a lightweight REST API endpoint, easily consumable by front-end applications.</a:t>
            </a:r>
            <a:endParaRPr/>
          </a:p>
        </p:txBody>
      </p:sp>
      <p:pic>
        <p:nvPicPr>
          <p:cNvPr descr="image.png" id="488" name="Google Shape;488;p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3925" y="262890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9" name="Google Shape;489;p4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27525" y="262890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0" name="Google Shape;490;p4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31125" y="26289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46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Containerization in ML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47"/>
          <p:cNvSpPr txBox="1"/>
          <p:nvPr/>
        </p:nvSpPr>
        <p:spPr>
          <a:xfrm>
            <a:off x="1009650" y="2938462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Orchestrator: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Manages clusters of Docker containers across distributed compute nodes.</a:t>
            </a:r>
            <a:endParaRPr/>
          </a:p>
        </p:txBody>
      </p:sp>
      <p:sp>
        <p:nvSpPr>
          <p:cNvPr id="497" name="Google Shape;497;p47"/>
          <p:cNvSpPr txBox="1"/>
          <p:nvPr/>
        </p:nvSpPr>
        <p:spPr>
          <a:xfrm>
            <a:off x="1009650" y="3433762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Auto-Scaling: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Automatically spins up extra servers during peak inference traffic and scales down to save costs.</a:t>
            </a:r>
            <a:endParaRPr/>
          </a:p>
        </p:txBody>
      </p:sp>
      <p:sp>
        <p:nvSpPr>
          <p:cNvPr id="498" name="Google Shape;498;p47"/>
          <p:cNvSpPr txBox="1"/>
          <p:nvPr/>
        </p:nvSpPr>
        <p:spPr>
          <a:xfrm>
            <a:off x="1009650" y="3929062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GPU Management: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Efficiently allocates specialized hardware (GPUs/TPUs) for intensive training jobs.</a:t>
            </a:r>
            <a:endParaRPr/>
          </a:p>
        </p:txBody>
      </p:sp>
      <p:sp>
        <p:nvSpPr>
          <p:cNvPr id="499" name="Google Shape;499;p47"/>
          <p:cNvSpPr txBox="1"/>
          <p:nvPr/>
        </p:nvSpPr>
        <p:spPr>
          <a:xfrm>
            <a:off x="1009650" y="4424362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High Availability: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Ensures models stay online by automatically restarting failed containers and balancing load.</a:t>
            </a:r>
            <a:endParaRPr/>
          </a:p>
        </p:txBody>
      </p:sp>
      <p:pic>
        <p:nvPicPr>
          <p:cNvPr descr="image.png" id="500" name="Google Shape;50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971800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1" name="Google Shape;501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467100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2" name="Google Shape;502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962400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3" name="Google Shape;503;p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457700"/>
            <a:ext cx="2476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7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Kubernetes for ML Workloads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09" name="Google Shape;509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557462"/>
            <a:ext cx="527685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0" name="Google Shape;510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557462"/>
            <a:ext cx="527685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48"/>
          <p:cNvSpPr txBox="1"/>
          <p:nvPr/>
        </p:nvSpPr>
        <p:spPr>
          <a:xfrm>
            <a:off x="971550" y="2947987"/>
            <a:ext cx="472059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Batch Inference</a:t>
            </a:r>
            <a:endParaRPr/>
          </a:p>
        </p:txBody>
      </p:sp>
      <p:sp>
        <p:nvSpPr>
          <p:cNvPr id="512" name="Google Shape;512;p48"/>
          <p:cNvSpPr txBox="1"/>
          <p:nvPr/>
        </p:nvSpPr>
        <p:spPr>
          <a:xfrm>
            <a:off x="971550" y="3548062"/>
            <a:ext cx="4495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Predictions are generated offline on a schedule (e.g., nightly). Suitable for high-volume tasks where latency is not an issue, such as generating weekly customer churn reports or marketing lists.</a:t>
            </a:r>
            <a:endParaRPr/>
          </a:p>
        </p:txBody>
      </p:sp>
      <p:sp>
        <p:nvSpPr>
          <p:cNvPr id="513" name="Google Shape;513;p48"/>
          <p:cNvSpPr txBox="1"/>
          <p:nvPr/>
        </p:nvSpPr>
        <p:spPr>
          <a:xfrm>
            <a:off x="6724650" y="2947987"/>
            <a:ext cx="472059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Real-Time Inference</a:t>
            </a:r>
            <a:endParaRPr/>
          </a:p>
        </p:txBody>
      </p:sp>
      <p:sp>
        <p:nvSpPr>
          <p:cNvPr id="514" name="Google Shape;514;p48"/>
          <p:cNvSpPr txBox="1"/>
          <p:nvPr/>
        </p:nvSpPr>
        <p:spPr>
          <a:xfrm>
            <a:off x="6724650" y="3548062"/>
            <a:ext cx="4495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Predictions are generated instantly as data arrives via an API. Necessary when immediate action is required, such as credit card fraud detection or live website recommendations.</a:t>
            </a:r>
            <a:endParaRPr/>
          </a:p>
        </p:txBody>
      </p:sp>
      <p:sp>
        <p:nvSpPr>
          <p:cNvPr id="515" name="Google Shape;515;p48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Batch vs. Real-Time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9"/>
          <p:cNvSpPr txBox="1"/>
          <p:nvPr/>
        </p:nvSpPr>
        <p:spPr>
          <a:xfrm>
            <a:off x="581025" y="581025"/>
            <a:ext cx="519064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Stream Processing</a:t>
            </a:r>
            <a:endParaRPr/>
          </a:p>
        </p:txBody>
      </p:sp>
      <p:pic>
        <p:nvPicPr>
          <p:cNvPr descr="image.png" id="521" name="Google Shape;52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49"/>
          <p:cNvSpPr txBox="1"/>
          <p:nvPr/>
        </p:nvSpPr>
        <p:spPr>
          <a:xfrm>
            <a:off x="581025" y="3024187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For real-time pipelines, tools like Apache Kafka ingest continuous data streams in milliseconds.</a:t>
            </a:r>
            <a:endParaRPr/>
          </a:p>
        </p:txBody>
      </p:sp>
      <p:sp>
        <p:nvSpPr>
          <p:cNvPr id="523" name="Google Shape;523;p49"/>
          <p:cNvSpPr txBox="1"/>
          <p:nvPr/>
        </p:nvSpPr>
        <p:spPr>
          <a:xfrm>
            <a:off x="581025" y="3776662"/>
            <a:ext cx="49434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Stream processing frameworks apply ML models on-the-fly, enabling instant insights and reactive AI behaviors before the moment passes.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50"/>
          <p:cNvSpPr txBox="1"/>
          <p:nvPr/>
        </p:nvSpPr>
        <p:spPr>
          <a:xfrm>
            <a:off x="1009650" y="2938462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Single Path: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 modern architectural pattern that processes all data (batch and real-time) through a single streaming pipeline.</a:t>
            </a:r>
            <a:endParaRPr/>
          </a:p>
        </p:txBody>
      </p:sp>
      <p:sp>
        <p:nvSpPr>
          <p:cNvPr id="529" name="Google Shape;529;p50"/>
          <p:cNvSpPr txBox="1"/>
          <p:nvPr/>
        </p:nvSpPr>
        <p:spPr>
          <a:xfrm>
            <a:off x="1009650" y="3433762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Event Logs: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Relies on immutable event logs (like Kafka) as the primary source of truth.</a:t>
            </a:r>
            <a:endParaRPr/>
          </a:p>
        </p:txBody>
      </p:sp>
      <p:sp>
        <p:nvSpPr>
          <p:cNvPr id="530" name="Google Shape;530;p50"/>
          <p:cNvSpPr txBox="1"/>
          <p:nvPr/>
        </p:nvSpPr>
        <p:spPr>
          <a:xfrm>
            <a:off x="1009650" y="3929062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Replayability: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Allows developers to "replay" historical data streams to retrain models or test new algorithms.</a:t>
            </a:r>
            <a:endParaRPr/>
          </a:p>
        </p:txBody>
      </p:sp>
      <p:sp>
        <p:nvSpPr>
          <p:cNvPr id="531" name="Google Shape;531;p50"/>
          <p:cNvSpPr txBox="1"/>
          <p:nvPr/>
        </p:nvSpPr>
        <p:spPr>
          <a:xfrm>
            <a:off x="1009650" y="4424362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Simplification: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Avoids the complexity of maintaining separate codebases for batch (Hadoop) and speed (Storm) processing layers.</a:t>
            </a:r>
            <a:endParaRPr/>
          </a:p>
        </p:txBody>
      </p:sp>
      <p:pic>
        <p:nvPicPr>
          <p:cNvPr descr="image.png" id="532" name="Google Shape;532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971800"/>
            <a:ext cx="2190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3" name="Google Shape;533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467100"/>
            <a:ext cx="2190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4" name="Google Shape;534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962400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5" name="Google Shape;535;p5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457700"/>
            <a:ext cx="21907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50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Kappa Architecture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51"/>
          <p:cNvSpPr txBox="1"/>
          <p:nvPr/>
        </p:nvSpPr>
        <p:spPr>
          <a:xfrm>
            <a:off x="581025" y="581025"/>
            <a:ext cx="519064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Model Monitoring</a:t>
            </a:r>
            <a:endParaRPr/>
          </a:p>
        </p:txBody>
      </p:sp>
      <p:sp>
        <p:nvSpPr>
          <p:cNvPr id="542" name="Google Shape;542;p51"/>
          <p:cNvSpPr txBox="1"/>
          <p:nvPr/>
        </p:nvSpPr>
        <p:spPr>
          <a:xfrm>
            <a:off x="581025" y="2871787"/>
            <a:ext cx="49434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Deploying a model is only the beginning. Monitoring systems track prediction accuracy, latency, and system resource usage over time.</a:t>
            </a:r>
            <a:endParaRPr/>
          </a:p>
        </p:txBody>
      </p:sp>
      <p:sp>
        <p:nvSpPr>
          <p:cNvPr id="543" name="Google Shape;543;p51"/>
          <p:cNvSpPr txBox="1"/>
          <p:nvPr/>
        </p:nvSpPr>
        <p:spPr>
          <a:xfrm>
            <a:off x="581025" y="3929062"/>
            <a:ext cx="49434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Custom dashboards surface these metrics, triggering alerts when performance drops below acceptable operational thresholds.</a:t>
            </a:r>
            <a:endParaRPr/>
          </a:p>
        </p:txBody>
      </p:sp>
      <p:pic>
        <p:nvPicPr>
          <p:cNvPr id="544" name="Google Shape;544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1675" y="3296000"/>
            <a:ext cx="6362700" cy="3499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7288" y="-1"/>
            <a:ext cx="5856486" cy="3296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50" name="Google Shape;550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085975"/>
            <a:ext cx="3422600" cy="3686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1" name="Google Shape;551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4625" y="2085975"/>
            <a:ext cx="3422600" cy="3686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2" name="Google Shape;552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88225" y="2085975"/>
            <a:ext cx="3422600" cy="3686175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52"/>
          <p:cNvSpPr txBox="1"/>
          <p:nvPr/>
        </p:nvSpPr>
        <p:spPr>
          <a:xfrm>
            <a:off x="923925" y="3162300"/>
            <a:ext cx="2873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Data Drift</a:t>
            </a:r>
            <a:endParaRPr/>
          </a:p>
        </p:txBody>
      </p:sp>
      <p:sp>
        <p:nvSpPr>
          <p:cNvPr id="554" name="Google Shape;554;p52"/>
          <p:cNvSpPr txBox="1"/>
          <p:nvPr/>
        </p:nvSpPr>
        <p:spPr>
          <a:xfrm>
            <a:off x="923925" y="3762375"/>
            <a:ext cx="27368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statistical distribution of incoming data changes over time. (e.g., a sudden influx of younger users altering demographic inputs).</a:t>
            </a:r>
            <a:endParaRPr/>
          </a:p>
        </p:txBody>
      </p:sp>
      <p:sp>
        <p:nvSpPr>
          <p:cNvPr id="555" name="Google Shape;555;p52"/>
          <p:cNvSpPr txBox="1"/>
          <p:nvPr/>
        </p:nvSpPr>
        <p:spPr>
          <a:xfrm>
            <a:off x="4727525" y="3162300"/>
            <a:ext cx="2873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Concept Drift</a:t>
            </a:r>
            <a:endParaRPr/>
          </a:p>
        </p:txBody>
      </p:sp>
      <p:sp>
        <p:nvSpPr>
          <p:cNvPr id="556" name="Google Shape;556;p52"/>
          <p:cNvSpPr txBox="1"/>
          <p:nvPr/>
        </p:nvSpPr>
        <p:spPr>
          <a:xfrm>
            <a:off x="4727525" y="3762375"/>
            <a:ext cx="27368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relationship between features and the target changes. (e.g., user purchasing habits fundamentally shift post-pandemic).</a:t>
            </a:r>
            <a:endParaRPr/>
          </a:p>
        </p:txBody>
      </p:sp>
      <p:sp>
        <p:nvSpPr>
          <p:cNvPr id="557" name="Google Shape;557;p52"/>
          <p:cNvSpPr txBox="1"/>
          <p:nvPr/>
        </p:nvSpPr>
        <p:spPr>
          <a:xfrm>
            <a:off x="8531125" y="3162300"/>
            <a:ext cx="2873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Detection</a:t>
            </a:r>
            <a:endParaRPr/>
          </a:p>
        </p:txBody>
      </p:sp>
      <p:sp>
        <p:nvSpPr>
          <p:cNvPr id="558" name="Google Shape;558;p52"/>
          <p:cNvSpPr txBox="1"/>
          <p:nvPr/>
        </p:nvSpPr>
        <p:spPr>
          <a:xfrm>
            <a:off x="8531125" y="3762375"/>
            <a:ext cx="2736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Pipelines must implement statistical tests on incoming streams to detect both drifts and trigger retraining automatically.</a:t>
            </a:r>
            <a:endParaRPr/>
          </a:p>
        </p:txBody>
      </p:sp>
      <p:pic>
        <p:nvPicPr>
          <p:cNvPr descr="image.png" id="559" name="Google Shape;559;p5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3925" y="24765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0" name="Google Shape;560;p5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27525" y="24765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1" name="Google Shape;561;p5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31125" y="2476500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52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Data vs. Concept Drift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53"/>
          <p:cNvSpPr/>
          <p:nvPr/>
        </p:nvSpPr>
        <p:spPr>
          <a:xfrm>
            <a:off x="1725587" y="3805237"/>
            <a:ext cx="247650" cy="24765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47625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53"/>
          <p:cNvSpPr/>
          <p:nvPr/>
        </p:nvSpPr>
        <p:spPr>
          <a:xfrm>
            <a:off x="4556596" y="3805237"/>
            <a:ext cx="247650" cy="24765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47625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53"/>
          <p:cNvSpPr/>
          <p:nvPr/>
        </p:nvSpPr>
        <p:spPr>
          <a:xfrm>
            <a:off x="7387604" y="3805237"/>
            <a:ext cx="247650" cy="24765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47625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53"/>
          <p:cNvSpPr/>
          <p:nvPr/>
        </p:nvSpPr>
        <p:spPr>
          <a:xfrm>
            <a:off x="10218613" y="3805237"/>
            <a:ext cx="247650" cy="24765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47625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53"/>
          <p:cNvSpPr/>
          <p:nvPr/>
        </p:nvSpPr>
        <p:spPr>
          <a:xfrm>
            <a:off x="581025" y="3900487"/>
            <a:ext cx="11029950" cy="57150"/>
          </a:xfrm>
          <a:prstGeom prst="roundRect">
            <a:avLst>
              <a:gd fmla="val 50000" name="adj"/>
            </a:avLst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53"/>
          <p:cNvSpPr txBox="1"/>
          <p:nvPr/>
        </p:nvSpPr>
        <p:spPr>
          <a:xfrm>
            <a:off x="517605" y="4262437"/>
            <a:ext cx="266361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1. Monitor</a:t>
            </a:r>
            <a:endParaRPr/>
          </a:p>
        </p:txBody>
      </p:sp>
      <p:sp>
        <p:nvSpPr>
          <p:cNvPr id="573" name="Google Shape;573;p53"/>
          <p:cNvSpPr txBox="1"/>
          <p:nvPr/>
        </p:nvSpPr>
        <p:spPr>
          <a:xfrm>
            <a:off x="581025" y="4862512"/>
            <a:ext cx="25367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System detects data drift or significant accuracy drop.</a:t>
            </a:r>
            <a:endParaRPr/>
          </a:p>
        </p:txBody>
      </p:sp>
      <p:sp>
        <p:nvSpPr>
          <p:cNvPr id="574" name="Google Shape;574;p53"/>
          <p:cNvSpPr txBox="1"/>
          <p:nvPr/>
        </p:nvSpPr>
        <p:spPr>
          <a:xfrm>
            <a:off x="3348614" y="2243137"/>
            <a:ext cx="266361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2. Trigger</a:t>
            </a:r>
            <a:endParaRPr/>
          </a:p>
        </p:txBody>
      </p:sp>
      <p:sp>
        <p:nvSpPr>
          <p:cNvPr id="575" name="Google Shape;575;p53"/>
          <p:cNvSpPr txBox="1"/>
          <p:nvPr/>
        </p:nvSpPr>
        <p:spPr>
          <a:xfrm>
            <a:off x="3412033" y="2843212"/>
            <a:ext cx="25367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Alert triggers the CI/CD pipeline to fetch new data.</a:t>
            </a:r>
            <a:endParaRPr/>
          </a:p>
        </p:txBody>
      </p:sp>
      <p:sp>
        <p:nvSpPr>
          <p:cNvPr id="576" name="Google Shape;576;p53"/>
          <p:cNvSpPr txBox="1"/>
          <p:nvPr/>
        </p:nvSpPr>
        <p:spPr>
          <a:xfrm>
            <a:off x="6179622" y="4262437"/>
            <a:ext cx="266361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3. Train &amp; Test</a:t>
            </a:r>
            <a:endParaRPr/>
          </a:p>
        </p:txBody>
      </p:sp>
      <p:sp>
        <p:nvSpPr>
          <p:cNvPr id="577" name="Google Shape;577;p53"/>
          <p:cNvSpPr txBox="1"/>
          <p:nvPr/>
        </p:nvSpPr>
        <p:spPr>
          <a:xfrm>
            <a:off x="6243042" y="4862512"/>
            <a:ext cx="25367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Challenger model trained and evaluated against Champion.</a:t>
            </a:r>
            <a:endParaRPr/>
          </a:p>
        </p:txBody>
      </p:sp>
      <p:sp>
        <p:nvSpPr>
          <p:cNvPr id="578" name="Google Shape;578;p53"/>
          <p:cNvSpPr txBox="1"/>
          <p:nvPr/>
        </p:nvSpPr>
        <p:spPr>
          <a:xfrm>
            <a:off x="9010631" y="2243137"/>
            <a:ext cx="266361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4. Deploy</a:t>
            </a:r>
            <a:endParaRPr/>
          </a:p>
        </p:txBody>
      </p:sp>
      <p:sp>
        <p:nvSpPr>
          <p:cNvPr id="579" name="Google Shape;579;p53"/>
          <p:cNvSpPr txBox="1"/>
          <p:nvPr/>
        </p:nvSpPr>
        <p:spPr>
          <a:xfrm>
            <a:off x="9074050" y="2843212"/>
            <a:ext cx="25367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If Challenger wins, it replaces Champion seamlessly.</a:t>
            </a:r>
            <a:endParaRPr/>
          </a:p>
        </p:txBody>
      </p:sp>
      <p:sp>
        <p:nvSpPr>
          <p:cNvPr id="580" name="Google Shape;580;p53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Automated Retraining Loop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54"/>
          <p:cNvSpPr txBox="1"/>
          <p:nvPr/>
        </p:nvSpPr>
        <p:spPr>
          <a:xfrm>
            <a:off x="1009650" y="2938462"/>
            <a:ext cx="10601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Massive Data: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When datasets exceed single-machine memory, pipelines must utilize distributed clusters.</a:t>
            </a:r>
            <a:endParaRPr/>
          </a:p>
        </p:txBody>
      </p:sp>
      <p:sp>
        <p:nvSpPr>
          <p:cNvPr id="586" name="Google Shape;586;p54"/>
          <p:cNvSpPr txBox="1"/>
          <p:nvPr/>
        </p:nvSpPr>
        <p:spPr>
          <a:xfrm>
            <a:off x="1009650" y="3433762"/>
            <a:ext cx="10601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Apache Spark: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In-memory processing framework that splits ML tasks across hundreds of nodes (e.g., PySpark MLlib).</a:t>
            </a:r>
            <a:endParaRPr/>
          </a:p>
        </p:txBody>
      </p:sp>
      <p:sp>
        <p:nvSpPr>
          <p:cNvPr id="587" name="Google Shape;587;p54"/>
          <p:cNvSpPr txBox="1"/>
          <p:nvPr/>
        </p:nvSpPr>
        <p:spPr>
          <a:xfrm>
            <a:off x="1009650" y="3929062"/>
            <a:ext cx="10601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Distributed Training: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Frameworks like TensorFlow and PyTorch sync gradients across multiple GPUs to speed up deep learning.</a:t>
            </a:r>
            <a:endParaRPr/>
          </a:p>
        </p:txBody>
      </p:sp>
      <p:sp>
        <p:nvSpPr>
          <p:cNvPr id="588" name="Google Shape;588;p54"/>
          <p:cNvSpPr txBox="1"/>
          <p:nvPr/>
        </p:nvSpPr>
        <p:spPr>
          <a:xfrm>
            <a:off x="1009650" y="4424362"/>
            <a:ext cx="10601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Cloud Services: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Managed services like AWS EMR or Dataproc dynamically provision compute resources on demand.</a:t>
            </a:r>
            <a:endParaRPr/>
          </a:p>
        </p:txBody>
      </p:sp>
      <p:pic>
        <p:nvPicPr>
          <p:cNvPr descr="image.png" id="589" name="Google Shape;589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971800"/>
            <a:ext cx="3143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90" name="Google Shape;590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962400"/>
            <a:ext cx="2762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91" name="Google Shape;591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457700"/>
            <a:ext cx="31432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54"/>
          <p:cNvSpPr txBox="1"/>
          <p:nvPr/>
        </p:nvSpPr>
        <p:spPr>
          <a:xfrm>
            <a:off x="581025" y="581025"/>
            <a:ext cx="1158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Distributed Computing</a:t>
            </a:r>
            <a:endParaRPr/>
          </a:p>
        </p:txBody>
      </p:sp>
      <p:pic>
        <p:nvPicPr>
          <p:cNvPr descr="The official logo of Apache Spark, a stylized starburst or spark icon, vector art, clean web icon, cyan and orange colors, transparent background." id="593" name="Google Shape;593;p5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448050"/>
            <a:ext cx="285900" cy="28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98" name="Google Shape;598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238375"/>
            <a:ext cx="3422600" cy="3381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99" name="Google Shape;599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4625" y="2238375"/>
            <a:ext cx="3422600" cy="3381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00" name="Google Shape;600;p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88225" y="2238375"/>
            <a:ext cx="3422600" cy="3381375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55"/>
          <p:cNvSpPr txBox="1"/>
          <p:nvPr/>
        </p:nvSpPr>
        <p:spPr>
          <a:xfrm>
            <a:off x="923925" y="3314700"/>
            <a:ext cx="2873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Validity</a:t>
            </a:r>
            <a:endParaRPr/>
          </a:p>
        </p:txBody>
      </p:sp>
      <p:sp>
        <p:nvSpPr>
          <p:cNvPr id="602" name="Google Shape;602;p55"/>
          <p:cNvSpPr txBox="1"/>
          <p:nvPr/>
        </p:nvSpPr>
        <p:spPr>
          <a:xfrm>
            <a:off x="923925" y="3914775"/>
            <a:ext cx="2736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Enforcing strict schema rules to ensure data conforms to expected structures before entering the model.</a:t>
            </a:r>
            <a:endParaRPr/>
          </a:p>
        </p:txBody>
      </p:sp>
      <p:sp>
        <p:nvSpPr>
          <p:cNvPr id="603" name="Google Shape;603;p55"/>
          <p:cNvSpPr txBox="1"/>
          <p:nvPr/>
        </p:nvSpPr>
        <p:spPr>
          <a:xfrm>
            <a:off x="4727525" y="3314700"/>
            <a:ext cx="2873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Bias Audits</a:t>
            </a:r>
            <a:endParaRPr/>
          </a:p>
        </p:txBody>
      </p:sp>
      <p:sp>
        <p:nvSpPr>
          <p:cNvPr id="604" name="Google Shape;604;p55"/>
          <p:cNvSpPr txBox="1"/>
          <p:nvPr/>
        </p:nvSpPr>
        <p:spPr>
          <a:xfrm>
            <a:off x="4727525" y="3914775"/>
            <a:ext cx="2736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Continuous cohort analysis to flag underrepresented demographics, ensuring models remain fair and compliant.</a:t>
            </a:r>
            <a:endParaRPr/>
          </a:p>
        </p:txBody>
      </p:sp>
      <p:sp>
        <p:nvSpPr>
          <p:cNvPr id="605" name="Google Shape;605;p55"/>
          <p:cNvSpPr txBox="1"/>
          <p:nvPr/>
        </p:nvSpPr>
        <p:spPr>
          <a:xfrm>
            <a:off x="8531125" y="3314700"/>
            <a:ext cx="2873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Privacy</a:t>
            </a:r>
            <a:endParaRPr/>
          </a:p>
        </p:txBody>
      </p:sp>
      <p:sp>
        <p:nvSpPr>
          <p:cNvPr id="606" name="Google Shape;606;p55"/>
          <p:cNvSpPr txBox="1"/>
          <p:nvPr/>
        </p:nvSpPr>
        <p:spPr>
          <a:xfrm>
            <a:off x="8531125" y="3914775"/>
            <a:ext cx="2736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Masking or hashing personally identifiable information (PII) within the pipeline before persistent storage.</a:t>
            </a:r>
            <a:endParaRPr/>
          </a:p>
        </p:txBody>
      </p:sp>
      <p:pic>
        <p:nvPicPr>
          <p:cNvPr descr="image.png" id="607" name="Google Shape;607;p5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3925" y="26289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08" name="Google Shape;608;p5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27525" y="262890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09" name="Google Shape;609;p5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31125" y="2628900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55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AI Data Quality &amp; Governance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56"/>
          <p:cNvSpPr txBox="1"/>
          <p:nvPr/>
        </p:nvSpPr>
        <p:spPr>
          <a:xfrm>
            <a:off x="581025" y="581025"/>
            <a:ext cx="519064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Cloud ML Architecture</a:t>
            </a:r>
            <a:endParaRPr/>
          </a:p>
        </p:txBody>
      </p:sp>
      <p:pic>
        <p:nvPicPr>
          <p:cNvPr descr="image.png" id="616" name="Google Shape;616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7" name="Google Shape;617;p56"/>
          <p:cNvSpPr txBox="1"/>
          <p:nvPr/>
        </p:nvSpPr>
        <p:spPr>
          <a:xfrm>
            <a:off x="581025" y="2871787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Modern pipelines leverage managed cloud platforms (AWS SageMaker, Azure ML, GCP Vertex AI).</a:t>
            </a:r>
            <a:endParaRPr/>
          </a:p>
        </p:txBody>
      </p:sp>
      <p:sp>
        <p:nvSpPr>
          <p:cNvPr id="618" name="Google Shape;618;p56"/>
          <p:cNvSpPr txBox="1"/>
          <p:nvPr/>
        </p:nvSpPr>
        <p:spPr>
          <a:xfrm>
            <a:off x="581025" y="3624262"/>
            <a:ext cx="49434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These platforms provide end-to-end ecosystems, integrating feature stores, hyperparameter tuning, model registries, and endpoint serving without managing underlying infrastructure.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23" name="Google Shape;623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557462"/>
            <a:ext cx="527685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24" name="Google Shape;624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557462"/>
            <a:ext cx="527685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57"/>
          <p:cNvSpPr txBox="1"/>
          <p:nvPr/>
        </p:nvSpPr>
        <p:spPr>
          <a:xfrm>
            <a:off x="971550" y="2947987"/>
            <a:ext cx="472059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The Problem</a:t>
            </a:r>
            <a:endParaRPr/>
          </a:p>
        </p:txBody>
      </p:sp>
      <p:sp>
        <p:nvSpPr>
          <p:cNvPr id="626" name="Google Shape;626;p57"/>
          <p:cNvSpPr txBox="1"/>
          <p:nvPr/>
        </p:nvSpPr>
        <p:spPr>
          <a:xfrm>
            <a:off x="971550" y="3548062"/>
            <a:ext cx="4495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Manufacturing equipment failures cause expensive unplanned downtime. Maintenance is historically reactive or strictly scheduled based on time, regardless of actual machine health.</a:t>
            </a:r>
            <a:endParaRPr/>
          </a:p>
        </p:txBody>
      </p:sp>
      <p:sp>
        <p:nvSpPr>
          <p:cNvPr id="627" name="Google Shape;627;p57"/>
          <p:cNvSpPr txBox="1"/>
          <p:nvPr/>
        </p:nvSpPr>
        <p:spPr>
          <a:xfrm>
            <a:off x="6724650" y="2947987"/>
            <a:ext cx="472059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Pipeline Solution</a:t>
            </a:r>
            <a:endParaRPr/>
          </a:p>
        </p:txBody>
      </p:sp>
      <p:sp>
        <p:nvSpPr>
          <p:cNvPr id="628" name="Google Shape;628;p57"/>
          <p:cNvSpPr txBox="1"/>
          <p:nvPr/>
        </p:nvSpPr>
        <p:spPr>
          <a:xfrm>
            <a:off x="6724650" y="3548062"/>
            <a:ext cx="4495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Real-time IoT sensor data is ingested. An anomaly detection model monitors vibration/temperature. The pipeline triggers an ERP alert days before a failure, reducing downtime by 40%.</a:t>
            </a:r>
            <a:endParaRPr/>
          </a:p>
        </p:txBody>
      </p:sp>
      <p:sp>
        <p:nvSpPr>
          <p:cNvPr id="629" name="Google Shape;629;p57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Case Study: Maintenance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34" name="Google Shape;634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557462"/>
            <a:ext cx="527685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35" name="Google Shape;635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557462"/>
            <a:ext cx="527685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58"/>
          <p:cNvSpPr txBox="1"/>
          <p:nvPr/>
        </p:nvSpPr>
        <p:spPr>
          <a:xfrm>
            <a:off x="971550" y="2947987"/>
            <a:ext cx="472059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The Challenge</a:t>
            </a:r>
            <a:endParaRPr/>
          </a:p>
        </p:txBody>
      </p:sp>
      <p:sp>
        <p:nvSpPr>
          <p:cNvPr id="637" name="Google Shape;637;p58"/>
          <p:cNvSpPr txBox="1"/>
          <p:nvPr/>
        </p:nvSpPr>
        <p:spPr>
          <a:xfrm>
            <a:off x="971550" y="3548062"/>
            <a:ext cx="4495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Financial institutions must approve or decline transactions within milliseconds. Fraud tactics evolve rapidly, requiring constant model adaptation without halting the payment network.</a:t>
            </a:r>
            <a:endParaRPr/>
          </a:p>
        </p:txBody>
      </p:sp>
      <p:sp>
        <p:nvSpPr>
          <p:cNvPr id="638" name="Google Shape;638;p58"/>
          <p:cNvSpPr txBox="1"/>
          <p:nvPr/>
        </p:nvSpPr>
        <p:spPr>
          <a:xfrm>
            <a:off x="6724650" y="2947987"/>
            <a:ext cx="472059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Pipeline Solution</a:t>
            </a:r>
            <a:endParaRPr/>
          </a:p>
        </p:txBody>
      </p:sp>
      <p:sp>
        <p:nvSpPr>
          <p:cNvPr id="639" name="Google Shape;639;p58"/>
          <p:cNvSpPr txBox="1"/>
          <p:nvPr/>
        </p:nvSpPr>
        <p:spPr>
          <a:xfrm>
            <a:off x="6724650" y="3548062"/>
            <a:ext cx="4495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Streaming data pipelines leverage a feature store to combine transaction data with historical user behavior instantly. Automated retraining loops update the model weekly to combat new fraud patterns.</a:t>
            </a:r>
            <a:endParaRPr/>
          </a:p>
        </p:txBody>
      </p:sp>
      <p:sp>
        <p:nvSpPr>
          <p:cNvPr id="640" name="Google Shape;640;p58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Case Study: Fraud Detection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45" name="Google Shape;645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319807"/>
            <a:ext cx="11029950" cy="5218509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59"/>
          <p:cNvSpPr txBox="1"/>
          <p:nvPr/>
        </p:nvSpPr>
        <p:spPr>
          <a:xfrm>
            <a:off x="1809750" y="5738217"/>
            <a:ext cx="857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Enterprise adoption of automated MLOps pipelines has surged, moving from experimental scripts to critical IT infrastructure.</a:t>
            </a:r>
            <a:endParaRPr/>
          </a:p>
        </p:txBody>
      </p:sp>
      <p:sp>
        <p:nvSpPr>
          <p:cNvPr id="647" name="Google Shape;647;p59"/>
          <p:cNvSpPr txBox="1"/>
          <p:nvPr/>
        </p:nvSpPr>
        <p:spPr>
          <a:xfrm>
            <a:off x="581025" y="319682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MLOps Adoption Growth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60"/>
          <p:cNvSpPr/>
          <p:nvPr/>
        </p:nvSpPr>
        <p:spPr>
          <a:xfrm>
            <a:off x="1725587" y="3805237"/>
            <a:ext cx="247650" cy="24765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47625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60"/>
          <p:cNvSpPr/>
          <p:nvPr/>
        </p:nvSpPr>
        <p:spPr>
          <a:xfrm>
            <a:off x="4556596" y="3805237"/>
            <a:ext cx="247650" cy="24765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47625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60"/>
          <p:cNvSpPr/>
          <p:nvPr/>
        </p:nvSpPr>
        <p:spPr>
          <a:xfrm>
            <a:off x="7387604" y="3805237"/>
            <a:ext cx="247650" cy="24765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47625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60"/>
          <p:cNvSpPr/>
          <p:nvPr/>
        </p:nvSpPr>
        <p:spPr>
          <a:xfrm>
            <a:off x="10218613" y="3805237"/>
            <a:ext cx="247650" cy="24765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47625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60"/>
          <p:cNvSpPr/>
          <p:nvPr/>
        </p:nvSpPr>
        <p:spPr>
          <a:xfrm>
            <a:off x="581025" y="3900487"/>
            <a:ext cx="11029950" cy="57150"/>
          </a:xfrm>
          <a:prstGeom prst="roundRect">
            <a:avLst>
              <a:gd fmla="val 50000" name="adj"/>
            </a:avLst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60"/>
          <p:cNvSpPr txBox="1"/>
          <p:nvPr/>
        </p:nvSpPr>
        <p:spPr>
          <a:xfrm>
            <a:off x="517605" y="4262437"/>
            <a:ext cx="266361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Level 0: Manual</a:t>
            </a:r>
            <a:endParaRPr/>
          </a:p>
        </p:txBody>
      </p:sp>
      <p:sp>
        <p:nvSpPr>
          <p:cNvPr id="658" name="Google Shape;658;p60"/>
          <p:cNvSpPr txBox="1"/>
          <p:nvPr/>
        </p:nvSpPr>
        <p:spPr>
          <a:xfrm>
            <a:off x="581025" y="4862512"/>
            <a:ext cx="25367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Ad-hoc scripts, manual deployment, no automation.</a:t>
            </a:r>
            <a:endParaRPr/>
          </a:p>
        </p:txBody>
      </p:sp>
      <p:sp>
        <p:nvSpPr>
          <p:cNvPr id="659" name="Google Shape;659;p60"/>
          <p:cNvSpPr txBox="1"/>
          <p:nvPr/>
        </p:nvSpPr>
        <p:spPr>
          <a:xfrm>
            <a:off x="3348614" y="2243137"/>
            <a:ext cx="266361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Level 1: Pipeline</a:t>
            </a:r>
            <a:endParaRPr/>
          </a:p>
        </p:txBody>
      </p:sp>
      <p:sp>
        <p:nvSpPr>
          <p:cNvPr id="660" name="Google Shape;660;p60"/>
          <p:cNvSpPr txBox="1"/>
          <p:nvPr/>
        </p:nvSpPr>
        <p:spPr>
          <a:xfrm>
            <a:off x="3412033" y="2843212"/>
            <a:ext cx="25367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Automated training pipelines, manual deployment triggers.</a:t>
            </a:r>
            <a:endParaRPr/>
          </a:p>
        </p:txBody>
      </p:sp>
      <p:sp>
        <p:nvSpPr>
          <p:cNvPr id="661" name="Google Shape;661;p60"/>
          <p:cNvSpPr txBox="1"/>
          <p:nvPr/>
        </p:nvSpPr>
        <p:spPr>
          <a:xfrm>
            <a:off x="6179622" y="4262437"/>
            <a:ext cx="266361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Level 2: CI/CD</a:t>
            </a:r>
            <a:endParaRPr/>
          </a:p>
        </p:txBody>
      </p:sp>
      <p:sp>
        <p:nvSpPr>
          <p:cNvPr id="662" name="Google Shape;662;p60"/>
          <p:cNvSpPr txBox="1"/>
          <p:nvPr/>
        </p:nvSpPr>
        <p:spPr>
          <a:xfrm>
            <a:off x="6243042" y="4862512"/>
            <a:ext cx="25367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Fully automated CI/CD for model testing and deployment.</a:t>
            </a:r>
            <a:endParaRPr/>
          </a:p>
        </p:txBody>
      </p:sp>
      <p:sp>
        <p:nvSpPr>
          <p:cNvPr id="663" name="Google Shape;663;p60"/>
          <p:cNvSpPr txBox="1"/>
          <p:nvPr/>
        </p:nvSpPr>
        <p:spPr>
          <a:xfrm>
            <a:off x="9010631" y="2243137"/>
            <a:ext cx="266361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Level 3: Full Ops</a:t>
            </a:r>
            <a:endParaRPr/>
          </a:p>
        </p:txBody>
      </p:sp>
      <p:sp>
        <p:nvSpPr>
          <p:cNvPr id="664" name="Google Shape;664;p60"/>
          <p:cNvSpPr txBox="1"/>
          <p:nvPr/>
        </p:nvSpPr>
        <p:spPr>
          <a:xfrm>
            <a:off x="9074050" y="2843212"/>
            <a:ext cx="25367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Automated retraining based on real-time drift detection.</a:t>
            </a:r>
            <a:endParaRPr/>
          </a:p>
        </p:txBody>
      </p:sp>
      <p:sp>
        <p:nvSpPr>
          <p:cNvPr id="665" name="Google Shape;665;p60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MLOps Maturity Levels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61"/>
          <p:cNvSpPr txBox="1"/>
          <p:nvPr/>
        </p:nvSpPr>
        <p:spPr>
          <a:xfrm>
            <a:off x="581025" y="2957512"/>
            <a:ext cx="52768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/>
          </a:p>
        </p:txBody>
      </p:sp>
      <p:sp>
        <p:nvSpPr>
          <p:cNvPr id="671" name="Google Shape;671;p61"/>
          <p:cNvSpPr txBox="1"/>
          <p:nvPr/>
        </p:nvSpPr>
        <p:spPr>
          <a:xfrm>
            <a:off x="581025" y="4576762"/>
            <a:ext cx="52768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Interactive Session</a:t>
            </a:r>
            <a:endParaRPr/>
          </a:p>
        </p:txBody>
      </p:sp>
      <p:sp>
        <p:nvSpPr>
          <p:cNvPr id="672" name="Google Shape;672;p61"/>
          <p:cNvSpPr txBox="1"/>
          <p:nvPr/>
        </p:nvSpPr>
        <p:spPr>
          <a:xfrm>
            <a:off x="6334125" y="2947987"/>
            <a:ext cx="55406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Automated CI/CD Simulation</a:t>
            </a:r>
            <a:endParaRPr/>
          </a:p>
        </p:txBody>
      </p:sp>
      <p:sp>
        <p:nvSpPr>
          <p:cNvPr id="673" name="Google Shape;673;p61"/>
          <p:cNvSpPr txBox="1"/>
          <p:nvPr/>
        </p:nvSpPr>
        <p:spPr>
          <a:xfrm>
            <a:off x="6334125" y="3548062"/>
            <a:ext cx="52768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You will design a mock MLOps system. Your code will train a model, evaluate metrics, and programmatically decide whether to promote it to 'Production' based on hard accuracy thresholds, simulating a real-world continuous deployment gate.</a:t>
            </a:r>
            <a:endParaRPr/>
          </a:p>
        </p:txBody>
      </p:sp>
      <p:sp>
        <p:nvSpPr>
          <p:cNvPr id="674" name="Google Shape;674;p61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Hands-on Lab 2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62"/>
          <p:cNvSpPr txBox="1"/>
          <p:nvPr/>
        </p:nvSpPr>
        <p:spPr>
          <a:xfrm>
            <a:off x="305276" y="2153542"/>
            <a:ext cx="11581447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680" name="Google Shape;680;p62"/>
          <p:cNvSpPr txBox="1"/>
          <p:nvPr/>
        </p:nvSpPr>
        <p:spPr>
          <a:xfrm>
            <a:off x="581025" y="3639442"/>
            <a:ext cx="1102995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Thank you for your attention.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