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y="6858000" cx="12192000"/>
  <p:notesSz cx="6858000" cy="9144000"/>
  <p:embeddedFontLst>
    <p:embeddedFont>
      <p:font typeface="DM Sans Medium"/>
      <p:regular r:id="rId37"/>
      <p:bold r:id="rId38"/>
      <p:italic r:id="rId39"/>
      <p:boldItalic r:id="rId40"/>
    </p:embeddedFont>
    <p:embeddedFont>
      <p:font typeface="Merriweather"/>
      <p:regular r:id="rId41"/>
      <p:bold r:id="rId42"/>
      <p:italic r:id="rId43"/>
      <p:boldItalic r:id="rId44"/>
    </p:embeddedFont>
    <p:embeddedFont>
      <p:font typeface="DM Sans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285192-B890-4EE6-8F3A-82CE4805A611}">
  <a:tblStyle styleId="{46285192-B890-4EE6-8F3A-82CE4805A61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Medium-boldItalic.fntdata"/><Relationship Id="rId20" Type="http://schemas.openxmlformats.org/officeDocument/2006/relationships/slide" Target="slides/slide14.xml"/><Relationship Id="rId42" Type="http://schemas.openxmlformats.org/officeDocument/2006/relationships/font" Target="fonts/Merriweather-bold.fntdata"/><Relationship Id="rId41" Type="http://schemas.openxmlformats.org/officeDocument/2006/relationships/font" Target="fonts/Merriweather-regular.fntdata"/><Relationship Id="rId22" Type="http://schemas.openxmlformats.org/officeDocument/2006/relationships/slide" Target="slides/slide16.xml"/><Relationship Id="rId44" Type="http://schemas.openxmlformats.org/officeDocument/2006/relationships/font" Target="fonts/Merriweather-boldItalic.fntdata"/><Relationship Id="rId21" Type="http://schemas.openxmlformats.org/officeDocument/2006/relationships/slide" Target="slides/slide15.xml"/><Relationship Id="rId43" Type="http://schemas.openxmlformats.org/officeDocument/2006/relationships/font" Target="fonts/Merriweather-italic.fntdata"/><Relationship Id="rId24" Type="http://schemas.openxmlformats.org/officeDocument/2006/relationships/slide" Target="slides/slide18.xml"/><Relationship Id="rId46" Type="http://schemas.openxmlformats.org/officeDocument/2006/relationships/font" Target="fonts/DMSans-bold.fntdata"/><Relationship Id="rId23" Type="http://schemas.openxmlformats.org/officeDocument/2006/relationships/slide" Target="slides/slide17.xml"/><Relationship Id="rId45" Type="http://schemas.openxmlformats.org/officeDocument/2006/relationships/font" Target="fonts/DM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schemas.openxmlformats.org/officeDocument/2006/relationships/font" Target="fonts/DMSans-boldItalic.fntdata"/><Relationship Id="rId25" Type="http://schemas.openxmlformats.org/officeDocument/2006/relationships/slide" Target="slides/slide19.xml"/><Relationship Id="rId47" Type="http://schemas.openxmlformats.org/officeDocument/2006/relationships/font" Target="fonts/DMSans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DMSansMedium-regular.fntdata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DMSansMedium-italic.fntdata"/><Relationship Id="rId16" Type="http://schemas.openxmlformats.org/officeDocument/2006/relationships/slide" Target="slides/slide10.xml"/><Relationship Id="rId38" Type="http://schemas.openxmlformats.org/officeDocument/2006/relationships/font" Target="fonts/DMSansMedium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1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30.png"/><Relationship Id="rId5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Relationship Id="rId4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5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Relationship Id="rId4" Type="http://schemas.openxmlformats.org/officeDocument/2006/relationships/image" Target="../media/image38.png"/><Relationship Id="rId5" Type="http://schemas.openxmlformats.org/officeDocument/2006/relationships/image" Target="../media/image40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3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9.png"/><Relationship Id="rId4" Type="http://schemas.openxmlformats.org/officeDocument/2006/relationships/image" Target="../media/image32.png"/><Relationship Id="rId5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Relationship Id="rId4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42.png"/><Relationship Id="rId6" Type="http://schemas.openxmlformats.org/officeDocument/2006/relationships/image" Target="../media/image37.png"/><Relationship Id="rId7" Type="http://schemas.openxmlformats.org/officeDocument/2006/relationships/image" Target="../media/image4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8.png"/><Relationship Id="rId4" Type="http://schemas.openxmlformats.org/officeDocument/2006/relationships/image" Target="../media/image36.png"/><Relationship Id="rId5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7.png"/><Relationship Id="rId4" Type="http://schemas.openxmlformats.org/officeDocument/2006/relationships/image" Target="../media/image46.png"/><Relationship Id="rId5" Type="http://schemas.openxmlformats.org/officeDocument/2006/relationships/image" Target="../media/image44.png"/><Relationship Id="rId6" Type="http://schemas.openxmlformats.org/officeDocument/2006/relationships/image" Target="../media/image41.png"/><Relationship Id="rId7" Type="http://schemas.openxmlformats.org/officeDocument/2006/relationships/image" Target="../media/image43.png"/><Relationship Id="rId8" Type="http://schemas.openxmlformats.org/officeDocument/2006/relationships/image" Target="../media/image4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595437" y="2085082"/>
            <a:ext cx="9001125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Natural Language Processing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619750" y="3879353"/>
            <a:ext cx="9525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4203203"/>
            <a:ext cx="85725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From Foundations to Large Language Models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95512"/>
            <a:ext cx="3429000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195512"/>
            <a:ext cx="3429000" cy="341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195512"/>
            <a:ext cx="3429000" cy="34194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B8A6"/>
                </a:solidFill>
                <a:latin typeface="Merriweather"/>
                <a:ea typeface="Merriweather"/>
                <a:cs typeface="Merriweather"/>
                <a:sym typeface="Merriweather"/>
              </a:rPr>
              <a:t>Course Agenda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95826" y="3376612"/>
            <a:ext cx="278034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Foundations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3862387"/>
            <a:ext cx="26479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Understanding NLP basics, text preprocessing, and traditional statistical methods.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4705826" y="3376612"/>
            <a:ext cx="278034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Deep Learning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772025" y="3862387"/>
            <a:ext cx="2647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Exploring Word Embeddings, RNNs, LSTMs, and the Attention Mechanism.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515826" y="3376612"/>
            <a:ext cx="278034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Modern LLMs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582025" y="3862387"/>
            <a:ext cx="2647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Transformers, BERT, GPT, Prompt Engineering, and RAG applications.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85975" y="264318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0" y="26431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77400" y="2643187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B8A6"/>
                </a:solidFill>
                <a:latin typeface="Merriweather"/>
                <a:ea typeface="Merriweather"/>
                <a:cs typeface="Merriweather"/>
                <a:sym typeface="Merriweather"/>
              </a:rPr>
              <a:t>What is Natural Language Processing?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71500" y="2024062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Natural Language Processing (NLP) is a subfield of linguistics, computer science, and artificial intelligence concerned with the interactions between computers and human language.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04875" y="33861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Goal: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Enable computers to understand, interpret, and generate human languages seamlessly.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04875" y="41862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Challenge: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Language is highly ambiguous, contextual, and complex.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04875" y="49863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Convergence: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Blends computational linguistics with statistical, machine learning, and deep learning models.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86137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86237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986337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85950"/>
            <a:ext cx="3429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885950"/>
            <a:ext cx="3429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0" y="1885950"/>
            <a:ext cx="34290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B8A6"/>
                </a:solidFill>
                <a:latin typeface="Merriweather"/>
                <a:ea typeface="Merriweather"/>
                <a:cs typeface="Merriweather"/>
                <a:sym typeface="Merriweather"/>
              </a:rPr>
              <a:t>The Typical NLP Pipeline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85775" y="4457700"/>
            <a:ext cx="3600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Merriweather"/>
                <a:ea typeface="Merriweather"/>
                <a:cs typeface="Merriweather"/>
                <a:sym typeface="Merriweather"/>
              </a:rPr>
              <a:t>1. Preprocessing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4867275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Cleaning, tokenizing, and standardizing raw text data for machine consumption.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295775" y="4457700"/>
            <a:ext cx="3600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Merriweather"/>
                <a:ea typeface="Merriweather"/>
                <a:cs typeface="Merriweather"/>
                <a:sym typeface="Merriweather"/>
              </a:rPr>
              <a:t>2. Modeling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4381500" y="4867275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Applying statistical or neural network models to extract patterns and meaning.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105775" y="4457700"/>
            <a:ext cx="3600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Merriweather"/>
                <a:ea typeface="Merriweather"/>
                <a:cs typeface="Merriweather"/>
                <a:sym typeface="Merriweather"/>
              </a:rPr>
              <a:t>3. Application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8191500" y="4867275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Deploying the model for tasks like translation, summarization, or sentiment analysis.</a:t>
            </a:r>
            <a:endParaRPr/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895475"/>
            <a:ext cx="34099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91025" y="1895475"/>
            <a:ext cx="34099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01025" y="1895475"/>
            <a:ext cx="3409950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B8A6"/>
                </a:solidFill>
                <a:latin typeface="Merriweather"/>
                <a:ea typeface="Merriweather"/>
                <a:cs typeface="Merriweather"/>
                <a:sym typeface="Merriweather"/>
              </a:rPr>
              <a:t>A Brief History of NLP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571500" y="4124325"/>
            <a:ext cx="110490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510733" y="4524375"/>
            <a:ext cx="255219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Merriweather"/>
                <a:ea typeface="Merriweather"/>
                <a:cs typeface="Merriweather"/>
                <a:sym typeface="Merriweather"/>
              </a:rPr>
              <a:t>1950s - 1980s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71500" y="4914900"/>
            <a:ext cx="243066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DM Sans"/>
                <a:ea typeface="DM Sans"/>
                <a:cs typeface="DM Sans"/>
                <a:sym typeface="DM Sans"/>
              </a:rPr>
              <a:t>Rule-Based Systems:</a:t>
            </a:r>
            <a:r>
              <a:rPr b="0" i="0" lang="en-US" sz="1500" u="none" cap="none" strike="noStrike">
                <a:solidFill>
                  <a:srgbClr val="F1F5F9"/>
                </a:solidFill>
                <a:latin typeface="DM Sans"/>
                <a:ea typeface="DM Sans"/>
                <a:cs typeface="DM Sans"/>
                <a:sym typeface="DM Sans"/>
              </a:rPr>
              <a:t> Focus on complex, hand-written grammatical rules (e.g., ELIZA, SHRDLU).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3383413" y="1704975"/>
            <a:ext cx="255219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Merriweather"/>
                <a:ea typeface="Merriweather"/>
                <a:cs typeface="Merriweather"/>
                <a:sym typeface="Merriweather"/>
              </a:rPr>
              <a:t>1990s - 2000s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3444180" y="2095500"/>
            <a:ext cx="243066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DM Sans"/>
                <a:ea typeface="DM Sans"/>
                <a:cs typeface="DM Sans"/>
                <a:sym typeface="DM Sans"/>
              </a:rPr>
              <a:t>Statistical NLP:</a:t>
            </a:r>
            <a:r>
              <a:rPr b="0" i="0" lang="en-US" sz="1500" u="none" cap="none" strike="noStrike">
                <a:solidFill>
                  <a:srgbClr val="F1F5F9"/>
                </a:solidFill>
                <a:latin typeface="DM Sans"/>
                <a:ea typeface="DM Sans"/>
                <a:cs typeface="DM Sans"/>
                <a:sym typeface="DM Sans"/>
              </a:rPr>
              <a:t> Shift to machine learning, utilizing probabilities from large text corpora (e.g., Hidden Markov Models).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256094" y="4524375"/>
            <a:ext cx="255219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Merriweather"/>
                <a:ea typeface="Merriweather"/>
                <a:cs typeface="Merriweather"/>
                <a:sym typeface="Merriweather"/>
              </a:rPr>
              <a:t>2010s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316860" y="4914900"/>
            <a:ext cx="243066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DM Sans"/>
                <a:ea typeface="DM Sans"/>
                <a:cs typeface="DM Sans"/>
                <a:sym typeface="DM Sans"/>
              </a:rPr>
              <a:t>Deep Learning Era:</a:t>
            </a:r>
            <a:r>
              <a:rPr b="0" i="0" lang="en-US" sz="1500" u="none" cap="none" strike="noStrike">
                <a:solidFill>
                  <a:srgbClr val="F1F5F9"/>
                </a:solidFill>
                <a:latin typeface="DM Sans"/>
                <a:ea typeface="DM Sans"/>
                <a:cs typeface="DM Sans"/>
                <a:sym typeface="DM Sans"/>
              </a:rPr>
              <a:t> Neural networks, Word2Vec, RNNs, and LSTMs revolutionize performance across NLP tasks.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9128774" y="1704975"/>
            <a:ext cx="255219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Merriweather"/>
                <a:ea typeface="Merriweather"/>
                <a:cs typeface="Merriweather"/>
                <a:sym typeface="Merriweather"/>
              </a:rPr>
              <a:t>2017 - Present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9189541" y="2095500"/>
            <a:ext cx="243066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DM Sans"/>
                <a:ea typeface="DM Sans"/>
                <a:cs typeface="DM Sans"/>
                <a:sym typeface="DM Sans"/>
              </a:rPr>
              <a:t>Transformer &amp; LLMs:</a:t>
            </a:r>
            <a:r>
              <a:rPr b="0" i="0" lang="en-US" sz="1500" u="none" cap="none" strike="noStrike">
                <a:solidFill>
                  <a:srgbClr val="F1F5F9"/>
                </a:solidFill>
                <a:latin typeface="DM Sans"/>
                <a:ea typeface="DM Sans"/>
                <a:cs typeface="DM Sans"/>
                <a:sym typeface="DM Sans"/>
              </a:rPr>
              <a:t> The Attention Mechanism leads to massive foundation models like BERT, GPT, and Llama.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1672530" y="40290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47625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4545210" y="40290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47625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7417891" y="40290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47625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10290571" y="40290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47625">
            <a:solidFill>
              <a:srgbClr val="14B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47850"/>
            <a:ext cx="5334000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847850"/>
            <a:ext cx="53340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B8A6"/>
                </a:solidFill>
                <a:latin typeface="Merriweather"/>
                <a:ea typeface="Merriweather"/>
                <a:cs typeface="Merriweather"/>
                <a:sym typeface="Merriweather"/>
              </a:rPr>
              <a:t>Text Preprocessing: The Basics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962025" y="2238375"/>
            <a:ext cx="478059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Tokenization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962025" y="2724150"/>
            <a:ext cx="4552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The process of breaking down a continuous stream of text into smaller units called tokens (words, subwords, or characters).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6677025" y="2238375"/>
            <a:ext cx="478059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Normalization &amp; Lemmatization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677025" y="2724150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Standardizing text to reduce the vocabulary size and group variations of words.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1295400" y="3781425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"NLP is fun" → ["NLP", "is", "fun"]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1295400" y="4276725"/>
            <a:ext cx="4219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Modern models use subword tokenization (Byte-Pair Encoding) to handle rare words and morphologically rich languages.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7010400" y="3476625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Lowercasing: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"Apple" → "apple"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7010400" y="3971925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Stemming: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Chopping suffixes ("running" → "run")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7010400" y="4772025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Lemmatization: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Using dictionary forms ("better" → "good")</a:t>
            </a:r>
            <a:endParaRPr/>
          </a:p>
        </p:txBody>
      </p:sp>
      <p:pic>
        <p:nvPicPr>
          <p:cNvPr descr="image.png" id="168" name="Google Shape;16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378142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427672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7025" y="347662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7025" y="397192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7025" y="4772025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B8A6"/>
                </a:solidFill>
                <a:latin typeface="Merriweather"/>
                <a:ea typeface="Merriweather"/>
                <a:cs typeface="Merriweather"/>
                <a:sym typeface="Merriweather"/>
              </a:rPr>
              <a:t>Traditional Text Representation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571500" y="2152650"/>
            <a:ext cx="11049000" cy="35052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9" name="Google Shape;179;p19"/>
          <p:cNvGraphicFramePr/>
          <p:nvPr/>
        </p:nvGraphicFramePr>
        <p:xfrm>
          <a:off x="571500" y="21526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{46285192-B890-4EE6-8F3A-82CE4805A611}</a:tableStyleId>
              </a:tblPr>
              <a:tblGrid>
                <a:gridCol w="1247775"/>
                <a:gridCol w="4348025"/>
                <a:gridCol w="5453200"/>
              </a:tblGrid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4B8A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4B8A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Bag of Words (BoW)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4B8A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TF-IDF (Term Frequency - Inverse Document Frequency)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Concept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Counts the frequency of words in a document.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Evaluates how relevant a word is to a document within a collection.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Mechanism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Creates a sparse matrix of raw token counts.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Multiplies Term Frequency (TF) by Inverse Document Frequency (IDF).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Extremely simple to implement and understand.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Penalizes highly frequent, non-informative words (like "the", "and").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1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Treats all words equally; loses semantic meaning and word order.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Still ignores word order and semantic relationships between words.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0" name="Google Shape;180;p19"/>
          <p:cNvSpPr/>
          <p:nvPr/>
        </p:nvSpPr>
        <p:spPr>
          <a:xfrm>
            <a:off x="571500" y="3081337"/>
            <a:ext cx="1247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1819275" y="3081337"/>
            <a:ext cx="43480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6167288" y="3081337"/>
            <a:ext cx="54532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571500" y="3671887"/>
            <a:ext cx="1247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1819275" y="3671887"/>
            <a:ext cx="43480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6167288" y="3671887"/>
            <a:ext cx="54532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571500" y="4262437"/>
            <a:ext cx="1247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1819275" y="4262437"/>
            <a:ext cx="43480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6167288" y="4262437"/>
            <a:ext cx="54532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571500" y="4852987"/>
            <a:ext cx="1247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1819275" y="4852987"/>
            <a:ext cx="43480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6167288" y="4852987"/>
            <a:ext cx="54532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571500" y="5643562"/>
            <a:ext cx="12477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1819275" y="5643562"/>
            <a:ext cx="434801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6167288" y="5643562"/>
            <a:ext cx="54532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B8A6"/>
                </a:solidFill>
                <a:latin typeface="Merriweather"/>
                <a:ea typeface="Merriweather"/>
                <a:cs typeface="Merriweather"/>
                <a:sym typeface="Merriweather"/>
              </a:rPr>
              <a:t>Word Embeddings: Mapping Meaning to Vectors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571500" y="2147887"/>
            <a:ext cx="953199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Word embeddings are dense vector representations where words with similar meanings have similar representations in a vector space.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904875" y="2900362"/>
            <a:ext cx="919861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Word2Vec (2013):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Uses a shallow neural network to predict words based on context (CBOW) or context based on words (Skip-gram).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904875" y="3700462"/>
            <a:ext cx="9198619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GloVe (2014):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Matrix factorization technique based on global word co-occurrence statistics.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904875" y="4195762"/>
            <a:ext cx="9198619" cy="1276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Capturing Semantics: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Enables algebraic operations on words. Example: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pic>
        <p:nvPicPr>
          <p:cNvPr descr="image.png" id="204" name="Google Shape;2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9744" y="2000250"/>
            <a:ext cx="104075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0036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0046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9576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4875" y="4995862"/>
            <a:ext cx="9198619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 txBox="1"/>
          <p:nvPr/>
        </p:nvSpPr>
        <p:spPr>
          <a:xfrm>
            <a:off x="571500" y="571500"/>
            <a:ext cx="52006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Deep Learning Enters NLP</a:t>
            </a:r>
            <a:endParaRPr/>
          </a:p>
        </p:txBody>
      </p:sp>
      <p:pic>
        <p:nvPicPr>
          <p:cNvPr descr="image.png" id="214" name="Google Shape;21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571500" y="2828925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DM Sans"/>
                <a:ea typeface="DM Sans"/>
                <a:cs typeface="DM Sans"/>
                <a:sym typeface="DM Sans"/>
              </a:rPr>
              <a:t>The introduction of Deep Neural Networks allowed models to automatically learn hierarchical feature representations from raw text, bypassing manual feature engineering.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571500" y="4191000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DM Sans"/>
                <a:ea typeface="DM Sans"/>
                <a:cs typeface="DM Sans"/>
                <a:sym typeface="DM Sans"/>
              </a:rPr>
              <a:t>Recurrent Neural Networks (RNNs) became the standard for NLP because their architecture is inherently designed to process sequential data, maintaining a 'hidden state' that acts as memory for previous inputs.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43050"/>
            <a:ext cx="53340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543050"/>
            <a:ext cx="5334000" cy="4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B8A6"/>
                </a:solidFill>
                <a:latin typeface="Merriweather"/>
                <a:ea typeface="Merriweather"/>
                <a:cs typeface="Merriweather"/>
                <a:sym typeface="Merriweather"/>
              </a:rPr>
              <a:t>Addressing Sequential Memory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962025" y="1933575"/>
            <a:ext cx="478059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The Problem with Vanilla RNNs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962025" y="2419350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While RNNs are built for sequences, they suffer from the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Vanishing Gradient Problem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6677025" y="1933575"/>
            <a:ext cx="478059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The LSTM Solution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6677025" y="2419350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Long Short-Term Memory (LSTM) networks were introduced to solve this exact issue.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1295400" y="3171825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During backpropagation, gradients shrink exponentially across long sequences.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1295400" y="3971925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As a result, RNNs "forget" information from earlier in the text.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1295400" y="4772025"/>
            <a:ext cx="4219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They struggle with long-term dependencies (e.g., connecting a subject at the start of a paragraph to a verb at the end).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7010400" y="3171825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Introduces a complex "cell state" that runs straight down the entire chain.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7010400" y="3971925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Uses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Gates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(Forget, Input, Output) to carefully regulate the flow of information.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7010400" y="4772025"/>
            <a:ext cx="4219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Can maintain context over much longer sequences, becoming the backbone of translation engines pre-2017.</a:t>
            </a:r>
            <a:endParaRPr/>
          </a:p>
        </p:txBody>
      </p:sp>
      <p:pic>
        <p:nvPicPr>
          <p:cNvPr descr="image.png" id="234" name="Google Shape;23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317182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397192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477202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7025" y="317182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7025" y="397192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7025" y="4772025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562" y="1762125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B8A6"/>
                </a:solidFill>
                <a:latin typeface="Merriweather"/>
                <a:ea typeface="Merriweather"/>
                <a:cs typeface="Merriweather"/>
                <a:sym typeface="Merriweather"/>
              </a:rPr>
              <a:t>The Attention Mechanism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6334125" y="2076450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Learning Where to Focus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6334125" y="256222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Even LSTMs struggle with very long documents due to the bottleneck of compressing everything into a single fixed-length vector.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6334125" y="3619500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The </a:t>
            </a: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Attention Mechanism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allows the model to dynamically look at (attend to) different parts of the input sequence at every step of generation. Instead of a single vector, it creates a context-specific weighted sum of all input states.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6334125" y="498157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"Pay attention to the word 'bank' when you see the word 'river'."</a:t>
            </a:r>
            <a:endParaRPr/>
          </a:p>
        </p:txBody>
      </p:sp>
      <p:pic>
        <p:nvPicPr>
          <p:cNvPr descr="image.png" id="250" name="Google Shape;25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1562" y="1762125"/>
            <a:ext cx="428625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"/>
          <p:cNvSpPr txBox="1"/>
          <p:nvPr/>
        </p:nvSpPr>
        <p:spPr>
          <a:xfrm>
            <a:off x="2190750" y="1785937"/>
            <a:ext cx="7810500" cy="2800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150" u="none" cap="none" strike="noStrike">
                <a:solidFill>
                  <a:srgbClr val="3B82F6"/>
                </a:solidFill>
                <a:latin typeface="Merriweather"/>
                <a:ea typeface="Merriweather"/>
                <a:cs typeface="Merriweather"/>
                <a:sym typeface="Merriweather"/>
              </a:rPr>
              <a:t> We propose a new simple network architecture, the Transformer, based solely on attention mechanisms, dispensing with recurrence and convolutions entirely. 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2324100" y="5157638"/>
            <a:ext cx="75438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DM Sans"/>
                <a:ea typeface="DM Sans"/>
                <a:cs typeface="DM Sans"/>
                <a:sym typeface="DM Sans"/>
              </a:rPr>
              <a:t>— Vaswani et al., "Attention Is All You Need" (Google Research, 2017)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1619250" y="1309687"/>
            <a:ext cx="561975" cy="1438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0" u="none" cap="none" strike="noStrike">
                <a:solidFill>
                  <a:srgbClr val="3B82F6"/>
                </a:solidFill>
                <a:latin typeface="Merriweather"/>
                <a:ea typeface="Merriweather"/>
                <a:cs typeface="Merriweather"/>
                <a:sym typeface="Merriweather"/>
              </a:rPr>
              <a:t>"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33550"/>
            <a:ext cx="3429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733550"/>
            <a:ext cx="3429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0" y="1733550"/>
            <a:ext cx="34290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B8A6"/>
                </a:solidFill>
                <a:latin typeface="Merriweather"/>
                <a:ea typeface="Merriweather"/>
                <a:cs typeface="Merriweather"/>
                <a:sym typeface="Merriweather"/>
              </a:rPr>
              <a:t>The Transformer Architecture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485775" y="4305300"/>
            <a:ext cx="3600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Merriweather"/>
                <a:ea typeface="Merriweather"/>
                <a:cs typeface="Merriweather"/>
                <a:sym typeface="Merriweather"/>
              </a:rPr>
              <a:t>The Encoder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571500" y="4714875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Processes the entire input sequence simultaneously, generating rich, context-aware embeddings.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4295775" y="4305300"/>
            <a:ext cx="3600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Merriweather"/>
                <a:ea typeface="Merriweather"/>
                <a:cs typeface="Merriweather"/>
                <a:sym typeface="Merriweather"/>
              </a:rPr>
              <a:t>Self-Attention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4381500" y="4714875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Every word looks at every other word in the sequence to compute its contextual relevance.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8105775" y="4305300"/>
            <a:ext cx="3600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Merriweather"/>
                <a:ea typeface="Merriweather"/>
                <a:cs typeface="Merriweather"/>
                <a:sym typeface="Merriweather"/>
              </a:rPr>
              <a:t>The Decoder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8191500" y="4714875"/>
            <a:ext cx="3429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Generates the output sequence one token at a time, attending to both its own past outputs and the Encoder's representations.</a:t>
            </a:r>
            <a:endParaRPr/>
          </a:p>
        </p:txBody>
      </p:sp>
      <p:pic>
        <p:nvPicPr>
          <p:cNvPr descr="image.png" id="272" name="Google Shape;27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743075"/>
            <a:ext cx="34099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91025" y="1743075"/>
            <a:ext cx="34099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01025" y="1743075"/>
            <a:ext cx="3409950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47850"/>
            <a:ext cx="5334000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847850"/>
            <a:ext cx="53340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B8A6"/>
                </a:solidFill>
                <a:latin typeface="Merriweather"/>
                <a:ea typeface="Merriweather"/>
                <a:cs typeface="Merriweather"/>
                <a:sym typeface="Merriweather"/>
              </a:rPr>
              <a:t>Encoder-Only vs. Decoder-Only Models</a:t>
            </a:r>
            <a:endParaRPr/>
          </a:p>
        </p:txBody>
      </p:sp>
      <p:sp>
        <p:nvSpPr>
          <p:cNvPr id="282" name="Google Shape;282;p26"/>
          <p:cNvSpPr txBox="1"/>
          <p:nvPr/>
        </p:nvSpPr>
        <p:spPr>
          <a:xfrm>
            <a:off x="962025" y="2238375"/>
            <a:ext cx="478059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Encoder-Only (e.g., BERT)</a:t>
            </a:r>
            <a:endParaRPr/>
          </a:p>
        </p:txBody>
      </p:sp>
      <p:sp>
        <p:nvSpPr>
          <p:cNvPr id="283" name="Google Shape;283;p26"/>
          <p:cNvSpPr txBox="1"/>
          <p:nvPr/>
        </p:nvSpPr>
        <p:spPr>
          <a:xfrm>
            <a:off x="962025" y="2724150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Designed for understanding and extracting information from text.</a:t>
            </a:r>
            <a:endParaRPr/>
          </a:p>
        </p:txBody>
      </p:sp>
      <p:sp>
        <p:nvSpPr>
          <p:cNvPr id="284" name="Google Shape;284;p26"/>
          <p:cNvSpPr txBox="1"/>
          <p:nvPr/>
        </p:nvSpPr>
        <p:spPr>
          <a:xfrm>
            <a:off x="6677025" y="2238375"/>
            <a:ext cx="478059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Decoder-Only (e.g., GPT series)</a:t>
            </a:r>
            <a:endParaRPr/>
          </a:p>
        </p:txBody>
      </p:sp>
      <p:sp>
        <p:nvSpPr>
          <p:cNvPr id="285" name="Google Shape;285;p26"/>
          <p:cNvSpPr txBox="1"/>
          <p:nvPr/>
        </p:nvSpPr>
        <p:spPr>
          <a:xfrm>
            <a:off x="6677025" y="2724150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Designed for generative tasks and predicting the next word.</a:t>
            </a:r>
            <a:endParaRPr/>
          </a:p>
        </p:txBody>
      </p:sp>
      <p:sp>
        <p:nvSpPr>
          <p:cNvPr id="286" name="Google Shape;286;p26"/>
          <p:cNvSpPr txBox="1"/>
          <p:nvPr/>
        </p:nvSpPr>
        <p:spPr>
          <a:xfrm>
            <a:off x="1295400" y="3476625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Bidirectional context: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Looks at words before and after simultaneously.</a:t>
            </a:r>
            <a:endParaRPr/>
          </a:p>
        </p:txBody>
      </p:sp>
      <p:sp>
        <p:nvSpPr>
          <p:cNvPr id="287" name="Google Shape;287;p26"/>
          <p:cNvSpPr txBox="1"/>
          <p:nvPr/>
        </p:nvSpPr>
        <p:spPr>
          <a:xfrm>
            <a:off x="1295400" y="4276725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Best for: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Classification, sentiment analysis, named entity recognition, extractive Q&amp;A.</a:t>
            </a:r>
            <a:endParaRPr/>
          </a:p>
        </p:txBody>
      </p:sp>
      <p:sp>
        <p:nvSpPr>
          <p:cNvPr id="288" name="Google Shape;288;p26"/>
          <p:cNvSpPr txBox="1"/>
          <p:nvPr/>
        </p:nvSpPr>
        <p:spPr>
          <a:xfrm>
            <a:off x="1295400" y="5076825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Cannot easily generate new text from scratch.</a:t>
            </a:r>
            <a:endParaRPr/>
          </a:p>
        </p:txBody>
      </p:sp>
      <p:sp>
        <p:nvSpPr>
          <p:cNvPr id="289" name="Google Shape;289;p26"/>
          <p:cNvSpPr txBox="1"/>
          <p:nvPr/>
        </p:nvSpPr>
        <p:spPr>
          <a:xfrm>
            <a:off x="7010400" y="3476625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Unidirectional context: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Can only look at words that came before it (autoregressive).</a:t>
            </a:r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7010400" y="4276725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Best for: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Text generation, summarization, conversational AI, creative writing.</a:t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7010400" y="5076825"/>
            <a:ext cx="4219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The foundation of modern chat models.</a:t>
            </a:r>
            <a:endParaRPr/>
          </a:p>
        </p:txBody>
      </p:sp>
      <p:pic>
        <p:nvPicPr>
          <p:cNvPr descr="image.png" id="292" name="Google Shape;29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347662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427672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507682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7025" y="347662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7025" y="427672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7025" y="5076825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2" name="Google Shape;30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04950"/>
            <a:ext cx="1104900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7"/>
          <p:cNvSpPr txBox="1"/>
          <p:nvPr/>
        </p:nvSpPr>
        <p:spPr>
          <a:xfrm>
            <a:off x="571500" y="55245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B8A6"/>
                </a:solidFill>
                <a:latin typeface="Merriweather"/>
                <a:ea typeface="Merriweather"/>
                <a:cs typeface="Merriweather"/>
                <a:sym typeface="Merriweather"/>
              </a:rPr>
              <a:t>The Exponential Scaling of LLMs</a:t>
            </a:r>
            <a:endParaRPr/>
          </a:p>
        </p:txBody>
      </p:sp>
      <p:sp>
        <p:nvSpPr>
          <p:cNvPr id="304" name="Google Shape;304;p27"/>
          <p:cNvSpPr txBox="1"/>
          <p:nvPr/>
        </p:nvSpPr>
        <p:spPr>
          <a:xfrm>
            <a:off x="571500" y="5553075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Growth in model parameter count over time (Logarithmic Scale Approximation). From ELMo (94M) to GPT-3 (175B) and beyond.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B8A6"/>
                </a:solidFill>
                <a:latin typeface="Merriweather"/>
                <a:ea typeface="Merriweather"/>
                <a:cs typeface="Merriweather"/>
                <a:sym typeface="Merriweather"/>
              </a:rPr>
              <a:t>BERT: Bidirectional Encoder Representations</a:t>
            </a:r>
            <a:endParaRPr/>
          </a:p>
        </p:txBody>
      </p:sp>
      <p:sp>
        <p:nvSpPr>
          <p:cNvPr id="310" name="Google Shape;310;p28"/>
          <p:cNvSpPr txBox="1"/>
          <p:nvPr/>
        </p:nvSpPr>
        <p:spPr>
          <a:xfrm>
            <a:off x="571500" y="187166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Introduced by Google in 2018, BERT fundamentally changed how NLP models were pre-trained.</a:t>
            </a:r>
            <a:endParaRPr/>
          </a:p>
        </p:txBody>
      </p:sp>
      <p:sp>
        <p:nvSpPr>
          <p:cNvPr id="311" name="Google Shape;311;p28"/>
          <p:cNvSpPr txBox="1"/>
          <p:nvPr/>
        </p:nvSpPr>
        <p:spPr>
          <a:xfrm>
            <a:off x="904875" y="262413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Masked Language Modeling (MLM):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Randomly masks 15% of the words in a sentence and forces the model to predict them using both left and right context.</a:t>
            </a:r>
            <a:endParaRPr/>
          </a:p>
        </p:txBody>
      </p:sp>
      <p:sp>
        <p:nvSpPr>
          <p:cNvPr id="312" name="Google Shape;312;p28"/>
          <p:cNvSpPr txBox="1"/>
          <p:nvPr/>
        </p:nvSpPr>
        <p:spPr>
          <a:xfrm>
            <a:off x="904875" y="372903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Next Sentence Prediction (NSP):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Learns relationships between sentences by predicting if sentence B logically follows sentence A.</a:t>
            </a:r>
            <a:endParaRPr/>
          </a:p>
        </p:txBody>
      </p:sp>
      <p:sp>
        <p:nvSpPr>
          <p:cNvPr id="313" name="Google Shape;313;p28"/>
          <p:cNvSpPr txBox="1"/>
          <p:nvPr/>
        </p:nvSpPr>
        <p:spPr>
          <a:xfrm>
            <a:off x="904875" y="483393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Impact: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Achieved state-of-the-art results on 11 NLP tasks instantly, proving the power of bidirectional pre-training.</a:t>
            </a:r>
            <a:endParaRPr/>
          </a:p>
        </p:txBody>
      </p:sp>
      <p:pic>
        <p:nvPicPr>
          <p:cNvPr descr="image.png" id="314" name="Google Shape;31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24137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29037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833937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9"/>
          <p:cNvSpPr txBox="1"/>
          <p:nvPr/>
        </p:nvSpPr>
        <p:spPr>
          <a:xfrm>
            <a:off x="571500" y="571500"/>
            <a:ext cx="52006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1F5F9"/>
                </a:solidFill>
                <a:latin typeface="Merriweather"/>
                <a:ea typeface="Merriweather"/>
                <a:cs typeface="Merriweather"/>
                <a:sym typeface="Merriweather"/>
              </a:rPr>
              <a:t>The GPT Series</a:t>
            </a:r>
            <a:endParaRPr/>
          </a:p>
        </p:txBody>
      </p:sp>
      <p:pic>
        <p:nvPicPr>
          <p:cNvPr descr="image.png" id="323" name="Google Shape;32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9"/>
          <p:cNvSpPr txBox="1"/>
          <p:nvPr/>
        </p:nvSpPr>
        <p:spPr>
          <a:xfrm>
            <a:off x="571500" y="23193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DM Sans"/>
                <a:ea typeface="DM Sans"/>
                <a:cs typeface="DM Sans"/>
                <a:sym typeface="DM Sans"/>
              </a:rPr>
              <a:t>Developed by OpenAI, the Generative Pre-trained Transformer models rely solely on the Decoder block.</a:t>
            </a:r>
            <a:endParaRPr/>
          </a:p>
        </p:txBody>
      </p:sp>
      <p:sp>
        <p:nvSpPr>
          <p:cNvPr id="325" name="Google Shape;325;p29"/>
          <p:cNvSpPr txBox="1"/>
          <p:nvPr/>
        </p:nvSpPr>
        <p:spPr>
          <a:xfrm>
            <a:off x="571500" y="3071812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DM Sans"/>
                <a:ea typeface="DM Sans"/>
                <a:cs typeface="DM Sans"/>
                <a:sym typeface="DM Sans"/>
              </a:rPr>
              <a:t>Objective: Causal Language Modeling.</a:t>
            </a:r>
            <a:r>
              <a:rPr b="0" i="0" lang="en-US" sz="1500" u="none" cap="none" strike="noStrike">
                <a:solidFill>
                  <a:srgbClr val="F1F5F9"/>
                </a:solidFill>
                <a:latin typeface="DM Sans"/>
                <a:ea typeface="DM Sans"/>
                <a:cs typeface="DM Sans"/>
                <a:sym typeface="DM Sans"/>
              </a:rPr>
              <a:t> The model is trained simply to predict the very next token in a sequence, given all previous tokens.</a:t>
            </a:r>
            <a:endParaRPr/>
          </a:p>
        </p:txBody>
      </p:sp>
      <p:sp>
        <p:nvSpPr>
          <p:cNvPr id="326" name="Google Shape;326;p29"/>
          <p:cNvSpPr txBox="1"/>
          <p:nvPr/>
        </p:nvSpPr>
        <p:spPr>
          <a:xfrm>
            <a:off x="571500" y="4129087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DM Sans"/>
                <a:ea typeface="DM Sans"/>
                <a:cs typeface="DM Sans"/>
                <a:sym typeface="DM Sans"/>
              </a:rPr>
              <a:t>By scaling this simple objective across massive datasets and compute clusters, emergent abilities appeared: few-shot learning, reasoning, and instruction following.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1" name="Google Shape;33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81137"/>
            <a:ext cx="11049000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 txBox="1"/>
          <p:nvPr/>
        </p:nvSpPr>
        <p:spPr>
          <a:xfrm>
            <a:off x="571500" y="528637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B8A6"/>
                </a:solidFill>
                <a:latin typeface="Merriweather"/>
                <a:ea typeface="Merriweather"/>
                <a:cs typeface="Merriweather"/>
                <a:sym typeface="Merriweather"/>
              </a:rPr>
              <a:t>Resource Distribution in Modern LLMs</a:t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571500" y="5576887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While Pre-Training consumes the vast majority of raw compute power, data curation and alignment (RLHF) dictate the model's actual utility and safety.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8" name="Google Shape;33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19262"/>
            <a:ext cx="3429000" cy="4371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719262"/>
            <a:ext cx="3429000" cy="4371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719262"/>
            <a:ext cx="3429000" cy="437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B8A6"/>
                </a:solidFill>
                <a:latin typeface="Merriweather"/>
                <a:ea typeface="Merriweather"/>
                <a:cs typeface="Merriweather"/>
                <a:sym typeface="Merriweather"/>
              </a:rPr>
              <a:t>The LLM Training Pipeline</a:t>
            </a:r>
            <a:endParaRPr/>
          </a:p>
        </p:txBody>
      </p:sp>
      <p:sp>
        <p:nvSpPr>
          <p:cNvPr id="342" name="Google Shape;342;p31"/>
          <p:cNvSpPr txBox="1"/>
          <p:nvPr/>
        </p:nvSpPr>
        <p:spPr>
          <a:xfrm>
            <a:off x="895826" y="2900362"/>
            <a:ext cx="278034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1. Data Collection</a:t>
            </a:r>
            <a:endParaRPr/>
          </a:p>
        </p:txBody>
      </p:sp>
      <p:sp>
        <p:nvSpPr>
          <p:cNvPr id="343" name="Google Shape;343;p31"/>
          <p:cNvSpPr txBox="1"/>
          <p:nvPr/>
        </p:nvSpPr>
        <p:spPr>
          <a:xfrm>
            <a:off x="962025" y="3386137"/>
            <a:ext cx="26479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Scraping the internet, books, code repositories, and articles. Trillions of tokens are gathered, filtered for quality, and deduplicated.</a:t>
            </a:r>
            <a:endParaRPr/>
          </a:p>
        </p:txBody>
      </p:sp>
      <p:sp>
        <p:nvSpPr>
          <p:cNvPr id="344" name="Google Shape;344;p31"/>
          <p:cNvSpPr txBox="1"/>
          <p:nvPr/>
        </p:nvSpPr>
        <p:spPr>
          <a:xfrm>
            <a:off x="4705826" y="2900362"/>
            <a:ext cx="278034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2. Base Pre-Training</a:t>
            </a:r>
            <a:endParaRPr/>
          </a:p>
        </p:txBody>
      </p:sp>
      <p:sp>
        <p:nvSpPr>
          <p:cNvPr id="345" name="Google Shape;345;p31"/>
          <p:cNvSpPr txBox="1"/>
          <p:nvPr/>
        </p:nvSpPr>
        <p:spPr>
          <a:xfrm>
            <a:off x="4772025" y="3729037"/>
            <a:ext cx="26479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The model learns grammar, facts, and reasoning by predicting the next word over months on thousands of GPUs. (Creates a "Base Model").</a:t>
            </a:r>
            <a:endParaRPr/>
          </a:p>
        </p:txBody>
      </p:sp>
      <p:sp>
        <p:nvSpPr>
          <p:cNvPr id="346" name="Google Shape;346;p31"/>
          <p:cNvSpPr txBox="1"/>
          <p:nvPr/>
        </p:nvSpPr>
        <p:spPr>
          <a:xfrm>
            <a:off x="8515826" y="2900362"/>
            <a:ext cx="278034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3. Alignment / SFT</a:t>
            </a:r>
            <a:endParaRPr/>
          </a:p>
        </p:txBody>
      </p:sp>
      <p:sp>
        <p:nvSpPr>
          <p:cNvPr id="347" name="Google Shape;347;p31"/>
          <p:cNvSpPr txBox="1"/>
          <p:nvPr/>
        </p:nvSpPr>
        <p:spPr>
          <a:xfrm>
            <a:off x="8582025" y="3386137"/>
            <a:ext cx="26479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Supervised Fine-Tuning turns the text-completer into a helpful assistant by training it on high-quality human Q&amp;A examples.</a:t>
            </a:r>
            <a:endParaRPr/>
          </a:p>
        </p:txBody>
      </p:sp>
      <p:pic>
        <p:nvPicPr>
          <p:cNvPr descr="image.png" id="348" name="Google Shape;348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85975" y="216693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400" y="21669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77400" y="2166937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/>
          <p:cNvSpPr txBox="1"/>
          <p:nvPr/>
        </p:nvSpPr>
        <p:spPr>
          <a:xfrm>
            <a:off x="571500" y="5715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B8A6"/>
                </a:solidFill>
                <a:latin typeface="Merriweather"/>
                <a:ea typeface="Merriweather"/>
                <a:cs typeface="Merriweather"/>
                <a:sym typeface="Merriweather"/>
              </a:rPr>
              <a:t>Reinforcement Learning from Human Feedback (RLHF)</a:t>
            </a:r>
            <a:endParaRPr/>
          </a:p>
        </p:txBody>
      </p:sp>
      <p:sp>
        <p:nvSpPr>
          <p:cNvPr id="356" name="Google Shape;356;p32"/>
          <p:cNvSpPr txBox="1"/>
          <p:nvPr/>
        </p:nvSpPr>
        <p:spPr>
          <a:xfrm>
            <a:off x="571500" y="24955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RLHF is the secret sauce that makes models like ChatGPT safe, polite, and useful. It aligns the model with human preferences.</a:t>
            </a:r>
            <a:endParaRPr/>
          </a:p>
        </p:txBody>
      </p:sp>
      <p:sp>
        <p:nvSpPr>
          <p:cNvPr id="357" name="Google Shape;357;p32"/>
          <p:cNvSpPr txBox="1"/>
          <p:nvPr/>
        </p:nvSpPr>
        <p:spPr>
          <a:xfrm>
            <a:off x="904875" y="2990850"/>
            <a:ext cx="10715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Step 1: Supervised Fine-Tuning (SFT).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Train the base model on a curated dataset of prompts and ideal responses written by human experts.</a:t>
            </a:r>
            <a:endParaRPr/>
          </a:p>
        </p:txBody>
      </p:sp>
      <p:sp>
        <p:nvSpPr>
          <p:cNvPr id="358" name="Google Shape;358;p32"/>
          <p:cNvSpPr txBox="1"/>
          <p:nvPr/>
        </p:nvSpPr>
        <p:spPr>
          <a:xfrm>
            <a:off x="904875" y="3790950"/>
            <a:ext cx="10715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Step 2: Reward Model Training.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Generate multiple responses for a single prompt. Have humans rank these responses from best to worst. Train a separate "Reward Model" to predict these human rankings.</a:t>
            </a:r>
            <a:endParaRPr/>
          </a:p>
        </p:txBody>
      </p:sp>
      <p:sp>
        <p:nvSpPr>
          <p:cNvPr id="359" name="Google Shape;359;p32"/>
          <p:cNvSpPr txBox="1"/>
          <p:nvPr/>
        </p:nvSpPr>
        <p:spPr>
          <a:xfrm>
            <a:off x="904875" y="4591050"/>
            <a:ext cx="10715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Step 3: PPO Optimization.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Use Proximal Policy Optimization (a reinforcement learning algorithm). The main LLM generates a response, the Reward Model scores it, and the LLM updates its weights to maximize the score.</a:t>
            </a:r>
            <a:endParaRPr/>
          </a:p>
        </p:txBody>
      </p:sp>
      <p:sp>
        <p:nvSpPr>
          <p:cNvPr id="360" name="Google Shape;360;p32"/>
          <p:cNvSpPr txBox="1"/>
          <p:nvPr/>
        </p:nvSpPr>
        <p:spPr>
          <a:xfrm>
            <a:off x="904875" y="5391150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Result: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A model that actively avoids toxic output, refuses harmful prompts, and formats answers optimally.</a:t>
            </a:r>
            <a:endParaRPr/>
          </a:p>
        </p:txBody>
      </p:sp>
      <p:pic>
        <p:nvPicPr>
          <p:cNvPr descr="image.png" id="361" name="Google Shape;36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99085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2" name="Google Shape;36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79095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59105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391150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9" name="Google Shape;36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43100"/>
            <a:ext cx="5334000" cy="392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43100"/>
            <a:ext cx="5334000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B8A6"/>
                </a:solidFill>
                <a:latin typeface="Merriweather"/>
                <a:ea typeface="Merriweather"/>
                <a:cs typeface="Merriweather"/>
                <a:sym typeface="Merriweather"/>
              </a:rPr>
              <a:t>Prompt Engineering Strategies</a:t>
            </a:r>
            <a:endParaRPr/>
          </a:p>
        </p:txBody>
      </p:sp>
      <p:sp>
        <p:nvSpPr>
          <p:cNvPr id="372" name="Google Shape;372;p33"/>
          <p:cNvSpPr txBox="1"/>
          <p:nvPr/>
        </p:nvSpPr>
        <p:spPr>
          <a:xfrm>
            <a:off x="962025" y="2333625"/>
            <a:ext cx="478059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Zero-Shot &amp; Few-Shot Prompting</a:t>
            </a:r>
            <a:endParaRPr/>
          </a:p>
        </p:txBody>
      </p:sp>
      <p:sp>
        <p:nvSpPr>
          <p:cNvPr id="373" name="Google Shape;373;p33"/>
          <p:cNvSpPr txBox="1"/>
          <p:nvPr/>
        </p:nvSpPr>
        <p:spPr>
          <a:xfrm>
            <a:off x="962025" y="2819400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Directing the model's behavior through the prompt structure without changing its weights.</a:t>
            </a:r>
            <a:endParaRPr/>
          </a:p>
        </p:txBody>
      </p:sp>
      <p:sp>
        <p:nvSpPr>
          <p:cNvPr id="374" name="Google Shape;374;p33"/>
          <p:cNvSpPr txBox="1"/>
          <p:nvPr/>
        </p:nvSpPr>
        <p:spPr>
          <a:xfrm>
            <a:off x="6677025" y="2333625"/>
            <a:ext cx="478059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Chain-of-Thought (CoT)</a:t>
            </a:r>
            <a:endParaRPr/>
          </a:p>
        </p:txBody>
      </p:sp>
      <p:sp>
        <p:nvSpPr>
          <p:cNvPr id="375" name="Google Shape;375;p33"/>
          <p:cNvSpPr txBox="1"/>
          <p:nvPr/>
        </p:nvSpPr>
        <p:spPr>
          <a:xfrm>
            <a:off x="6677025" y="2819400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Eliciting reasoning capabilities from the model by forcing it to break down problems.</a:t>
            </a:r>
            <a:endParaRPr/>
          </a:p>
        </p:txBody>
      </p:sp>
      <p:sp>
        <p:nvSpPr>
          <p:cNvPr id="376" name="Google Shape;376;p33"/>
          <p:cNvSpPr txBox="1"/>
          <p:nvPr/>
        </p:nvSpPr>
        <p:spPr>
          <a:xfrm>
            <a:off x="1295400" y="3571875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Zero-shot: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Asking a question directly. "Classify this text as positive or negative: [Text]"</a:t>
            </a:r>
            <a:endParaRPr/>
          </a:p>
        </p:txBody>
      </p:sp>
      <p:sp>
        <p:nvSpPr>
          <p:cNvPr id="377" name="Google Shape;377;p33"/>
          <p:cNvSpPr txBox="1"/>
          <p:nvPr/>
        </p:nvSpPr>
        <p:spPr>
          <a:xfrm>
            <a:off x="1295400" y="4371975"/>
            <a:ext cx="4219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Few-shot: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Providing examples in the prompt to establish a pattern. "English: Hello -&gt; French: Bonjour. English: Apple -&gt; French: ?"</a:t>
            </a:r>
            <a:endParaRPr/>
          </a:p>
        </p:txBody>
      </p:sp>
      <p:sp>
        <p:nvSpPr>
          <p:cNvPr id="378" name="Google Shape;378;p33"/>
          <p:cNvSpPr txBox="1"/>
          <p:nvPr/>
        </p:nvSpPr>
        <p:spPr>
          <a:xfrm>
            <a:off x="7010400" y="3571875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Adding the phrase </a:t>
            </a:r>
            <a:r>
              <a:rPr b="0" i="1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"Let's think step by step"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to the prompt.</a:t>
            </a:r>
            <a:endParaRPr/>
          </a:p>
        </p:txBody>
      </p:sp>
      <p:sp>
        <p:nvSpPr>
          <p:cNvPr id="379" name="Google Shape;379;p33"/>
          <p:cNvSpPr txBox="1"/>
          <p:nvPr/>
        </p:nvSpPr>
        <p:spPr>
          <a:xfrm>
            <a:off x="7010400" y="4371975"/>
            <a:ext cx="42195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Significantly improves performance on logic, math, and complex reasoning tasks by utilizing generation time as "computation time".</a:t>
            </a:r>
            <a:endParaRPr/>
          </a:p>
        </p:txBody>
      </p:sp>
      <p:pic>
        <p:nvPicPr>
          <p:cNvPr descr="image.png" id="380" name="Google Shape;380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357187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1" name="Google Shape;381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437197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2" name="Google Shape;38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7025" y="357187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77025" y="4371975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4"/>
          <p:cNvSpPr txBox="1"/>
          <p:nvPr/>
        </p:nvSpPr>
        <p:spPr>
          <a:xfrm>
            <a:off x="571500" y="519112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B8A6"/>
                </a:solidFill>
                <a:latin typeface="Merriweather"/>
                <a:ea typeface="Merriweather"/>
                <a:cs typeface="Merriweather"/>
                <a:sym typeface="Merriweather"/>
              </a:rPr>
              <a:t>Retrieval-Augmented Generation (RAG)</a:t>
            </a:r>
            <a:endParaRPr/>
          </a:p>
        </p:txBody>
      </p:sp>
      <p:sp>
        <p:nvSpPr>
          <p:cNvPr id="389" name="Google Shape;389;p34"/>
          <p:cNvSpPr txBox="1"/>
          <p:nvPr/>
        </p:nvSpPr>
        <p:spPr>
          <a:xfrm>
            <a:off x="571500" y="147161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LLMs have a knowledge cutoff and hallucinate facts. RAG solves this by grounding generation in external data.</a:t>
            </a:r>
            <a:endParaRPr/>
          </a:p>
        </p:txBody>
      </p:sp>
      <p:sp>
        <p:nvSpPr>
          <p:cNvPr id="390" name="Google Shape;390;p34"/>
          <p:cNvSpPr txBox="1"/>
          <p:nvPr/>
        </p:nvSpPr>
        <p:spPr>
          <a:xfrm>
            <a:off x="904875" y="222408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Embed &amp; Store: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Convert enterprise documents into vector embeddings and store them in a Vector Database.</a:t>
            </a:r>
            <a:endParaRPr/>
          </a:p>
        </p:txBody>
      </p:sp>
      <p:sp>
        <p:nvSpPr>
          <p:cNvPr id="391" name="Google Shape;391;p34"/>
          <p:cNvSpPr txBox="1"/>
          <p:nvPr/>
        </p:nvSpPr>
        <p:spPr>
          <a:xfrm>
            <a:off x="904875" y="332898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Retrieve: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When a user asks a query, convert the query to a vector and fetch the top K most similar document chunks.</a:t>
            </a:r>
            <a:endParaRPr/>
          </a:p>
        </p:txBody>
      </p:sp>
      <p:sp>
        <p:nvSpPr>
          <p:cNvPr id="392" name="Google Shape;392;p34"/>
          <p:cNvSpPr txBox="1"/>
          <p:nvPr/>
        </p:nvSpPr>
        <p:spPr>
          <a:xfrm>
            <a:off x="904875" y="443388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Generate: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Feed the retrieved chunks + the user query to the LLM. "Based on the provided context, answer the user."</a:t>
            </a:r>
            <a:endParaRPr/>
          </a:p>
        </p:txBody>
      </p:sp>
      <p:sp>
        <p:nvSpPr>
          <p:cNvPr id="393" name="Google Shape;393;p34"/>
          <p:cNvSpPr txBox="1"/>
          <p:nvPr/>
        </p:nvSpPr>
        <p:spPr>
          <a:xfrm>
            <a:off x="904875" y="553878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Benefit: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Factual, verifiable answers without retraining the model.</a:t>
            </a:r>
            <a:endParaRPr/>
          </a:p>
        </p:txBody>
      </p:sp>
      <p:pic>
        <p:nvPicPr>
          <p:cNvPr descr="image.png" id="394" name="Google Shape;39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0002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5" name="Google Shape;395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24087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6" name="Google Shape;39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28987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7" name="Google Shape;39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433887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8" name="Google Shape;39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538787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B8A6"/>
                </a:solidFill>
                <a:latin typeface="Merriweather"/>
                <a:ea typeface="Merriweather"/>
                <a:cs typeface="Merriweather"/>
                <a:sym typeface="Merriweather"/>
              </a:rPr>
              <a:t>Evaluation Metrics</a:t>
            </a:r>
            <a:endParaRPr/>
          </a:p>
        </p:txBody>
      </p:sp>
      <p:sp>
        <p:nvSpPr>
          <p:cNvPr id="404" name="Google Shape;404;p35"/>
          <p:cNvSpPr/>
          <p:nvPr/>
        </p:nvSpPr>
        <p:spPr>
          <a:xfrm>
            <a:off x="571500" y="2095500"/>
            <a:ext cx="11049000" cy="36195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5" name="Google Shape;405;p35"/>
          <p:cNvGraphicFramePr/>
          <p:nvPr/>
        </p:nvGraphicFramePr>
        <p:xfrm>
          <a:off x="571500" y="20955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{46285192-B890-4EE6-8F3A-82CE4805A611}</a:tableStyleId>
              </a:tblPr>
              <a:tblGrid>
                <a:gridCol w="1697525"/>
                <a:gridCol w="2783975"/>
                <a:gridCol w="6567475"/>
              </a:tblGrid>
              <a:tr h="603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4B8A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4B8A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Primary Use Case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14B8A6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How it Works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Accuracy / F1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Classification, Sentiment Analysis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Measures exact matches of predicted classes vs. actual ground truth.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BLEU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Machine Translation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Measures precision of n-gram overlaps between generated text and human reference.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ROUGE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Text Summarization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Measures recall of n-gram overlaps (how much of the reference summary is captured).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Perplexity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Language Modeling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Measures how well a probability model predicts a sample (lower is better).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3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LLM-as-a-Judge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Open-ended Generation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Using a superior LLM (e.g., GPT-4) to score responses based on human-aligned rubrics.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6" name="Google Shape;406;p35"/>
          <p:cNvSpPr/>
          <p:nvPr/>
        </p:nvSpPr>
        <p:spPr>
          <a:xfrm>
            <a:off x="571500" y="2747962"/>
            <a:ext cx="1697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5"/>
          <p:cNvSpPr/>
          <p:nvPr/>
        </p:nvSpPr>
        <p:spPr>
          <a:xfrm>
            <a:off x="2269033" y="2747962"/>
            <a:ext cx="27839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5"/>
          <p:cNvSpPr/>
          <p:nvPr/>
        </p:nvSpPr>
        <p:spPr>
          <a:xfrm>
            <a:off x="5053012" y="2747962"/>
            <a:ext cx="656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5"/>
          <p:cNvSpPr/>
          <p:nvPr/>
        </p:nvSpPr>
        <p:spPr>
          <a:xfrm>
            <a:off x="571500" y="3338512"/>
            <a:ext cx="1697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5"/>
          <p:cNvSpPr/>
          <p:nvPr/>
        </p:nvSpPr>
        <p:spPr>
          <a:xfrm>
            <a:off x="2269033" y="3338512"/>
            <a:ext cx="27839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5"/>
          <p:cNvSpPr/>
          <p:nvPr/>
        </p:nvSpPr>
        <p:spPr>
          <a:xfrm>
            <a:off x="5053012" y="3338512"/>
            <a:ext cx="656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5"/>
          <p:cNvSpPr/>
          <p:nvPr/>
        </p:nvSpPr>
        <p:spPr>
          <a:xfrm>
            <a:off x="571500" y="3929062"/>
            <a:ext cx="1697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5"/>
          <p:cNvSpPr/>
          <p:nvPr/>
        </p:nvSpPr>
        <p:spPr>
          <a:xfrm>
            <a:off x="2269033" y="3929062"/>
            <a:ext cx="27839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5"/>
          <p:cNvSpPr/>
          <p:nvPr/>
        </p:nvSpPr>
        <p:spPr>
          <a:xfrm>
            <a:off x="5053012" y="3929062"/>
            <a:ext cx="656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5"/>
          <p:cNvSpPr/>
          <p:nvPr/>
        </p:nvSpPr>
        <p:spPr>
          <a:xfrm>
            <a:off x="571500" y="4519612"/>
            <a:ext cx="1697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5"/>
          <p:cNvSpPr/>
          <p:nvPr/>
        </p:nvSpPr>
        <p:spPr>
          <a:xfrm>
            <a:off x="2269033" y="4519612"/>
            <a:ext cx="27839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5"/>
          <p:cNvSpPr/>
          <p:nvPr/>
        </p:nvSpPr>
        <p:spPr>
          <a:xfrm>
            <a:off x="5053012" y="4519612"/>
            <a:ext cx="656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5"/>
          <p:cNvSpPr/>
          <p:nvPr/>
        </p:nvSpPr>
        <p:spPr>
          <a:xfrm>
            <a:off x="571500" y="5110162"/>
            <a:ext cx="1697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5"/>
          <p:cNvSpPr/>
          <p:nvPr/>
        </p:nvSpPr>
        <p:spPr>
          <a:xfrm>
            <a:off x="2269033" y="5110162"/>
            <a:ext cx="27839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5"/>
          <p:cNvSpPr/>
          <p:nvPr/>
        </p:nvSpPr>
        <p:spPr>
          <a:xfrm>
            <a:off x="5053012" y="5110162"/>
            <a:ext cx="656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5"/>
          <p:cNvSpPr/>
          <p:nvPr/>
        </p:nvSpPr>
        <p:spPr>
          <a:xfrm>
            <a:off x="571500" y="5700712"/>
            <a:ext cx="169753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5"/>
          <p:cNvSpPr/>
          <p:nvPr/>
        </p:nvSpPr>
        <p:spPr>
          <a:xfrm>
            <a:off x="2269033" y="5700712"/>
            <a:ext cx="27839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5"/>
          <p:cNvSpPr/>
          <p:nvPr/>
        </p:nvSpPr>
        <p:spPr>
          <a:xfrm>
            <a:off x="5053012" y="5700712"/>
            <a:ext cx="656748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8" name="Google Shape;42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85950"/>
            <a:ext cx="3429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9" name="Google Shape;42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885950"/>
            <a:ext cx="3429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0" name="Google Shape;430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0" y="1885950"/>
            <a:ext cx="342900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B8A6"/>
                </a:solidFill>
                <a:latin typeface="Merriweather"/>
                <a:ea typeface="Merriweather"/>
                <a:cs typeface="Merriweather"/>
                <a:sym typeface="Merriweather"/>
              </a:rPr>
              <a:t>Real-World NLP Applications</a:t>
            </a:r>
            <a:endParaRPr/>
          </a:p>
        </p:txBody>
      </p:sp>
      <p:sp>
        <p:nvSpPr>
          <p:cNvPr id="432" name="Google Shape;432;p36"/>
          <p:cNvSpPr txBox="1"/>
          <p:nvPr/>
        </p:nvSpPr>
        <p:spPr>
          <a:xfrm>
            <a:off x="485775" y="4457700"/>
            <a:ext cx="3600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Merriweather"/>
                <a:ea typeface="Merriweather"/>
                <a:cs typeface="Merriweather"/>
                <a:sym typeface="Merriweather"/>
              </a:rPr>
              <a:t>Customer Support</a:t>
            </a:r>
            <a:endParaRPr/>
          </a:p>
        </p:txBody>
      </p:sp>
      <p:sp>
        <p:nvSpPr>
          <p:cNvPr id="433" name="Google Shape;433;p36"/>
          <p:cNvSpPr txBox="1"/>
          <p:nvPr/>
        </p:nvSpPr>
        <p:spPr>
          <a:xfrm>
            <a:off x="571500" y="4867275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Automated chatbots and triage systems routing support tickets via intent classification.</a:t>
            </a:r>
            <a:endParaRPr/>
          </a:p>
        </p:txBody>
      </p:sp>
      <p:sp>
        <p:nvSpPr>
          <p:cNvPr id="434" name="Google Shape;434;p36"/>
          <p:cNvSpPr txBox="1"/>
          <p:nvPr/>
        </p:nvSpPr>
        <p:spPr>
          <a:xfrm>
            <a:off x="4295775" y="4457700"/>
            <a:ext cx="3600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Merriweather"/>
                <a:ea typeface="Merriweather"/>
                <a:cs typeface="Merriweather"/>
                <a:sym typeface="Merriweather"/>
              </a:rPr>
              <a:t>Real-time Translation</a:t>
            </a:r>
            <a:endParaRPr/>
          </a:p>
        </p:txBody>
      </p:sp>
      <p:sp>
        <p:nvSpPr>
          <p:cNvPr id="435" name="Google Shape;435;p36"/>
          <p:cNvSpPr txBox="1"/>
          <p:nvPr/>
        </p:nvSpPr>
        <p:spPr>
          <a:xfrm>
            <a:off x="4381500" y="4867275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Breaking language barriers with near-instant context-aware translation tools.</a:t>
            </a:r>
            <a:endParaRPr/>
          </a:p>
        </p:txBody>
      </p:sp>
      <p:sp>
        <p:nvSpPr>
          <p:cNvPr id="436" name="Google Shape;436;p36"/>
          <p:cNvSpPr txBox="1"/>
          <p:nvPr/>
        </p:nvSpPr>
        <p:spPr>
          <a:xfrm>
            <a:off x="8105775" y="4457700"/>
            <a:ext cx="3600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3B82F6"/>
                </a:solidFill>
                <a:latin typeface="Merriweather"/>
                <a:ea typeface="Merriweather"/>
                <a:cs typeface="Merriweather"/>
                <a:sym typeface="Merriweather"/>
              </a:rPr>
              <a:t>Clinical Informatics</a:t>
            </a:r>
            <a:endParaRPr/>
          </a:p>
        </p:txBody>
      </p:sp>
      <p:sp>
        <p:nvSpPr>
          <p:cNvPr id="437" name="Google Shape;437;p36"/>
          <p:cNvSpPr txBox="1"/>
          <p:nvPr/>
        </p:nvSpPr>
        <p:spPr>
          <a:xfrm>
            <a:off x="8191500" y="4867275"/>
            <a:ext cx="3429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Extracting structured patient data from unstructured EHR notes for research.</a:t>
            </a:r>
            <a:endParaRPr/>
          </a:p>
        </p:txBody>
      </p:sp>
      <p:pic>
        <p:nvPicPr>
          <p:cNvPr descr="image.png" id="438" name="Google Shape;438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895475"/>
            <a:ext cx="34099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9" name="Google Shape;439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91025" y="1895475"/>
            <a:ext cx="340995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0" name="Google Shape;440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01025" y="1895475"/>
            <a:ext cx="3409950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5" name="Google Shape;44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1562" y="1762125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3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B8A6"/>
                </a:solidFill>
                <a:latin typeface="Merriweather"/>
                <a:ea typeface="Merriweather"/>
                <a:cs typeface="Merriweather"/>
                <a:sym typeface="Merriweather"/>
              </a:rPr>
              <a:t>Ethical Considerations &amp; Bias</a:t>
            </a:r>
            <a:endParaRPr/>
          </a:p>
        </p:txBody>
      </p:sp>
      <p:sp>
        <p:nvSpPr>
          <p:cNvPr id="447" name="Google Shape;447;p37"/>
          <p:cNvSpPr txBox="1"/>
          <p:nvPr/>
        </p:nvSpPr>
        <p:spPr>
          <a:xfrm>
            <a:off x="6334125" y="1685925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With Great Power...</a:t>
            </a:r>
            <a:endParaRPr/>
          </a:p>
        </p:txBody>
      </p:sp>
      <p:sp>
        <p:nvSpPr>
          <p:cNvPr id="448" name="Google Shape;448;p37"/>
          <p:cNvSpPr txBox="1"/>
          <p:nvPr/>
        </p:nvSpPr>
        <p:spPr>
          <a:xfrm>
            <a:off x="6334125" y="21717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NLP models learn from human data, meaning they inherit human biases, stereotypes, and prejudices.</a:t>
            </a:r>
            <a:endParaRPr/>
          </a:p>
        </p:txBody>
      </p:sp>
      <p:pic>
        <p:nvPicPr>
          <p:cNvPr descr="image.png" id="449" name="Google Shape;44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1562" y="1762125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37"/>
          <p:cNvSpPr txBox="1"/>
          <p:nvPr/>
        </p:nvSpPr>
        <p:spPr>
          <a:xfrm>
            <a:off x="6667500" y="29241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Representational Harm: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Associating specific genders or races with negative sentiment or specific jobs.</a:t>
            </a:r>
            <a:endParaRPr/>
          </a:p>
        </p:txBody>
      </p:sp>
      <p:sp>
        <p:nvSpPr>
          <p:cNvPr id="451" name="Google Shape;451;p37"/>
          <p:cNvSpPr txBox="1"/>
          <p:nvPr/>
        </p:nvSpPr>
        <p:spPr>
          <a:xfrm>
            <a:off x="6667500" y="37242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Hallucinations: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Generating authoritative but entirely false information.</a:t>
            </a:r>
            <a:endParaRPr/>
          </a:p>
        </p:txBody>
      </p:sp>
      <p:sp>
        <p:nvSpPr>
          <p:cNvPr id="452" name="Google Shape;452;p37"/>
          <p:cNvSpPr txBox="1"/>
          <p:nvPr/>
        </p:nvSpPr>
        <p:spPr>
          <a:xfrm>
            <a:off x="6667500" y="45243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Data Privacy: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Models inadvertently memorizing and regurgitating PII from training sets.</a:t>
            </a:r>
            <a:endParaRPr/>
          </a:p>
        </p:txBody>
      </p:sp>
      <p:sp>
        <p:nvSpPr>
          <p:cNvPr id="453" name="Google Shape;453;p37"/>
          <p:cNvSpPr txBox="1"/>
          <p:nvPr/>
        </p:nvSpPr>
        <p:spPr>
          <a:xfrm>
            <a:off x="6667500" y="53244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Environmental Impact: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The massive carbon footprint of training trillion-parameter models.</a:t>
            </a:r>
            <a:endParaRPr/>
          </a:p>
        </p:txBody>
      </p:sp>
      <p:pic>
        <p:nvPicPr>
          <p:cNvPr descr="image.png" id="454" name="Google Shape;454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92417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5" name="Google Shape;455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72427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6" name="Google Shape;456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452437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7" name="Google Shape;457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5324475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8"/>
          <p:cNvSpPr txBox="1"/>
          <p:nvPr/>
        </p:nvSpPr>
        <p:spPr>
          <a:xfrm>
            <a:off x="295275" y="2302222"/>
            <a:ext cx="11601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4B8A6"/>
                </a:solidFill>
                <a:latin typeface="Merriweather"/>
                <a:ea typeface="Merriweather"/>
                <a:cs typeface="Merriweather"/>
                <a:sym typeface="Merriweather"/>
              </a:rPr>
              <a:t>Lab 1: Sentiment Analysis with Transformers</a:t>
            </a:r>
            <a:endParaRPr/>
          </a:p>
        </p:txBody>
      </p:sp>
      <p:sp>
        <p:nvSpPr>
          <p:cNvPr id="463" name="Google Shape;463;p38"/>
          <p:cNvSpPr txBox="1"/>
          <p:nvPr/>
        </p:nvSpPr>
        <p:spPr>
          <a:xfrm>
            <a:off x="1866900" y="4016722"/>
            <a:ext cx="84582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1F5F9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Using the Hugging Face Pipeline API to classify text sentiment in Python.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9"/>
          <p:cNvSpPr txBox="1"/>
          <p:nvPr/>
        </p:nvSpPr>
        <p:spPr>
          <a:xfrm>
            <a:off x="295275" y="2302222"/>
            <a:ext cx="116014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4B8A6"/>
                </a:solidFill>
                <a:latin typeface="Merriweather"/>
                <a:ea typeface="Merriweather"/>
                <a:cs typeface="Merriweather"/>
                <a:sym typeface="Merriweather"/>
              </a:rPr>
              <a:t>Lab 2: Building a Simple RAG Application</a:t>
            </a:r>
            <a:endParaRPr/>
          </a:p>
        </p:txBody>
      </p:sp>
      <p:sp>
        <p:nvSpPr>
          <p:cNvPr id="469" name="Google Shape;469;p39"/>
          <p:cNvSpPr txBox="1"/>
          <p:nvPr/>
        </p:nvSpPr>
        <p:spPr>
          <a:xfrm>
            <a:off x="1771650" y="4016722"/>
            <a:ext cx="86487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1F5F9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Connecting LLMs to external data using LangChain and Vector Databases.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4" name="Google Shape;47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90712"/>
            <a:ext cx="3429000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5" name="Google Shape;47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1890712"/>
            <a:ext cx="3429000" cy="402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6" name="Google Shape;476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1890712"/>
            <a:ext cx="3429000" cy="4029075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4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B8A6"/>
                </a:solidFill>
                <a:latin typeface="Merriweather"/>
                <a:ea typeface="Merriweather"/>
                <a:cs typeface="Merriweather"/>
                <a:sym typeface="Merriweather"/>
              </a:rPr>
              <a:t>The Future of NLP</a:t>
            </a:r>
            <a:endParaRPr/>
          </a:p>
        </p:txBody>
      </p:sp>
      <p:sp>
        <p:nvSpPr>
          <p:cNvPr id="478" name="Google Shape;478;p40"/>
          <p:cNvSpPr txBox="1"/>
          <p:nvPr/>
        </p:nvSpPr>
        <p:spPr>
          <a:xfrm>
            <a:off x="895826" y="3071812"/>
            <a:ext cx="278034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Multimodal AI</a:t>
            </a:r>
            <a:endParaRPr/>
          </a:p>
        </p:txBody>
      </p:sp>
      <p:sp>
        <p:nvSpPr>
          <p:cNvPr id="479" name="Google Shape;479;p40"/>
          <p:cNvSpPr txBox="1"/>
          <p:nvPr/>
        </p:nvSpPr>
        <p:spPr>
          <a:xfrm>
            <a:off x="962025" y="3557587"/>
            <a:ext cx="26479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Moving beyond just text. Models that natively understand and generate text, audio, images, and video simultaneously (e.g., GPT-4o, Gemini).</a:t>
            </a:r>
            <a:endParaRPr/>
          </a:p>
        </p:txBody>
      </p:sp>
      <p:sp>
        <p:nvSpPr>
          <p:cNvPr id="480" name="Google Shape;480;p40"/>
          <p:cNvSpPr txBox="1"/>
          <p:nvPr/>
        </p:nvSpPr>
        <p:spPr>
          <a:xfrm>
            <a:off x="4705826" y="3071812"/>
            <a:ext cx="278034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Efficient AI (SLMs)</a:t>
            </a:r>
            <a:endParaRPr/>
          </a:p>
        </p:txBody>
      </p:sp>
      <p:sp>
        <p:nvSpPr>
          <p:cNvPr id="481" name="Google Shape;481;p40"/>
          <p:cNvSpPr txBox="1"/>
          <p:nvPr/>
        </p:nvSpPr>
        <p:spPr>
          <a:xfrm>
            <a:off x="4772025" y="3557587"/>
            <a:ext cx="26479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Small Language Models running locally on edge devices and phones, providing privacy and zero latency without the massive cloud compute.</a:t>
            </a:r>
            <a:endParaRPr/>
          </a:p>
        </p:txBody>
      </p:sp>
      <p:sp>
        <p:nvSpPr>
          <p:cNvPr id="482" name="Google Shape;482;p40"/>
          <p:cNvSpPr txBox="1"/>
          <p:nvPr/>
        </p:nvSpPr>
        <p:spPr>
          <a:xfrm>
            <a:off x="8515826" y="3071812"/>
            <a:ext cx="278034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Merriweather"/>
                <a:ea typeface="Merriweather"/>
                <a:cs typeface="Merriweather"/>
                <a:sym typeface="Merriweather"/>
              </a:rPr>
              <a:t>Agentic NLP</a:t>
            </a:r>
            <a:endParaRPr/>
          </a:p>
        </p:txBody>
      </p:sp>
      <p:sp>
        <p:nvSpPr>
          <p:cNvPr id="483" name="Google Shape;483;p40"/>
          <p:cNvSpPr txBox="1"/>
          <p:nvPr/>
        </p:nvSpPr>
        <p:spPr>
          <a:xfrm>
            <a:off x="8582025" y="3557587"/>
            <a:ext cx="26479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AI systems that don't just chat, but can plan, use tools, browse the web, and execute autonomous tasks across software ecosystems.</a:t>
            </a:r>
            <a:endParaRPr/>
          </a:p>
        </p:txBody>
      </p:sp>
      <p:pic>
        <p:nvPicPr>
          <p:cNvPr descr="image.png" id="484" name="Google Shape;484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00250" y="23383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5" name="Google Shape;485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7400" y="23383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6" name="Google Shape;486;p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0250" y="2338387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4B8A6"/>
                </a:solidFill>
                <a:latin typeface="Merriweather"/>
                <a:ea typeface="Merriweather"/>
                <a:cs typeface="Merriweather"/>
                <a:sym typeface="Merriweather"/>
              </a:rPr>
              <a:t>Key Takeaways</a:t>
            </a:r>
            <a:endParaRPr/>
          </a:p>
        </p:txBody>
      </p:sp>
      <p:sp>
        <p:nvSpPr>
          <p:cNvPr id="492" name="Google Shape;492;p41"/>
          <p:cNvSpPr txBox="1"/>
          <p:nvPr/>
        </p:nvSpPr>
        <p:spPr>
          <a:xfrm>
            <a:off x="904875" y="2209800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Evolution: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NLP has evolved from rigid rule-based systems to highly adaptable probabilistic and neural models.</a:t>
            </a:r>
            <a:endParaRPr/>
          </a:p>
        </p:txBody>
      </p:sp>
      <p:sp>
        <p:nvSpPr>
          <p:cNvPr id="493" name="Google Shape;493;p41"/>
          <p:cNvSpPr txBox="1"/>
          <p:nvPr/>
        </p:nvSpPr>
        <p:spPr>
          <a:xfrm>
            <a:off x="904875" y="2705100"/>
            <a:ext cx="10715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The Transformer Shift: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The attention mechanism fundamentally solved the sequence bottleneck, allowing models to scale exponentially.</a:t>
            </a:r>
            <a:endParaRPr/>
          </a:p>
        </p:txBody>
      </p:sp>
      <p:sp>
        <p:nvSpPr>
          <p:cNvPr id="494" name="Google Shape;494;p41"/>
          <p:cNvSpPr txBox="1"/>
          <p:nvPr/>
        </p:nvSpPr>
        <p:spPr>
          <a:xfrm>
            <a:off x="904875" y="3505200"/>
            <a:ext cx="10715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Pre-training is Universal: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Almost all modern NLP relies on transfer learning—taking a massive foundation model and adapting it.</a:t>
            </a:r>
            <a:endParaRPr/>
          </a:p>
        </p:txBody>
      </p:sp>
      <p:sp>
        <p:nvSpPr>
          <p:cNvPr id="495" name="Google Shape;495;p41"/>
          <p:cNvSpPr txBox="1"/>
          <p:nvPr/>
        </p:nvSpPr>
        <p:spPr>
          <a:xfrm>
            <a:off x="904875" y="4305300"/>
            <a:ext cx="10715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RAG is the Enterprise Standard: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Retrieval-Augmented Generation bridges the gap between LLM intelligence and proprietary, factual data.</a:t>
            </a:r>
            <a:endParaRPr/>
          </a:p>
        </p:txBody>
      </p:sp>
      <p:sp>
        <p:nvSpPr>
          <p:cNvPr id="496" name="Google Shape;496;p41"/>
          <p:cNvSpPr txBox="1"/>
          <p:nvPr/>
        </p:nvSpPr>
        <p:spPr>
          <a:xfrm>
            <a:off x="904875" y="5105400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Ethics Matter:</a:t>
            </a: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As these systems become pervasive, active mitigation of bias, toxicity, and hallucinations is paramount.</a:t>
            </a:r>
            <a:endParaRPr/>
          </a:p>
        </p:txBody>
      </p:sp>
      <p:pic>
        <p:nvPicPr>
          <p:cNvPr descr="image.png" id="497" name="Google Shape;49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0980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8" name="Google Shape;49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0510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9" name="Google Shape;49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50520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0" name="Google Shape;50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30530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1" name="Google Shape;50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105400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2"/>
          <p:cNvSpPr txBox="1"/>
          <p:nvPr/>
        </p:nvSpPr>
        <p:spPr>
          <a:xfrm>
            <a:off x="3490674" y="2327969"/>
            <a:ext cx="5210651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14B8A6"/>
                </a:solidFill>
                <a:latin typeface="Merriweather"/>
                <a:ea typeface="Merriweather"/>
                <a:cs typeface="Merriweather"/>
                <a:sym typeface="Merriweather"/>
              </a:rPr>
              <a:t>Questions?</a:t>
            </a:r>
            <a:endParaRPr/>
          </a:p>
        </p:txBody>
      </p:sp>
      <p:sp>
        <p:nvSpPr>
          <p:cNvPr id="507" name="Google Shape;507;p42"/>
          <p:cNvSpPr txBox="1"/>
          <p:nvPr/>
        </p:nvSpPr>
        <p:spPr>
          <a:xfrm>
            <a:off x="3614737" y="3661469"/>
            <a:ext cx="49626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1F5F9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1F5F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