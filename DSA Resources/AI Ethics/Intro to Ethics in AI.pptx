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9E8747-D17C-4EE0-8C87-BA8F6221E71D}">
  <a:tblStyle styleId="{309E8747-D17C-4EE0-8C87-BA8F6221E71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11.png"/><Relationship Id="rId8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2334666"/>
            <a:ext cx="9001125" cy="1076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25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Intro to Ethics in AI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601491"/>
            <a:ext cx="8572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Examining the societal impact, responsible governance, and ethical deployment of Artificial Intelligence in a rapidly changing world.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524500" y="2418457"/>
            <a:ext cx="1143000" cy="571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350281" y="2808982"/>
            <a:ext cx="11491436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Core Concepts &amp; The Bias Problem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286000" y="3980557"/>
            <a:ext cx="76200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Understanding algorithmic prejudice and its impact on marginalized communities.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571500" y="2957512"/>
            <a:ext cx="52387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0.97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571500" y="4576762"/>
            <a:ext cx="5238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Disparate Impact Score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6381750" y="2581275"/>
            <a:ext cx="550068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Mitigating Bias in Systems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381750" y="316230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AI models trained on historical data often replicate societal and institutional biases, posing severe threats to fairness in fields like recruitment and healthcare.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381750" y="421957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Recent studies show that using bias mitigation techniques like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 reweighing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can achieve near-perfect fairness (a Disparate Impact score of 0.97) with minimal reduction in model accuracy.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Quantifying AI Fairness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573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695325" y="17573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809625" y="1757362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Individual Profiling: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AI systems collect and analyze vast amounts of data to create profiles, often without explicit consent, leading to severe privacy violations.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695325" y="28432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809625" y="2843212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Marginalization: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Systematic exclusion of specific demographic groups due to skewed training data.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695325" y="36242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809625" y="3624262"/>
            <a:ext cx="50006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Public Health Inequities: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Predictive algorithms in healthcare have historically drawn from unrepresentative datasets, systematically underestimating the medical needs of minority populations.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695325" y="50149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09625" y="5014912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Real-World Impact: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These biases are not theoretical; they manifest as material harm, eroding trust and reinforcing historical prejudices.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Algorithmic Bias in Society</a:t>
            </a:r>
            <a:endParaRPr/>
          </a:p>
        </p:txBody>
      </p:sp>
      <p:pic>
        <p:nvPicPr>
          <p:cNvPr id="121" name="Google Shape;12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2598" y="446550"/>
            <a:ext cx="5639402" cy="566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049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695325" y="16049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809625" y="1604962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Premise: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Amazon developed an AI-powered recruiting tool to automate the screening of job applicants and identify top talent.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695325" y="26908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809625" y="2690812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Training Data Bias: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system was trained on resumes submitted over a ten-year period, reflecting a heavily male-dominated tech industry.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695325" y="37766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809625" y="3776662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Feature Selection Bias: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algorithm inadvertently learned to penalize resumes containing words associated with women.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95325" y="48625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09625" y="4862512"/>
            <a:ext cx="50006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Result: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Amazon ultimately scrapped the tool. It remains a stark reminder that blind reliance on historical data can perpetuate discrimination and result in the loss of diverse talent.</a:t>
            </a:r>
            <a:endParaRPr/>
          </a:p>
        </p:txBody>
      </p:sp>
      <p:pic>
        <p:nvPicPr>
          <p:cNvPr descr="image.png" id="136" name="Google Shape;13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6049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Case Study: Amazon Hiring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38300"/>
            <a:ext cx="3492549" cy="4581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638300"/>
            <a:ext cx="3492549" cy="4581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638300"/>
            <a:ext cx="3492549" cy="45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962025" y="2838450"/>
            <a:ext cx="2847074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Social Media Privacy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962025" y="3857625"/>
            <a:ext cx="271149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Platforms collect vast personal data, risking targeted manipulation, algorithmic echo chambers, and massive data breaches without adequate user consent.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4740324" y="2838450"/>
            <a:ext cx="2847074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Government Surveillance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4740324" y="3857625"/>
            <a:ext cx="271149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collection of massive datasets for national security requires strict oversight. Unchecked surveillance can erode civil liberties and normalize constant monitoring.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8518624" y="2838450"/>
            <a:ext cx="2810351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Facial Recognition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8518624" y="3419475"/>
            <a:ext cx="271149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Real-time tracking capabilities present severe ethical concerns, including lack of transparency, lack of informed consent, and disproportionate misidentification of minorities.</a:t>
            </a:r>
            <a:endParaRPr/>
          </a:p>
        </p:txBody>
      </p:sp>
      <p:pic>
        <p:nvPicPr>
          <p:cNvPr descr="image.png" id="152" name="Google Shape;15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076450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0324" y="20764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8624" y="207645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Protection &amp; Surveillance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571500" y="571500"/>
            <a:ext cx="5500687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Case Study: Data Harvesting</a:t>
            </a:r>
            <a:endParaRPr/>
          </a:p>
        </p:txBody>
      </p:sp>
      <p:pic>
        <p:nvPicPr>
          <p:cNvPr descr="image.png" id="162" name="Google Shape;1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571500" y="2362200"/>
            <a:ext cx="550068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Cambridge Analytica Scandal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571500" y="294322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 2018, it was revealed that a political data firm gained access to the private information of over 50 million Facebook users without explicit consent.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571500" y="400050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Using a personality quiz app, researchers exploited loose privacy settings to harvest data from users and their entire friend networks to build psychological profiles.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571500" y="505777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Consequence: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This triggered global outrage, leading to historic FTC fines and accelerating the implementation of strict data protection laws worldwide.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2" name="Google Shape;172;p20"/>
          <p:cNvGraphicFramePr/>
          <p:nvPr/>
        </p:nvGraphicFramePr>
        <p:xfrm>
          <a:off x="571500" y="13031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{309E8747-D17C-4EE0-8C87-BA8F6221E71D}</a:tableStyleId>
              </a:tblPr>
              <a:tblGrid>
                <a:gridCol w="1907825"/>
                <a:gridCol w="2787400"/>
                <a:gridCol w="6353775"/>
              </a:tblGrid>
              <a:tr h="105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Core Principle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Strategic Focus Area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Objective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105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Democracy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Equal access and control of 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Preventing data monopolies and empowering marginalized communities to participate in data-driven decisions.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5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Conscious AI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Human values and moral principles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Designing algorithms that align with societal needs, ethics, and clear boundaries of non-maleficence.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5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Sustainability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Environmental and economic impact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Mitigating the massive energy consumption of data centers and ensuring equitable distribution of AI benefits.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5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Accountability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Transparency and explainability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Establishing clear chains of responsibility for automated decisions to maintain public trust.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3" name="Google Shape;173;p20"/>
          <p:cNvSpPr/>
          <p:nvPr/>
        </p:nvSpPr>
        <p:spPr>
          <a:xfrm>
            <a:off x="571500" y="2383035"/>
            <a:ext cx="190782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2479327" y="2383035"/>
            <a:ext cx="2787401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5266729" y="2383035"/>
            <a:ext cx="635377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571500" y="3435548"/>
            <a:ext cx="19078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2479327" y="3435548"/>
            <a:ext cx="27874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5266729" y="3435548"/>
            <a:ext cx="63537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571500" y="4473773"/>
            <a:ext cx="19078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2479327" y="4473773"/>
            <a:ext cx="27874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5266729" y="4473773"/>
            <a:ext cx="63537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571500" y="5511998"/>
            <a:ext cx="19078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2479327" y="5511998"/>
            <a:ext cx="27874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5266729" y="5511998"/>
            <a:ext cx="63537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571500" y="303014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Frameworks for Responsible AI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573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695325" y="17573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809625" y="1757362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Challenge: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Autonomous Vehicles (AVs) must make split-second ethical decisions in complex, potentially life-threatening environments.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695325" y="28432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809625" y="2843212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Ethical Algorithms: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Companies like "SafeDrive Inc." implement frameworks where safety for pedestrians and occupants is the absolute priority.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95325" y="39290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809625" y="3929062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Liability &amp; Accountability: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Determining responsibility in the event of an accident requires robust legal frameworks and clear chains of command.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95325" y="50149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809625" y="5014912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Transparency: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 gain public trust, AV systems must be explainable, providing real-time reasoning for their sudden maneuvers and decisions.</a:t>
            </a:r>
            <a:endParaRPr/>
          </a:p>
        </p:txBody>
      </p:sp>
      <p:pic>
        <p:nvPicPr>
          <p:cNvPr descr="image.png" id="200" name="Google Shape;20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7573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Case Study: Autonomous Vehicles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1857375" y="2233612"/>
            <a:ext cx="9001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Respect for Autonomy: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Researchers must obtain informed consent, ensuring participants understand how their data will be collected, used, and protected in AI modeling.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1857375" y="3081337"/>
            <a:ext cx="9001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Persuasive Applications: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Apps that leverage psychology and AI to influence behavior must be heavily scrutinized to prevent undue manipulation and coercion of vulnerable users.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1857375" y="3929062"/>
            <a:ext cx="9001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Open Source Auditing: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development of open-source toolkits allows the community to standardize model assessment, ensuring transparent evaluations of algorithmic fairness.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1857375" y="4776787"/>
            <a:ext cx="9001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Interdisciplinary Collaboration: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Striking the balance between innovation and ethics requires collaboration across computer science, sociology, law, and philosophy.</a:t>
            </a:r>
            <a:endParaRPr/>
          </a:p>
        </p:txBody>
      </p:sp>
      <p:pic>
        <p:nvPicPr>
          <p:cNvPr descr="image.png" id="211" name="Google Shape;21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247900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095625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394335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3500" y="4791075"/>
            <a:ext cx="3333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AI Research &amp; Ethics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573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695325" y="17573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809625" y="1757362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International Cooperation: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global nature of AI necessitates unified frameworks. Organizations like the UN and OECD provide vital guidelines for trustworthy AI.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695325" y="28432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809625" y="2843212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GDPR &amp; Data Governance: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Cross-border data flows must be regulated to ensure privacy. The EU's GDPR established the critical "right to explanation" for automated decisions.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695325" y="39290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809625" y="3929062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National Strategies: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Countries are balancing the drive for technological dominance with the need to protect their citizens through strict sector regulations.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695325" y="50149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809625" y="5014912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Ultimate Goal: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Policies must ensure that AI serves humanity, respects fundamental human rights, and bridges rather than widens the digital divide.</a:t>
            </a:r>
            <a:endParaRPr/>
          </a:p>
        </p:txBody>
      </p:sp>
      <p:pic>
        <p:nvPicPr>
          <p:cNvPr descr="image.png" id="230" name="Google Shape;23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7573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Global AI Policy &amp; Governance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/>
          <p:cNvSpPr txBox="1"/>
          <p:nvPr/>
        </p:nvSpPr>
        <p:spPr>
          <a:xfrm>
            <a:off x="295200" y="2909542"/>
            <a:ext cx="116016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571500" y="3401317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