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Inter"/>
      <p:regular r:id="rId21"/>
      <p:bold r:id="rId22"/>
      <p:italic r:id="rId23"/>
      <p:boldItalic r:id="rId24"/>
    </p:embeddedFont>
    <p:embeddedFont>
      <p:font typeface="Space Grotesk Medium"/>
      <p:regular r:id="rId25"/>
      <p:bold r:id="rId26"/>
    </p:embeddedFont>
    <p:embeddedFont>
      <p:font typeface="Inter Medium"/>
      <p:regular r:id="rId27"/>
      <p:bold r:id="rId28"/>
      <p:italic r:id="rId29"/>
      <p:boldItalic r:id="rId30"/>
    </p:embeddedFont>
    <p:embeddedFont>
      <p:font typeface="Space Grotesk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aceGroteskMedium-bold.fntdata"/><Relationship Id="rId25" Type="http://schemas.openxmlformats.org/officeDocument/2006/relationships/font" Target="fonts/SpaceGroteskMedium-regular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paceGrotesk-regular.fntdata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SpaceGrotesk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8.png"/><Relationship Id="rId13" Type="http://schemas.openxmlformats.org/officeDocument/2006/relationships/image" Target="../media/image6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9" Type="http://schemas.openxmlformats.org/officeDocument/2006/relationships/image" Target="../media/image2.png"/><Relationship Id="rId15" Type="http://schemas.openxmlformats.org/officeDocument/2006/relationships/image" Target="../media/image13.png"/><Relationship Id="rId1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34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9" Type="http://schemas.openxmlformats.org/officeDocument/2006/relationships/image" Target="../media/image36.jpg"/><Relationship Id="rId5" Type="http://schemas.openxmlformats.org/officeDocument/2006/relationships/image" Target="../media/image28.png"/><Relationship Id="rId6" Type="http://schemas.openxmlformats.org/officeDocument/2006/relationships/image" Target="../media/image23.png"/><Relationship Id="rId7" Type="http://schemas.openxmlformats.org/officeDocument/2006/relationships/image" Target="../media/image32.png"/><Relationship Id="rId8" Type="http://schemas.openxmlformats.org/officeDocument/2006/relationships/image" Target="../media/image3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34.png"/><Relationship Id="rId5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33.png"/><Relationship Id="rId8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2194768"/>
            <a:ext cx="11581447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Agents: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Architecture &amp; Applications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931890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 comprehensive masterclass for building autonomous, reasoning-capable AI systems in 2026.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1884461" y="1980307"/>
            <a:ext cx="8422927" cy="224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0F6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The value of AI is no longer just in answering questions, but in acting autonomously within defined constraints to achieve complex goals.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4095601" y="4601467"/>
            <a:ext cx="40005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— The Shift from Chatbots to Agents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217711" y="2361307"/>
            <a:ext cx="533400" cy="14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BC8C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"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0440740" y="4125222"/>
            <a:ext cx="533400" cy="14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BC8C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5619750" y="2310854"/>
            <a:ext cx="9525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2780585" y="2653754"/>
            <a:ext cx="663082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Part 1: </a:t>
            </a:r>
            <a:r>
              <a:rPr b="1" i="0" lang="en-US" sz="4800" u="none" cap="none" strike="noStrike">
                <a:solidFill>
                  <a:srgbClr val="58A6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Concepts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2286000" y="3663404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Understanding the fundamental difference between standard Large Language Models and Agentic Systems.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847725" y="1495425"/>
            <a:ext cx="5010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Beyond Text Generation: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While standard LLMs only generate text based on prompts, agents possess the ability to perceive, decide, and act.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847725" y="2524125"/>
            <a:ext cx="5010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Autonomy: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They operate in continuous loops, breaking down high-level instructions into executable sub-tasks.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847725" y="3552825"/>
            <a:ext cx="5010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Tool Orchestration: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Agents can trigger external APIs, search the web, execute code, and query databases in real-time.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847725" y="4581525"/>
            <a:ext cx="5010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State Management: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They maintain context and adapt their strategy if an initial approach fails.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581025" y="1476375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581025" y="2505075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81025" y="3533775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81025" y="4562475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is an AI Agent?</a:t>
            </a:r>
            <a:endParaRPr/>
          </a:p>
        </p:txBody>
      </p:sp>
      <p:pic>
        <p:nvPicPr>
          <p:cNvPr id="118" name="Google Shape;11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1176" y="0"/>
            <a:ext cx="5391298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95425"/>
            <a:ext cx="2543175" cy="451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1495425"/>
            <a:ext cx="2543175" cy="451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495425"/>
            <a:ext cx="2543175" cy="451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67800" y="1495425"/>
            <a:ext cx="2543175" cy="451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17907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76300" y="2628900"/>
            <a:ext cx="14701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Perception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876300" y="3124200"/>
            <a:ext cx="19526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Input processing that transforms raw text, APIs, or sensor data into a structured format the reasoning engine can parse.</a:t>
            </a:r>
            <a:endParaRPr/>
          </a:p>
        </p:txBody>
      </p:sp>
      <p:pic>
        <p:nvPicPr>
          <p:cNvPr descr="image.png" id="131" name="Google Shape;13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05225" y="17907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3705225" y="2628900"/>
            <a:ext cx="141017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Reasoning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3705225" y="3124200"/>
            <a:ext cx="1952625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The core LLM engine responsible for decision-making, planning, tool selection, and adapting to unexpected outcomes.</a:t>
            </a:r>
            <a:endParaRPr/>
          </a:p>
        </p:txBody>
      </p:sp>
      <p:pic>
        <p:nvPicPr>
          <p:cNvPr descr="image.png" id="134" name="Google Shape;13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34150" y="17907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6534150" y="2628900"/>
            <a:ext cx="11001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Memory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534150" y="3124200"/>
            <a:ext cx="1952625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Systems maintaining short-term conversation state (context window) and long-term episodic recall (Vector DBs).</a:t>
            </a:r>
            <a:endParaRPr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363075" y="17907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9363075" y="2628900"/>
            <a:ext cx="69008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Tools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363075" y="3124200"/>
            <a:ext cx="19526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Execution layers utilizing Function Calling and MCPs (Model Context Protocol) to integrate with enterprise APIs.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85837" y="1924050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838575" y="192405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86550" y="1924050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496425" y="192405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Four Foundational Layers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81025" y="2795587"/>
            <a:ext cx="52768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3FB950"/>
                </a:solidFill>
                <a:latin typeface="Space Grotesk"/>
                <a:ea typeface="Space Grotesk"/>
                <a:cs typeface="Space Grotesk"/>
                <a:sym typeface="Space Grotesk"/>
              </a:rPr>
              <a:t>40%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81025" y="4281487"/>
            <a:ext cx="52768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9D1D9"/>
                </a:solidFill>
                <a:latin typeface="Inter Medium"/>
                <a:ea typeface="Inter Medium"/>
                <a:cs typeface="Inter Medium"/>
                <a:sym typeface="Inter Medium"/>
              </a:rPr>
              <a:t>of Enterprise Apps (Gartner)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334125" y="2066925"/>
            <a:ext cx="55406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Rapid Industry Adoption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334125" y="2562225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By the end of 2026, Gartner projects that 40% of all enterprise applications will feature task-specific AI agents, scaling dramatically from less than 5% in early 2025.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334125" y="3933825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This is reflected in developer activity, with GitHub reporting over 4.3 million AI-related repositories—a 178% year-over-year jump driven largely by agentic workflows and LLMOps frameworks.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2026 Landscape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/>
          <p:nvPr/>
        </p:nvSpPr>
        <p:spPr>
          <a:xfrm>
            <a:off x="5619750" y="2310854"/>
            <a:ext cx="952500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3060620" y="2653754"/>
            <a:ext cx="607075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Part 2: </a:t>
            </a:r>
            <a:r>
              <a:rPr b="1" i="0" lang="en-US" sz="4800" u="none" cap="none" strike="noStrike">
                <a:solidFill>
                  <a:srgbClr val="BC8C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Architecture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2286000" y="3663404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Designing patterns that balance AI autonomy with predictable system reliability.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95425"/>
            <a:ext cx="5276850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95425"/>
            <a:ext cx="52768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971550" y="1885950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Single-Agent Orchestrator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971550" y="2381250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 single, highly capable model acts as the central router, accessing all tools and sequentially executing the workflow.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6724650" y="1885950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Multi-Agent Systems (Swarm)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6724650" y="2381250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 network of specialized micro-agents (e.g., Researcher, Coder, Reviewer) collaborating to solve complex problems.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1238250" y="3448050"/>
            <a:ext cx="422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Best for tightly-scoped, linear tasks.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1238250" y="3867150"/>
            <a:ext cx="422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Easier to debug and trace state changes.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1238250" y="4286250"/>
            <a:ext cx="4229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Prone to "context stuffing" if given too many tools.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991350" y="3448050"/>
            <a:ext cx="422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Best for highly parallelized or fan-out tasks.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991350" y="3867150"/>
            <a:ext cx="4229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Reduces token load by keeping individual prompts focused.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991350" y="4591050"/>
            <a:ext cx="4229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Requires robust orchestration to prevent infinite loops.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971550" y="3429000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971550" y="3848100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971550" y="4267200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724650" y="3429000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724650" y="3848100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724650" y="4572000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Agentic Design Patterns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391025"/>
            <a:ext cx="8572500" cy="175736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2105025" y="4686300"/>
            <a:ext cx="798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 Medium"/>
                <a:ea typeface="Inter Medium"/>
                <a:cs typeface="Inter Medium"/>
                <a:sym typeface="Inter Medium"/>
              </a:rPr>
              <a:t>Formalizing the ReAct Loop:</a:t>
            </a:r>
            <a:endParaRPr/>
          </a:p>
        </p:txBody>
      </p:sp>
      <p:pic>
        <p:nvPicPr>
          <p:cNvPr descr="image.png" id="195" name="Google Shape;19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27051" y="5181600"/>
            <a:ext cx="7937896" cy="67151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1762125" y="1495425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Chain of Thought (CoT):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Forcing the LLM to generate a step-by-step reasoning trace prior to outputting a final answer, drastically reducing logical hallucinations.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1762125" y="2333625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ReAct (Reason + Act):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The dominant paradigm for autonomy. The agent observes the state, reasons about the next step, takes an action, and repeats until the objective is met.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1762125" y="3171825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Plan-and-Execute: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The agent first generates a comprehensive multi-step plan, then executes it sequentially, useful for long-running workflows.</a:t>
            </a:r>
            <a:endParaRPr/>
          </a:p>
        </p:txBody>
      </p:sp>
      <p:pic>
        <p:nvPicPr>
          <p:cNvPr descr="image.png" id="199" name="Google Shape;19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15049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23431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3500" y="318135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Reasoning &amp; Planning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95425"/>
            <a:ext cx="52768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847725" y="1495425"/>
            <a:ext cx="5010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Short-Term Memory: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Immediate conversation history passed within the context window. Essential for fluid interactions but strictly limited by token caps.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847725" y="2524125"/>
            <a:ext cx="5010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Retrieval-Augmented Generation (RAG):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Connecting the agent to enterprise data by converting documents into vector embeddings.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847725" y="3552825"/>
            <a:ext cx="5010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Semantic Search: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When the agent needs information, it runs a similarity search against a Vector DB to retrieve only the most relevant document chunks.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47725" y="4581525"/>
            <a:ext cx="5010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Episodic Memory: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Advanced agents now write summaries of past interactions to a database, learning user preferences over time.</a:t>
            </a:r>
            <a:endParaRPr/>
          </a:p>
        </p:txBody>
      </p:sp>
      <p:pic>
        <p:nvPicPr>
          <p:cNvPr descr="image.png" id="213" name="Google Shape;21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504950"/>
            <a:ext cx="52578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581025" y="1476375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81025" y="2505075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81025" y="3533775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81025" y="4562475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Memory &amp; RAG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71612"/>
            <a:ext cx="34861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471612"/>
            <a:ext cx="34861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471612"/>
            <a:ext cx="34861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1719262"/>
            <a:ext cx="29908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odern abstract graphic representing Python type safety and data validation, with glowing blue and teal network nodes, structured schemas, and clean code paths on a dark tech background, professional digital art." id="228" name="Google Shape;228;p23"/>
          <p:cNvPicPr preferRelativeResize="0"/>
          <p:nvPr/>
        </p:nvPicPr>
        <p:blipFill rotWithShape="1">
          <a:blip r:embed="rId8">
            <a:alphaModFix/>
          </a:blip>
          <a:srcRect b="0" l="942" r="932" t="0"/>
          <a:stretch/>
        </p:blipFill>
        <p:spPr>
          <a:xfrm>
            <a:off x="4600575" y="1719263"/>
            <a:ext cx="2991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onceptual digital illustration of cooperative artificial intelligence agents, showing specialized holographic robotic silhouettes collaborating around a glowing central project core, sleek dark background, futuristic technology." id="229" name="Google Shape;229;p23"/>
          <p:cNvPicPr preferRelativeResize="0"/>
          <p:nvPr/>
        </p:nvPicPr>
        <p:blipFill rotWithShape="1">
          <a:blip r:embed="rId9">
            <a:alphaModFix/>
          </a:blip>
          <a:srcRect b="0" l="942" r="932" t="0"/>
          <a:stretch/>
        </p:blipFill>
        <p:spPr>
          <a:xfrm>
            <a:off x="8372475" y="1719263"/>
            <a:ext cx="2991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828675" y="3624262"/>
            <a:ext cx="31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LangGraph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828675" y="4071937"/>
            <a:ext cx="2991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The industry default for complex, stateful workflows. Represents agents as graphs, providing control over cycles, branching, and human-approval gates.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4600575" y="3624262"/>
            <a:ext cx="31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Pydantic AI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4600575" y="4071937"/>
            <a:ext cx="2991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Rising rapidly in 2026 for Python teams that prioritize type safety, data validation, and structured outputs without heavy orchestration overhead.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8372475" y="3624262"/>
            <a:ext cx="31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CrewAI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8372475" y="4071937"/>
            <a:ext cx="2991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The most approachable framework for building role-based multi-agent teams. Excellent for delegating tasks among specialized AI personas.</a:t>
            </a:r>
            <a:endParaRPr/>
          </a:p>
        </p:txBody>
      </p:sp>
      <p:pic>
        <p:nvPicPr>
          <p:cNvPr descr="image.png" id="236" name="Google Shape;236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8675" y="1719262"/>
            <a:ext cx="299085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581025" y="557212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Top 2026 Frameworks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/>
          <p:nvPr/>
        </p:nvSpPr>
        <p:spPr>
          <a:xfrm>
            <a:off x="5619750" y="2310854"/>
            <a:ext cx="9525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2575560" y="2653754"/>
            <a:ext cx="704088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Part 3: </a:t>
            </a:r>
            <a:r>
              <a:rPr b="1" i="0" lang="en-US" sz="4800" u="none" cap="none" strike="noStrike">
                <a:solidFill>
                  <a:srgbClr val="3FB950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Implementation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2286000" y="3663404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Bridging the gap between conceptual architecture and deployed code.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95425"/>
            <a:ext cx="52768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847725" y="1495425"/>
            <a:ext cx="5010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The Threat Vector: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Autonomous execution means agents can accidentally modify databases or leak PII if not properly constrained.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847725" y="2524125"/>
            <a:ext cx="50101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Model Context Protocol (MCP):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An emerging 2026 standard acting as a "USB-C" for AI, safely standardizing how agents connect to local files and enterprise environments.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847725" y="3857625"/>
            <a:ext cx="50101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Observability: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Trace monitoring (via tools like Langfuse) is mandatory. Developers must audit exactly which tool an agent called and why it made that decision.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847725" y="5191125"/>
            <a:ext cx="5010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Human-in-the-Loop (HITL):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Critical actions (e.g., executing transactions, sending emails) require architectural checkpoints for human approval.</a:t>
            </a:r>
            <a:endParaRPr/>
          </a:p>
        </p:txBody>
      </p:sp>
      <p:pic>
        <p:nvPicPr>
          <p:cNvPr descr="image.png" id="256" name="Google Shape;25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504950"/>
            <a:ext cx="52578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581025" y="1476375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581025" y="2505075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581025" y="3838575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581025" y="5172075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Security &amp; Governance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62200"/>
            <a:ext cx="5276850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62200"/>
            <a:ext cx="5276850" cy="39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581025" y="1466850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These guided labs are hosted externally. Please follow the repository instructions to set up your local or cloud environments.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971550" y="2752725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Lab 1: Foundations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971550" y="3248025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Microsoft's AI Agents for Beginners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971550" y="3705225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 12-lesson curriculum covering the fundamentals of building agents from scratch using Python. Perfect for understanding the underlying ReAct loop and basic tool calling.</a:t>
            </a:r>
            <a:endParaRPr/>
          </a:p>
        </p:txBody>
      </p:sp>
      <p:pic>
        <p:nvPicPr>
          <p:cNvPr descr="image.png" id="273" name="Google Shape;27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5267325"/>
            <a:ext cx="44958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/>
          <p:nvPr/>
        </p:nvSpPr>
        <p:spPr>
          <a:xfrm>
            <a:off x="6724650" y="2752725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Lab 2: Advanced Orchestration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6724650" y="3248025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MongoDB, Gemini &amp; LangGraph Lab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6724650" y="3705225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 self-contained GitHub Codespace lab. You will build a production-grade agent utilizing stateful graphs (LangGraph), Vector databases (MongoDB), and external APIs.</a:t>
            </a:r>
            <a:endParaRPr/>
          </a:p>
        </p:txBody>
      </p:sp>
      <p:pic>
        <p:nvPicPr>
          <p:cNvPr descr="image.png" id="277" name="Google Shape;27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5267325"/>
            <a:ext cx="44958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09675" y="5410200"/>
            <a:ext cx="1619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5410200"/>
            <a:ext cx="16192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6"/>
          <p:cNvSpPr txBox="1"/>
          <p:nvPr/>
        </p:nvSpPr>
        <p:spPr>
          <a:xfrm>
            <a:off x="581025" y="552450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Interactive Labs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7"/>
          <p:cNvSpPr txBox="1"/>
          <p:nvPr/>
        </p:nvSpPr>
        <p:spPr>
          <a:xfrm>
            <a:off x="305276" y="2539305"/>
            <a:ext cx="11581447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0F6FC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581025" y="3739455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Open floor for discussion on agentic design patterns.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