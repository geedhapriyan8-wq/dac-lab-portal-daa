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9144000"/>
  <p:embeddedFontLst>
    <p:embeddedFont>
      <p:font typeface="Inter"/>
      <p:regular r:id="rId28"/>
      <p:bold r:id="rId29"/>
      <p:italic r:id="rId30"/>
      <p:boldItalic r:id="rId31"/>
    </p:embeddedFont>
    <p:embeddedFont>
      <p:font typeface="Outfit"/>
      <p:regular r:id="rId32"/>
      <p:bold r:id="rId33"/>
    </p:embeddedFont>
    <p:embeddedFont>
      <p:font typeface="Outfit Medium"/>
      <p:regular r:id="rId34"/>
      <p:bold r:id="rId35"/>
    </p:embeddedFont>
    <p:embeddedFont>
      <p:font typeface="Outfit SemiBold"/>
      <p:regular r:id="rId36"/>
      <p:bold r:id="rId37"/>
    </p:embeddedFont>
    <p:embeddedFont>
      <p:font typeface="Inter Medium"/>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2" roundtripDataSignature="AMtx7mjJDGf7U+t8tkHgrcqOziKOWVl2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Medium-italic.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InterMedium-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Inter-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boldItalic.fntdata"/><Relationship Id="rId30" Type="http://schemas.openxmlformats.org/officeDocument/2006/relationships/font" Target="fonts/Inter-italic.fntdata"/><Relationship Id="rId11" Type="http://schemas.openxmlformats.org/officeDocument/2006/relationships/slide" Target="slides/slide6.xml"/><Relationship Id="rId33" Type="http://schemas.openxmlformats.org/officeDocument/2006/relationships/font" Target="fonts/Outfit-bold.fntdata"/><Relationship Id="rId10" Type="http://schemas.openxmlformats.org/officeDocument/2006/relationships/slide" Target="slides/slide5.xml"/><Relationship Id="rId32" Type="http://schemas.openxmlformats.org/officeDocument/2006/relationships/font" Target="fonts/Outfit-regular.fntdata"/><Relationship Id="rId13" Type="http://schemas.openxmlformats.org/officeDocument/2006/relationships/slide" Target="slides/slide8.xml"/><Relationship Id="rId35" Type="http://schemas.openxmlformats.org/officeDocument/2006/relationships/font" Target="fonts/OutfitMedium-bold.fntdata"/><Relationship Id="rId12" Type="http://schemas.openxmlformats.org/officeDocument/2006/relationships/slide" Target="slides/slide7.xml"/><Relationship Id="rId34" Type="http://schemas.openxmlformats.org/officeDocument/2006/relationships/font" Target="fonts/OutfitMedium-regular.fntdata"/><Relationship Id="rId15" Type="http://schemas.openxmlformats.org/officeDocument/2006/relationships/slide" Target="slides/slide10.xml"/><Relationship Id="rId37" Type="http://schemas.openxmlformats.org/officeDocument/2006/relationships/font" Target="fonts/OutfitSemiBold-bold.fntdata"/><Relationship Id="rId14" Type="http://schemas.openxmlformats.org/officeDocument/2006/relationships/slide" Target="slides/slide9.xml"/><Relationship Id="rId36" Type="http://schemas.openxmlformats.org/officeDocument/2006/relationships/font" Target="fonts/OutfitSemiBold-regular.fntdata"/><Relationship Id="rId17" Type="http://schemas.openxmlformats.org/officeDocument/2006/relationships/slide" Target="slides/slide12.xml"/><Relationship Id="rId39" Type="http://schemas.openxmlformats.org/officeDocument/2006/relationships/font" Target="fonts/InterMedium-bold.fntdata"/><Relationship Id="rId16" Type="http://schemas.openxmlformats.org/officeDocument/2006/relationships/slide" Target="slides/slide11.xml"/><Relationship Id="rId38" Type="http://schemas.openxmlformats.org/officeDocument/2006/relationships/font" Target="fonts/InterMedium-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pc="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Good evening everyone, and welcome! I'm Abirami and with me I have ” “, and today's session on AI and workflow automation comes in three parts. I'll be taking you through Part 1. </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For the next 40 minutes, we're going to take AI apart. Open it up and see what's actually inside. After that, Part 2 looks at how automation is changing the way businesses work, and Part 3 is hands-on labs where you'll get to try things yourselves.</a:t>
            </a:r>
            <a:endParaRPr/>
          </a:p>
          <a:p>
            <a:pPr indent="-228600" lvl="0" marL="457200" rtl="0" algn="l">
              <a:lnSpc>
                <a:spcPct val="100000"/>
              </a:lnSpc>
              <a:spcBef>
                <a:spcPts val="0"/>
              </a:spcBef>
              <a:spcAft>
                <a:spcPts val="0"/>
              </a:spcAft>
              <a:buSzPts val="1100"/>
              <a:buNone/>
            </a:pPr>
            <a:r>
              <a:t/>
            </a:r>
            <a:endParaRPr/>
          </a:p>
          <a:p>
            <a:pPr indent="-228600" lvl="0" marL="457200" rtl="0" algn="l">
              <a:lnSpc>
                <a:spcPct val="100000"/>
              </a:lnSpc>
              <a:spcBef>
                <a:spcPts val="0"/>
              </a:spcBef>
              <a:spcAft>
                <a:spcPts val="0"/>
              </a:spcAft>
              <a:buSzPts val="1100"/>
              <a:buNone/>
            </a:pPr>
            <a:r>
              <a:t/>
            </a:r>
            <a:endParaRPr/>
          </a:p>
          <a:p>
            <a:pPr indent="-228600" lvl="0" marL="45720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Quick show of hands. Who has used ChatGPT, Gemini, Claude, or something similar this week?</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[PAUSE]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Okay, almost everyone. Now keep your hand up if you could explain how AI actually works to an elderly person.</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[PAUSE]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Perfect. That gap is exactly what we're closing today.</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One more thing. Some of you have already built models, and some of you are completely new to this. Both are great. If I use a word you don't know, stop me. Seriously. If you're wondering about it, someone else in the room is too.</a:t>
            </a:r>
            <a:endParaRPr/>
          </a:p>
        </p:txBody>
      </p:sp>
      <p:sp>
        <p:nvSpPr>
          <p:cNvPr id="89" name="Google Shape;8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Before we go any deeper, let's clear something up. A lot of what people think they know about AI actually comes from movies. [Point to the left card.] Think of JARVIS in Iron Man, or the robots in The Terminator. In movies, AI can do anything. It thinks for itself, it has feelings, and quite often it wants to take over the world.</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[PAUSE]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[Point to the right card.] The AI that businesses actually use is very different. It's much more boring, and much more useful. It's the thing that flags a weird transaction on your card at 2am. It's the "you might also like" on Shopee. It's the model forecasting how much stock a warehouse needs next week. It does one job, and it does it really well.</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[ASK] Turn to the person next to you. You have 30 seconds. Name one AI you used today without realising it was AI.</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[Good ones: YouTube or Spotify recommendations, Grab arrival time, Face ID, spam filter, autocorrect.]</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Great. Keep that picture in your head: narrow, practical, everywhere. That's the AI we're talking about today.</a:t>
            </a:r>
            <a:endParaRPr/>
          </a:p>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So if AI isn't a robot with feelings, what is it? Here's the simplest definition I know: AI is a system that runs a loop.</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Sense. Comprehend. Act. Learn. And then back to Sense.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[PAUSE]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Let's make it human. You're crossing the road. You SENSE: you see a car, you hear a horn. You COMPREHEND: that car is fast, and it isn't stopping. You ACT: you step back onto the kerb. And you LEARN: next time at that junction, you look twice.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[PAUSE]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AI does those same four steps. It just uses data instead of eyes and ears, and it can do it millions of times a second.</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The first two steps are about understanding the world. The last two are about doing something and getting better. Let's zoom into each half.</a:t>
            </a:r>
            <a:endParaRPr/>
          </a:p>
        </p:txBody>
      </p:sp>
      <p:sp>
        <p:nvSpPr>
          <p:cNvPr id="113" name="Google Shape;11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First half: Sense and Comprehend.</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Here's something that surprises people. Most of the data in the world is not neat rows in Excel. It's unstructured. Text: emails, reviews, PDFs. Vision: photos, scans, CCTV. Audio: calls, voice notes, meetings. For decades, computers were terrible at this. A spreadsheet? Easy. A photo of a cat? Basically impossible. Modern AI changed that. It can read a customer complaint and tell that the customer is angry. It can look at an X-ray and highlight something a doctor should check. It can listen to a call and transcribe it. That's SENSE.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COMPREHEND is the step beyond that: understanding context.</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"This is sick!"</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Is that a compliment or a complaint? Right, it depends. At a concert, it's a compliment. In a restaurant review, it's... not great. Understanding context is what separates AI from a simple keyword search. If you've heard of embeddings or attention, that's the machinery behind this. We won't go deep today, but that's where it lives.</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Second half: Act and Learn.</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ACT usually means one of three things. [Point to the right column.] Decide: approve this loan, flag this transaction. Generate: write the email, draft the code, create the image. Recommend: show this product next. And then the step that makes it AI and not just normal software: LEARN.</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[PAUSE]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Every time you skip a song on Spotify, you're giving it feedback. The model adjusts. What it recommends to you tomorrow is a little different because of what you did today.</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[ASK] Quick check. What's the difference between a calculator and Spotify's recommendation engine?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Exactly. Type 2 + 2 into a calculator and it says 4 today, tomorrow, and in ten years. An AI system gets updated by feedback.</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Hold onto that idea, because that difference, between fixed rules and learning, is the whole story of the next 15 minutes.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So how did we get here? Let's time travel.</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[Point to each stop as you go.]</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The 1980s: Expert Systems. Researchers sat down with experts, like doctors and engineers, and wrote down everything they knew as rules. IF this, THEN that. Thousands of rules, all written by hand.</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The 2000s: Machine Learning. Instead of following hand-written rules, algorithms started learning patterns from data. For example, predicting which customers might leave based on how they behaved in the past.</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The 2010s: Deep Learning. Instead of writing rules, we fed computers huge amounts of data and let them work out the patterns themselves, using neural networks with many layers. This is when computers suddenly got good at recognising images and speech. A famous turning point was 2012, when a neural network called AlexNet won a big image-recognition competition by a huge margin, and the whole field shifted toward deep learning.</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The 2020s: Generative AI. Models that don't just recognise things, they create things. ChatGPT launched at the end of November 2022 and became one of the fastest-growing apps ever.</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[PAUSE]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Here's the pattern I want you to notice. Each era is really about who does the thinking. In the 1980s, humans write the logic. In the 2000s and 2010s, machines learn the logic. In the 2020s, machines learn the logic AND use it to produce something new.</a:t>
            </a:r>
            <a:endParaRPr/>
          </a:p>
        </p:txBody>
      </p:sp>
      <p:sp>
        <p:nvSpPr>
          <p:cNvPr id="145" name="Google Shape;14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a:t>Let's feel the difference with a real example.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This is a 1980s-style spam filter. IF the email contains "FREE MONEY", THEN it's spam. IF the sender is unknown AND there's a link, THEN it's spam.</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Okay. You're a spammer. How do you beat this filter?</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Exactly! You just broke a 1980s AI in about five seconds. And to fix it, a human has to write a new rule. And another one. And another one. That's why we call these systems brittle. They break the moment the world doesn't match the rules.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[Point to the right card.]</a:t>
            </a:r>
            <a:endParaRPr/>
          </a:p>
          <a:p>
            <a:pPr indent="0" lvl="0" marL="0" rtl="0" algn="l">
              <a:lnSpc>
                <a:spcPct val="100000"/>
              </a:lnSpc>
              <a:spcBef>
                <a:spcPts val="0"/>
              </a:spcBef>
              <a:spcAft>
                <a:spcPts val="0"/>
              </a:spcAft>
              <a:buNone/>
            </a:pPr>
            <a:r>
              <a:rPr lang="en-US"/>
              <a:t>Now deep learning. You don't write any rules. You show the model a million emails, each one labelled "spam" or "not spam". It learns the patterns on its own, including ones no human would think to write down: strange sending times, odd formatting, suspicious link patterns. When spammers change tactics, you retrain it on new examples.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[PAUSE]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But to be fair, rules aren't dead. Rules are transparent, cheap, and predictable. If a bank says "any transfer above $10,000 needs a second approval", you want a clear rule, not a neural network making a guess.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So remember this: the real power is not rules OR learning. It's combining them. Keep that in mind, because it's exactly where Part 2 picks up.</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a:t>Now, the era you're living in.</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[Point to “Before”.] Before the 2020s, almost all AI did this: classify or predict. Here's a photo: cat or dog? Here's a transaction: fraud or not? Here's last year's sales: what's next month? The output is a label or a number.</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[Point to “Now”.] Generative AI does this: create. "Write me a product description." "Summarise this 40-page report." "Write Python to clean this dataset." The output is something that didn't exist before.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[PAUSE]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The engine behind this is called a foundation model. A Large Language Model, an LLM, is trained on an enormous amount of text: books, websites, code. And it's trained to do one deceptively simple thing: predict the next word.</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That's it. But do that well enough, at a big enough scale, and you get something that can write essays, translate, answer questions, and write code.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We call it a "foundation" model because one model becomes the base for thousands of uses: customer service bots, coding assistants, writing tools. You don't build a separate model for every task anymore.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[ASK] Here's one to think about. If it's "just" predicting the next word, is it actually understanding anything?</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Honestly, there's no agreed answer. Researchers still argue about this. But there's one practical consequence everyone agrees on. [Point to “Watch out”.] Because it generates what sounds plausible, it can confidently make things up. That's called a hallucination.</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So in business, you always need a check: a human, or a rule, in the loop. That's the second idea I want you to hold onto. It'll come up again in Part 2.</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Let's organise everything into three terms you'll hear constantly, and that people mix up all the time.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Machine Learning is the foundation. Systems that find patterns in historical data to make predictions. Classic example: predicting which customers are likely to cancel their subscription, based on how they behaved in the past. A lot of ML models are fairly simple. Some of you will use regression and decision trees in this club.</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Deep Learning is a subset of ML. It's machine learning using neural networks with many layers. You need it for complex, messy data: faces, speech, medical scans.</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Generative AI is a subset of Deep Learning. These are deep learning models that create new content from a prompt.</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[PAUSE]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So: all generative AI is deep learning. All deep learning is machine learning. But not the other way round.</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[ASK – quick-fire round. Read each one, and let the room call out the answer.]</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"A model predicting house prices from size and location." [WAIT] Machine learning.</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"Face ID unlocking your phone." [WAIT] Deep learning.</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"An AI that designs a poster from a text description." [WAIT] Generative AI.</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"Netflix predicting you'll like a show." [WAIT] Machine learning. [If someone says deep learning, that's fair too: big platforms often use deep learning for this.]</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Nice. If you got those, you already understand this better than a lot of posts you'll see online.</a:t>
            </a:r>
            <a:endParaRPr/>
          </a:p>
        </p:txBody>
      </p:sp>
      <p:sp>
        <p:nvSpPr>
          <p:cNvPr id="196" name="Google Shape;19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Here's where we are in 2026. 91% of businesses are using AI in some form. And the AI market is worth around 514 billion US dollars.</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To put 514 billion in perspective: that's in the same ballpark as Singapore's entire economy for a year.</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But I actually think the 91% is the more interesting number. [Point to it.] When nine out of ten businesses are doing something, it's no longer an advantage. It's the baseline.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So if almost everyone has AI... what do you think businesses are worried about now?</a:t>
            </a:r>
            <a:endParaRPr/>
          </a:p>
          <a:p>
            <a:pPr indent="-228600" lvl="0" marL="457200" rtl="0" algn="l">
              <a:lnSpc>
                <a:spcPct val="100000"/>
              </a:lnSpc>
              <a:spcBef>
                <a:spcPts val="0"/>
              </a:spcBef>
              <a:spcAft>
                <a:spcPts val="0"/>
              </a:spcAft>
              <a:buSzPts val="1100"/>
              <a:buNone/>
            </a:pPr>
            <a:r>
              <a:t/>
            </a:r>
            <a:endParaRPr/>
          </a:p>
        </p:txBody>
      </p:sp>
      <p:sp>
        <p:nvSpPr>
          <p:cNvPr id="214" name="Google Shape;21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A few years ago, every boardroom was asking: "Should we adopt AI?"</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Today, the question is: "How do we measure the return on investment, and how do we scale it?"</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[ASK] Why do you think that shift happened? Get into groups of three with the people around you. You have 90 seconds.</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Okay, let's hear it.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Here are the five big reasons.</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One: everyone has it. Adoption isn't a differentiator anymore. Results are.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Two: lots of pilots never paid off. Many companies ran AI experiments that looked great in a demo and never made it into real use. Boards now want proof before they spend more.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Three: it costs real money. Computing power, licences, skilled people, and cleaning up data. The finance team wants to see a return.</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Four: scaling is the hard part. A chatbot demo takes an afternoon. Plugging AI into a company's actual systems, data, and processes takes months.</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Five: risk. Hallucinations, privacy, and regulations. To scale safely, you need rules and governance.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[PAUSE]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[ASK] If you were the data analyst, how would you actually measure whether an AI tool is worth it?</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[time saved per task, error rates, cost per transaction, customer satisfaction, revenue change, always comparing before and after.]</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And that's exactly why data analytics skills matter more now, not less. Someone has to measure whether the AI is paying off. That someone can be you.</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US"/>
              <a:t>Let's lock it in.</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AI is a loop: sense, comprehend, act, learn.</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It evolved from humans writing rules, to machines learning patterns, to machines creating content.</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Three pillars, nested inside each other: Machine Learning, Deep Learning, Generative AI.</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And the business question has moved from "should we?" to "is it paying off, and how do we scale it?"</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[PAUSE]</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Remember the two things I asked you to hold onto: rules still matter, and generative AI needs checks. Put those together and you've got the perfect starting point for Part 2, The Automation Paradigm Shift. Thank you all, you've been a great group. I'll hand you over now.</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0" name="Google Shape;29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p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3" name="Google Shape;32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1" name="Google Shape;33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8" name="Google Shape;33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5" name="Google Shape;34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2"/>
          <p:cNvSpPr/>
          <p:nvPr>
            <p:ph idx="2" type="pic"/>
          </p:nvPr>
        </p:nvSpPr>
        <p:spPr>
          <a:xfrm>
            <a:off x="1792288" y="612775"/>
            <a:ext cx="5486400" cy="4114800"/>
          </a:xfrm>
          <a:prstGeom prst="rect">
            <a:avLst/>
          </a:prstGeom>
          <a:noFill/>
          <a:ln>
            <a:noFill/>
          </a:ln>
        </p:spPr>
      </p:sp>
      <p:sp>
        <p:nvSpPr>
          <p:cNvPr id="64" name="Google Shape;64;p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pc="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7" name="Google Shape;7;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pc="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9pPr>
          </a:lstStyle>
          <a:p/>
        </p:txBody>
      </p:sp>
      <p:sp>
        <p:nvSpPr>
          <p:cNvPr id="8" name="Google Shape;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9" name="Google Shape;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pc="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10" name="Google Shape;1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7.png"/><Relationship Id="rId8"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6.jpg"/><Relationship Id="rId5" Type="http://schemas.openxmlformats.org/officeDocument/2006/relationships/image" Target="../media/image15.png"/><Relationship Id="rId6" Type="http://schemas.openxmlformats.org/officeDocument/2006/relationships/image" Target="../media/image13.png"/><Relationship Id="rId7" Type="http://schemas.openxmlformats.org/officeDocument/2006/relationships/image" Target="../media/image20.png"/><Relationship Id="rId8"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 name="Shape 83"/>
        <p:cNvGrpSpPr/>
        <p:nvPr/>
      </p:nvGrpSpPr>
      <p:grpSpPr>
        <a:xfrm>
          <a:off x="0" y="0"/>
          <a:ext cx="0" cy="0"/>
          <a:chOff x="0" y="0"/>
          <a:chExt cx="0" cy="0"/>
        </a:xfrm>
      </p:grpSpPr>
      <p:pic>
        <p:nvPicPr>
          <p:cNvPr descr="image.png" id="84" name="Google Shape;84;p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
          <p:cNvSpPr txBox="1"/>
          <p:nvPr/>
        </p:nvSpPr>
        <p:spPr>
          <a:xfrm>
            <a:off x="1595437" y="2241202"/>
            <a:ext cx="9001125" cy="16764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6000"/>
              <a:buFont typeface="Arial"/>
              <a:buNone/>
            </a:pPr>
            <a:r>
              <a:rPr b="1" i="0" lang="en-US" spc="0" sz="6000" u="none" cap="none" strike="noStrike">
                <a:solidFill>
                  <a:srgbClr val="F8FAFC"/>
                </a:solidFill>
                <a:latin typeface="Outfit"/>
                <a:ea typeface="Outfit"/>
                <a:cs typeface="Outfit"/>
                <a:sym typeface="Outfit"/>
              </a:rPr>
              <a:t>Introduction to </a:t>
            </a:r>
            <a:r>
              <a:rPr b="1" i="0" lang="en-US" spc="0" sz="6000" u="none" cap="none" strike="noStrike">
                <a:solidFill>
                  <a:srgbClr val="38BDF8"/>
                </a:solidFill>
                <a:latin typeface="Outfit"/>
                <a:ea typeface="Outfit"/>
                <a:cs typeface="Outfit"/>
                <a:sym typeface="Outfit"/>
              </a:rPr>
              <a:t>AI</a:t>
            </a:r>
            <a:r>
              <a:rPr b="1" i="0" lang="en-US" spc="0" sz="6000" u="none" cap="none" strike="noStrike">
                <a:solidFill>
                  <a:srgbClr val="F8FAFC"/>
                </a:solidFill>
                <a:latin typeface="Outfit"/>
                <a:ea typeface="Outfit"/>
                <a:cs typeface="Outfit"/>
                <a:sym typeface="Outfit"/>
              </a:rPr>
              <a:t> &amp; </a:t>
            </a:r>
            <a:r>
              <a:rPr b="1" i="0" lang="en-US" spc="0" sz="6000" u="none" cap="none" strike="noStrike">
                <a:solidFill>
                  <a:srgbClr val="38BDF8"/>
                </a:solidFill>
                <a:latin typeface="Outfit"/>
                <a:ea typeface="Outfit"/>
                <a:cs typeface="Outfit"/>
                <a:sym typeface="Outfit"/>
              </a:rPr>
              <a:t>Workflow Automation</a:t>
            </a:r>
            <a:endParaRPr b="0" i="0" spc="0" sz="1400" u="none" cap="none" strike="noStrike">
              <a:solidFill>
                <a:srgbClr val="000000"/>
              </a:solidFill>
              <a:latin typeface="Arial"/>
              <a:ea typeface="Arial"/>
              <a:cs typeface="Arial"/>
              <a:sym typeface="Arial"/>
            </a:endParaRPr>
          </a:p>
        </p:txBody>
      </p:sp>
      <p:sp>
        <p:nvSpPr>
          <p:cNvPr id="86" name="Google Shape;86;p1"/>
          <p:cNvSpPr txBox="1"/>
          <p:nvPr/>
        </p:nvSpPr>
        <p:spPr>
          <a:xfrm>
            <a:off x="1809750" y="4108102"/>
            <a:ext cx="8572500" cy="2154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0" name="Shape 90"/>
        <p:cNvGrpSpPr/>
        <p:nvPr/>
      </p:nvGrpSpPr>
      <p:grpSpPr>
        <a:xfrm>
          <a:off x="0" y="0"/>
          <a:ext cx="0" cy="0"/>
          <a:chOff x="0" y="0"/>
          <a:chExt cx="0" cy="0"/>
        </a:xfrm>
      </p:grpSpPr>
      <p:pic>
        <p:nvPicPr>
          <p:cNvPr descr="image.png" id="91" name="Google Shape;91;p2"/>
          <p:cNvPicPr preferRelativeResize="0"/>
          <p:nvPr/>
        </p:nvPicPr>
        <p:blipFill rotWithShape="1">
          <a:blip r:embed="rId3">
            <a:alphaModFix/>
          </a:blip>
          <a:srcRect b="0" l="0" r="0" t="0"/>
          <a:stretch/>
        </p:blipFill>
        <p:spPr>
          <a:xfrm>
            <a:off x="0" y="640080"/>
            <a:ext cx="12192000" cy="6858000"/>
          </a:xfrm>
          <a:prstGeom prst="rect">
            <a:avLst/>
          </a:prstGeom>
          <a:noFill/>
          <a:ln>
            <a:noFill/>
          </a:ln>
        </p:spPr>
      </p:pic>
      <p:sp>
        <p:nvSpPr>
          <p:cNvPr id="92" name="Google Shape;92;p2"/>
          <p:cNvSpPr txBox="1"/>
          <p:nvPr/>
        </p:nvSpPr>
        <p:spPr>
          <a:xfrm>
            <a:off x="1069848" y="2206079"/>
            <a:ext cx="100584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800"/>
              <a:buFont typeface="Arial"/>
              <a:buNone/>
            </a:pPr>
            <a:r>
              <a:rPr b="1" i="0" lang="en-US" spc="0" sz="4800" u="none" cap="none" strike="noStrike">
                <a:solidFill>
                  <a:srgbClr val="F8FAFC"/>
                </a:solidFill>
                <a:latin typeface="Outfit"/>
                <a:ea typeface="Outfit"/>
                <a:cs typeface="Outfit"/>
                <a:sym typeface="Outfit"/>
              </a:rPr>
              <a:t>Part 1: What is AI</a:t>
            </a:r>
            <a:endParaRPr b="0" i="0" spc="0" sz="1400" u="none" cap="none" strike="noStrike">
              <a:solidFill>
                <a:srgbClr val="000000"/>
              </a:solidFill>
              <a:latin typeface="Arial"/>
              <a:ea typeface="Arial"/>
              <a:cs typeface="Arial"/>
              <a:sym typeface="Arial"/>
            </a:endParaRPr>
          </a:p>
        </p:txBody>
      </p:sp>
      <p:sp>
        <p:nvSpPr>
          <p:cNvPr id="93" name="Google Shape;93;p2"/>
          <p:cNvSpPr/>
          <p:nvPr/>
        </p:nvSpPr>
        <p:spPr>
          <a:xfrm>
            <a:off x="5619750" y="3362414"/>
            <a:ext cx="952500" cy="3810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sp>
        <p:nvSpPr>
          <p:cNvPr id="94" name="Google Shape;94;p2"/>
          <p:cNvSpPr txBox="1"/>
          <p:nvPr/>
        </p:nvSpPr>
        <p:spPr>
          <a:xfrm>
            <a:off x="2807970" y="3663404"/>
            <a:ext cx="6667500" cy="1674305"/>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Clr>
                <a:srgbClr val="000000"/>
              </a:buClr>
              <a:buSzPts val="1800"/>
              <a:buFont typeface="Arial"/>
              <a:buNone/>
            </a:pPr>
            <a:r>
              <a:rPr b="0" i="0" lang="en-US" spc="0" sz="1800" u="none" cap="none" strike="noStrike">
                <a:solidFill>
                  <a:srgbClr val="CBD5E1"/>
                </a:solidFill>
                <a:latin typeface="Inter"/>
                <a:ea typeface="Inter"/>
                <a:cs typeface="Inter"/>
                <a:sym typeface="Inter"/>
              </a:rPr>
              <a:t>Understanding the core concepts, evolution, and current impact of Artificial Intelligence.</a:t>
            </a:r>
            <a:endParaRPr/>
          </a:p>
          <a:p>
            <a:pPr indent="0" lvl="0" marL="0" marR="0" rtl="0" algn="ctr">
              <a:lnSpc>
                <a:spcPct val="159944"/>
              </a:lnSpc>
              <a:spcBef>
                <a:spcPts val="0"/>
              </a:spcBef>
              <a:spcAft>
                <a:spcPts val="0"/>
              </a:spcAft>
              <a:buClr>
                <a:srgbClr val="000000"/>
              </a:buClr>
              <a:buSzPts val="1800"/>
              <a:buFont typeface="Arial"/>
              <a:buNone/>
            </a:pPr>
            <a:br>
              <a:rPr b="0" i="0" lang="en-US" spc="0" sz="1800" u="none" cap="none" strike="noStrike">
                <a:solidFill>
                  <a:srgbClr val="CBD5E1"/>
                </a:solidFill>
                <a:latin typeface="Inter"/>
                <a:ea typeface="Inter"/>
                <a:cs typeface="Inter"/>
                <a:sym typeface="Inter"/>
              </a:rPr>
            </a:b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8" name="Shape 98"/>
        <p:cNvGrpSpPr/>
        <p:nvPr/>
      </p:nvGrpSpPr>
      <p:grpSpPr>
        <a:xfrm>
          <a:off x="0" y="0"/>
          <a:ext cx="0" cy="0"/>
          <a:chOff x="0" y="0"/>
          <a:chExt cx="0" cy="0"/>
        </a:xfrm>
      </p:grpSpPr>
      <p:pic>
        <p:nvPicPr>
          <p:cNvPr descr="image.png" id="99" name="Google Shape;99;p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0" name="Google Shape;100;p3"/>
          <p:cNvPicPr preferRelativeResize="0"/>
          <p:nvPr/>
        </p:nvPicPr>
        <p:blipFill rotWithShape="1">
          <a:blip r:embed="rId4">
            <a:alphaModFix/>
          </a:blip>
          <a:srcRect b="0" l="0" r="0" t="0"/>
          <a:stretch/>
        </p:blipFill>
        <p:spPr>
          <a:xfrm>
            <a:off x="571500" y="2114550"/>
            <a:ext cx="5238750" cy="3562350"/>
          </a:xfrm>
          <a:prstGeom prst="rect">
            <a:avLst/>
          </a:prstGeom>
          <a:noFill/>
          <a:ln>
            <a:noFill/>
          </a:ln>
        </p:spPr>
      </p:pic>
      <p:pic>
        <p:nvPicPr>
          <p:cNvPr descr="image.png" id="101" name="Google Shape;101;p3"/>
          <p:cNvPicPr preferRelativeResize="0"/>
          <p:nvPr/>
        </p:nvPicPr>
        <p:blipFill rotWithShape="1">
          <a:blip r:embed="rId5">
            <a:alphaModFix/>
          </a:blip>
          <a:srcRect b="0" l="0" r="0" t="0"/>
          <a:stretch/>
        </p:blipFill>
        <p:spPr>
          <a:xfrm>
            <a:off x="6381750" y="2114550"/>
            <a:ext cx="5238750" cy="3562350"/>
          </a:xfrm>
          <a:prstGeom prst="rect">
            <a:avLst/>
          </a:prstGeom>
          <a:noFill/>
          <a:ln>
            <a:noFill/>
          </a:ln>
        </p:spPr>
      </p:pic>
      <p:sp>
        <p:nvSpPr>
          <p:cNvPr id="102" name="Google Shape;102;p3"/>
          <p:cNvSpPr txBox="1"/>
          <p:nvPr/>
        </p:nvSpPr>
        <p:spPr>
          <a:xfrm>
            <a:off x="962025" y="2505075"/>
            <a:ext cx="4680585" cy="3333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0" i="0" lang="en-US" spc="0" sz="2100" u="none" cap="none" strike="noStrike">
                <a:solidFill>
                  <a:srgbClr val="38BDF8"/>
                </a:solidFill>
                <a:latin typeface="Outfit Medium"/>
                <a:ea typeface="Outfit Medium"/>
                <a:cs typeface="Outfit Medium"/>
                <a:sym typeface="Outfit Medium"/>
              </a:rPr>
              <a:t>In the Movies</a:t>
            </a:r>
            <a:endParaRPr b="0" i="0" spc="0" sz="1400" u="none" cap="none" strike="noStrike">
              <a:solidFill>
                <a:srgbClr val="000000"/>
              </a:solidFill>
              <a:latin typeface="Arial"/>
              <a:ea typeface="Arial"/>
              <a:cs typeface="Arial"/>
              <a:sym typeface="Arial"/>
            </a:endParaRPr>
          </a:p>
        </p:txBody>
      </p:sp>
      <p:sp>
        <p:nvSpPr>
          <p:cNvPr id="103" name="Google Shape;103;p3"/>
          <p:cNvSpPr txBox="1"/>
          <p:nvPr/>
        </p:nvSpPr>
        <p:spPr>
          <a:xfrm>
            <a:off x="962025" y="3028950"/>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General: it can do anything.</a:t>
            </a:r>
            <a:endParaRPr b="0" i="0" spc="0" sz="1400" u="none" cap="none" strike="noStrike">
              <a:solidFill>
                <a:srgbClr val="000000"/>
              </a:solidFill>
              <a:latin typeface="Arial"/>
              <a:ea typeface="Arial"/>
              <a:cs typeface="Arial"/>
              <a:sym typeface="Arial"/>
            </a:endParaRPr>
          </a:p>
        </p:txBody>
      </p:sp>
      <p:sp>
        <p:nvSpPr>
          <p:cNvPr id="104" name="Google Shape;104;p3"/>
          <p:cNvSpPr txBox="1"/>
          <p:nvPr/>
        </p:nvSpPr>
        <p:spPr>
          <a:xfrm>
            <a:off x="962025" y="3781425"/>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Has goals, feelings and a will of its own.</a:t>
            </a:r>
            <a:endParaRPr b="0" i="0" spc="0" sz="1400" u="none" cap="none" strike="noStrike">
              <a:solidFill>
                <a:srgbClr val="000000"/>
              </a:solidFill>
              <a:latin typeface="Arial"/>
              <a:ea typeface="Arial"/>
              <a:cs typeface="Arial"/>
              <a:sym typeface="Arial"/>
            </a:endParaRPr>
          </a:p>
        </p:txBody>
      </p:sp>
      <p:sp>
        <p:nvSpPr>
          <p:cNvPr id="105" name="Google Shape;105;p3"/>
          <p:cNvSpPr txBox="1"/>
          <p:nvPr/>
        </p:nvSpPr>
        <p:spPr>
          <a:xfrm>
            <a:off x="962025" y="4533900"/>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Think JARVIS or the Terminator.</a:t>
            </a:r>
            <a:endParaRPr b="0" i="0" spc="0" sz="1400" u="none" cap="none" strike="noStrike">
              <a:solidFill>
                <a:srgbClr val="000000"/>
              </a:solidFill>
              <a:latin typeface="Arial"/>
              <a:ea typeface="Arial"/>
              <a:cs typeface="Arial"/>
              <a:sym typeface="Arial"/>
            </a:endParaRPr>
          </a:p>
        </p:txBody>
      </p:sp>
      <p:sp>
        <p:nvSpPr>
          <p:cNvPr id="106" name="Google Shape;106;p3"/>
          <p:cNvSpPr txBox="1"/>
          <p:nvPr/>
        </p:nvSpPr>
        <p:spPr>
          <a:xfrm>
            <a:off x="6772275" y="2505075"/>
            <a:ext cx="4680585" cy="3333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0" i="0" lang="en-US" spc="0" sz="2100" u="none" cap="none" strike="noStrike">
                <a:solidFill>
                  <a:srgbClr val="818CF8"/>
                </a:solidFill>
                <a:latin typeface="Outfit Medium"/>
                <a:ea typeface="Outfit Medium"/>
                <a:cs typeface="Outfit Medium"/>
                <a:sym typeface="Outfit Medium"/>
              </a:rPr>
              <a:t>In Business</a:t>
            </a:r>
            <a:endParaRPr b="0" i="0" spc="0" sz="1400" u="none" cap="none" strike="noStrike">
              <a:solidFill>
                <a:srgbClr val="000000"/>
              </a:solidFill>
              <a:latin typeface="Arial"/>
              <a:ea typeface="Arial"/>
              <a:cs typeface="Arial"/>
              <a:sym typeface="Arial"/>
            </a:endParaRPr>
          </a:p>
        </p:txBody>
      </p:sp>
      <p:sp>
        <p:nvSpPr>
          <p:cNvPr id="107" name="Google Shape;107;p3"/>
          <p:cNvSpPr txBox="1"/>
          <p:nvPr/>
        </p:nvSpPr>
        <p:spPr>
          <a:xfrm>
            <a:off x="6772275" y="3028950"/>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Narrow: one job, done extremely well.</a:t>
            </a:r>
            <a:endParaRPr b="0" i="0" spc="0" sz="1400" u="none" cap="none" strike="noStrike">
              <a:solidFill>
                <a:srgbClr val="000000"/>
              </a:solidFill>
              <a:latin typeface="Arial"/>
              <a:ea typeface="Arial"/>
              <a:cs typeface="Arial"/>
              <a:sym typeface="Arial"/>
            </a:endParaRPr>
          </a:p>
        </p:txBody>
      </p:sp>
      <p:sp>
        <p:nvSpPr>
          <p:cNvPr id="108" name="Google Shape;108;p3"/>
          <p:cNvSpPr txBox="1"/>
          <p:nvPr/>
        </p:nvSpPr>
        <p:spPr>
          <a:xfrm>
            <a:off x="6772275" y="3781425"/>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Driven by data, not desire.</a:t>
            </a:r>
            <a:endParaRPr b="0" i="0" spc="0" sz="1400" u="none" cap="none" strike="noStrike">
              <a:solidFill>
                <a:srgbClr val="000000"/>
              </a:solidFill>
              <a:latin typeface="Arial"/>
              <a:ea typeface="Arial"/>
              <a:cs typeface="Arial"/>
              <a:sym typeface="Arial"/>
            </a:endParaRPr>
          </a:p>
        </p:txBody>
      </p:sp>
      <p:sp>
        <p:nvSpPr>
          <p:cNvPr id="109" name="Google Shape;109;p3"/>
          <p:cNvSpPr txBox="1"/>
          <p:nvPr/>
        </p:nvSpPr>
        <p:spPr>
          <a:xfrm>
            <a:off x="6772275" y="4533900"/>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Fraud alerts, product recommendations, demand forecasts.</a:t>
            </a:r>
            <a:endParaRPr b="0" i="0" spc="0" sz="1400" u="none" cap="none" strike="noStrike">
              <a:solidFill>
                <a:srgbClr val="000000"/>
              </a:solidFill>
              <a:latin typeface="Arial"/>
              <a:ea typeface="Arial"/>
              <a:cs typeface="Arial"/>
              <a:sym typeface="Arial"/>
            </a:endParaRPr>
          </a:p>
        </p:txBody>
      </p:sp>
      <p:sp>
        <p:nvSpPr>
          <p:cNvPr id="110" name="Google Shape;110;p3"/>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50"/>
              <a:buFont typeface="Arial"/>
              <a:buNone/>
            </a:pPr>
            <a:r>
              <a:rPr b="0" i="0" lang="en-US" spc="0" sz="3450" u="none" cap="none" strike="noStrike">
                <a:solidFill>
                  <a:srgbClr val="38BDF8"/>
                </a:solidFill>
                <a:latin typeface="Outfit SemiBold"/>
                <a:ea typeface="Outfit SemiBold"/>
                <a:cs typeface="Outfit SemiBold"/>
                <a:sym typeface="Outfit SemiBold"/>
              </a:rPr>
              <a:t>AI in Movies vs AI in Business</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14" name="Shape 114"/>
        <p:cNvGrpSpPr/>
        <p:nvPr/>
      </p:nvGrpSpPr>
      <p:grpSpPr>
        <a:xfrm>
          <a:off x="0" y="0"/>
          <a:ext cx="0" cy="0"/>
          <a:chOff x="0" y="0"/>
          <a:chExt cx="0" cy="0"/>
        </a:xfrm>
      </p:grpSpPr>
      <p:pic>
        <p:nvPicPr>
          <p:cNvPr descr="image.png" id="115" name="Google Shape;115;p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6" name="Google Shape;116;p4"/>
          <p:cNvPicPr preferRelativeResize="0"/>
          <p:nvPr/>
        </p:nvPicPr>
        <p:blipFill rotWithShape="1">
          <a:blip r:embed="rId4">
            <a:alphaModFix/>
          </a:blip>
          <a:srcRect b="0" l="0" r="0" t="0"/>
          <a:stretch/>
        </p:blipFill>
        <p:spPr>
          <a:xfrm>
            <a:off x="6381750" y="1990725"/>
            <a:ext cx="5238750" cy="3810000"/>
          </a:xfrm>
          <a:prstGeom prst="rect">
            <a:avLst/>
          </a:prstGeom>
          <a:noFill/>
          <a:ln>
            <a:noFill/>
          </a:ln>
        </p:spPr>
      </p:pic>
      <p:sp>
        <p:nvSpPr>
          <p:cNvPr id="117" name="Google Shape;117;p4"/>
          <p:cNvSpPr txBox="1"/>
          <p:nvPr/>
        </p:nvSpPr>
        <p:spPr>
          <a:xfrm>
            <a:off x="857250" y="1837943"/>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F8FAFC"/>
                </a:solidFill>
                <a:latin typeface="Inter"/>
                <a:ea typeface="Inter"/>
                <a:cs typeface="Inter"/>
                <a:sym typeface="Inter"/>
              </a:rPr>
              <a:t>Sense:</a:t>
            </a:r>
            <a:r>
              <a:rPr b="0" i="0" lang="en-US" spc="0" sz="1500" u="none" cap="none" strike="noStrike">
                <a:solidFill>
                  <a:srgbClr val="94A3B8"/>
                </a:solidFill>
                <a:latin typeface="Inter"/>
                <a:ea typeface="Inter"/>
                <a:cs typeface="Inter"/>
                <a:sym typeface="Inter"/>
              </a:rPr>
              <a:t> Takes in data: text, images and audio.</a:t>
            </a:r>
            <a:endParaRPr b="0" i="0" spc="0" sz="1400" u="none" cap="none" strike="noStrike">
              <a:solidFill>
                <a:srgbClr val="000000"/>
              </a:solidFill>
              <a:latin typeface="Arial"/>
              <a:ea typeface="Arial"/>
              <a:cs typeface="Arial"/>
              <a:sym typeface="Arial"/>
            </a:endParaRPr>
          </a:p>
        </p:txBody>
      </p:sp>
      <p:sp>
        <p:nvSpPr>
          <p:cNvPr id="118" name="Google Shape;118;p4"/>
          <p:cNvSpPr txBox="1"/>
          <p:nvPr/>
        </p:nvSpPr>
        <p:spPr>
          <a:xfrm>
            <a:off x="857250" y="2944368"/>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F8FAFC"/>
                </a:solidFill>
                <a:latin typeface="Inter"/>
                <a:ea typeface="Inter"/>
                <a:cs typeface="Inter"/>
                <a:sym typeface="Inter"/>
              </a:rPr>
              <a:t>Comprehend:</a:t>
            </a:r>
            <a:r>
              <a:rPr b="0" i="0" lang="en-US" spc="0" sz="1500" u="none" cap="none" strike="noStrike">
                <a:solidFill>
                  <a:srgbClr val="94A3B8"/>
                </a:solidFill>
                <a:latin typeface="Inter"/>
                <a:ea typeface="Inter"/>
                <a:cs typeface="Inter"/>
                <a:sym typeface="Inter"/>
              </a:rPr>
              <a:t> Works out what that data means in context.</a:t>
            </a:r>
            <a:endParaRPr b="0" i="0" spc="0" sz="1400" u="none" cap="none" strike="noStrike">
              <a:solidFill>
                <a:srgbClr val="000000"/>
              </a:solidFill>
              <a:latin typeface="Arial"/>
              <a:ea typeface="Arial"/>
              <a:cs typeface="Arial"/>
              <a:sym typeface="Arial"/>
            </a:endParaRPr>
          </a:p>
        </p:txBody>
      </p:sp>
      <p:sp>
        <p:nvSpPr>
          <p:cNvPr id="119" name="Google Shape;119;p4"/>
          <p:cNvSpPr txBox="1"/>
          <p:nvPr/>
        </p:nvSpPr>
        <p:spPr>
          <a:xfrm>
            <a:off x="857250" y="4050791"/>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F8FAFC"/>
                </a:solidFill>
                <a:latin typeface="Inter"/>
                <a:ea typeface="Inter"/>
                <a:cs typeface="Inter"/>
                <a:sym typeface="Inter"/>
              </a:rPr>
              <a:t>Act:</a:t>
            </a:r>
            <a:r>
              <a:rPr b="0" i="0" lang="en-US" spc="0" sz="1500" u="none" cap="none" strike="noStrike">
                <a:solidFill>
                  <a:srgbClr val="94A3B8"/>
                </a:solidFill>
                <a:latin typeface="Inter"/>
                <a:ea typeface="Inter"/>
                <a:cs typeface="Inter"/>
                <a:sym typeface="Inter"/>
              </a:rPr>
              <a:t> Decides, generates or recommends.</a:t>
            </a:r>
            <a:endParaRPr b="0" i="0" spc="0" sz="1400" u="none" cap="none" strike="noStrike">
              <a:solidFill>
                <a:srgbClr val="000000"/>
              </a:solidFill>
              <a:latin typeface="Arial"/>
              <a:ea typeface="Arial"/>
              <a:cs typeface="Arial"/>
              <a:sym typeface="Arial"/>
            </a:endParaRPr>
          </a:p>
        </p:txBody>
      </p:sp>
      <p:sp>
        <p:nvSpPr>
          <p:cNvPr id="120" name="Google Shape;120;p4"/>
          <p:cNvSpPr txBox="1"/>
          <p:nvPr/>
        </p:nvSpPr>
        <p:spPr>
          <a:xfrm>
            <a:off x="857250" y="5157216"/>
            <a:ext cx="4953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F8FAFC"/>
                </a:solidFill>
                <a:latin typeface="Inter"/>
                <a:ea typeface="Inter"/>
                <a:cs typeface="Inter"/>
                <a:sym typeface="Inter"/>
              </a:rPr>
              <a:t>Learn:</a:t>
            </a:r>
            <a:r>
              <a:rPr b="0" i="0" lang="en-US" spc="0" sz="1500" u="none" cap="none" strike="noStrike">
                <a:solidFill>
                  <a:srgbClr val="94A3B8"/>
                </a:solidFill>
                <a:latin typeface="Inter"/>
                <a:ea typeface="Inter"/>
                <a:cs typeface="Inter"/>
                <a:sym typeface="Inter"/>
              </a:rPr>
              <a:t> Adjusts the model based on feedback, then the loop starts again.</a:t>
            </a:r>
            <a:endParaRPr b="0" i="0" spc="0" sz="1400" u="none" cap="none" strike="noStrike">
              <a:solidFill>
                <a:srgbClr val="000000"/>
              </a:solidFill>
              <a:latin typeface="Arial"/>
              <a:ea typeface="Arial"/>
              <a:cs typeface="Arial"/>
              <a:sym typeface="Arial"/>
            </a:endParaRPr>
          </a:p>
        </p:txBody>
      </p:sp>
      <p:pic>
        <p:nvPicPr>
          <p:cNvPr descr="image.png" id="121" name="Google Shape;121;p4"/>
          <p:cNvPicPr preferRelativeResize="0"/>
          <p:nvPr/>
        </p:nvPicPr>
        <p:blipFill rotWithShape="1">
          <a:blip r:embed="rId5">
            <a:alphaModFix/>
          </a:blip>
          <a:srcRect b="0" l="0" r="0" t="0"/>
          <a:stretch/>
        </p:blipFill>
        <p:spPr>
          <a:xfrm>
            <a:off x="6391275" y="2000250"/>
            <a:ext cx="5219700" cy="3790950"/>
          </a:xfrm>
          <a:prstGeom prst="rect">
            <a:avLst/>
          </a:prstGeom>
          <a:noFill/>
          <a:ln>
            <a:noFill/>
          </a:ln>
        </p:spPr>
      </p:pic>
      <p:sp>
        <p:nvSpPr>
          <p:cNvPr id="122" name="Google Shape;122;p4"/>
          <p:cNvSpPr txBox="1"/>
          <p:nvPr/>
        </p:nvSpPr>
        <p:spPr>
          <a:xfrm>
            <a:off x="571500" y="1837943"/>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0EA5E9"/>
                </a:solidFill>
                <a:latin typeface="Inter"/>
                <a:ea typeface="Inter"/>
                <a:cs typeface="Inter"/>
                <a:sym typeface="Inter"/>
              </a:rPr>
              <a:t>→</a:t>
            </a:r>
            <a:endParaRPr b="0" i="0" spc="0" sz="1400" u="none" cap="none" strike="noStrike">
              <a:solidFill>
                <a:srgbClr val="000000"/>
              </a:solidFill>
              <a:latin typeface="Arial"/>
              <a:ea typeface="Arial"/>
              <a:cs typeface="Arial"/>
              <a:sym typeface="Arial"/>
            </a:endParaRPr>
          </a:p>
        </p:txBody>
      </p:sp>
      <p:sp>
        <p:nvSpPr>
          <p:cNvPr id="123" name="Google Shape;123;p4"/>
          <p:cNvSpPr txBox="1"/>
          <p:nvPr/>
        </p:nvSpPr>
        <p:spPr>
          <a:xfrm>
            <a:off x="571500" y="2944368"/>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0EA5E9"/>
                </a:solidFill>
                <a:latin typeface="Inter"/>
                <a:ea typeface="Inter"/>
                <a:cs typeface="Inter"/>
                <a:sym typeface="Inter"/>
              </a:rPr>
              <a:t>→</a:t>
            </a:r>
            <a:endParaRPr b="0" i="0" spc="0" sz="1400" u="none" cap="none" strike="noStrike">
              <a:solidFill>
                <a:srgbClr val="000000"/>
              </a:solidFill>
              <a:latin typeface="Arial"/>
              <a:ea typeface="Arial"/>
              <a:cs typeface="Arial"/>
              <a:sym typeface="Arial"/>
            </a:endParaRPr>
          </a:p>
        </p:txBody>
      </p:sp>
      <p:sp>
        <p:nvSpPr>
          <p:cNvPr id="124" name="Google Shape;124;p4"/>
          <p:cNvSpPr txBox="1"/>
          <p:nvPr/>
        </p:nvSpPr>
        <p:spPr>
          <a:xfrm>
            <a:off x="571500" y="4050791"/>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0EA5E9"/>
                </a:solidFill>
                <a:latin typeface="Inter"/>
                <a:ea typeface="Inter"/>
                <a:cs typeface="Inter"/>
                <a:sym typeface="Inter"/>
              </a:rPr>
              <a:t>→</a:t>
            </a:r>
            <a:endParaRPr b="0" i="0" spc="0" sz="1400" u="none" cap="none" strike="noStrike">
              <a:solidFill>
                <a:srgbClr val="000000"/>
              </a:solidFill>
              <a:latin typeface="Arial"/>
              <a:ea typeface="Arial"/>
              <a:cs typeface="Arial"/>
              <a:sym typeface="Arial"/>
            </a:endParaRPr>
          </a:p>
        </p:txBody>
      </p:sp>
      <p:sp>
        <p:nvSpPr>
          <p:cNvPr id="125" name="Google Shape;125;p4"/>
          <p:cNvSpPr txBox="1"/>
          <p:nvPr/>
        </p:nvSpPr>
        <p:spPr>
          <a:xfrm>
            <a:off x="571500" y="5157216"/>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0EA5E9"/>
                </a:solidFill>
                <a:latin typeface="Inter"/>
                <a:ea typeface="Inter"/>
                <a:cs typeface="Inter"/>
                <a:sym typeface="Inter"/>
              </a:rPr>
              <a:t>→</a:t>
            </a:r>
            <a:endParaRPr b="0" i="0" spc="0" sz="1400" u="none" cap="none" strike="noStrike">
              <a:solidFill>
                <a:srgbClr val="000000"/>
              </a:solidFill>
              <a:latin typeface="Arial"/>
              <a:ea typeface="Arial"/>
              <a:cs typeface="Arial"/>
              <a:sym typeface="Arial"/>
            </a:endParaRPr>
          </a:p>
        </p:txBody>
      </p:sp>
      <p:sp>
        <p:nvSpPr>
          <p:cNvPr id="126" name="Google Shape;126;p4"/>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50"/>
              <a:buFont typeface="Arial"/>
              <a:buNone/>
            </a:pPr>
            <a:r>
              <a:rPr b="0" i="0" lang="en-US" spc="0" sz="3450" u="none" cap="none" strike="noStrike">
                <a:solidFill>
                  <a:srgbClr val="38BDF8"/>
                </a:solidFill>
                <a:latin typeface="Outfit SemiBold"/>
                <a:ea typeface="Outfit SemiBold"/>
                <a:cs typeface="Outfit SemiBold"/>
                <a:sym typeface="Outfit SemiBold"/>
              </a:rPr>
              <a:t>AI is a Loop, Not a Robot</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30" name="Shape 130"/>
        <p:cNvGrpSpPr/>
        <p:nvPr/>
      </p:nvGrpSpPr>
      <p:grpSpPr>
        <a:xfrm>
          <a:off x="0" y="0"/>
          <a:ext cx="0" cy="0"/>
          <a:chOff x="0" y="0"/>
          <a:chExt cx="0" cy="0"/>
        </a:xfrm>
      </p:grpSpPr>
      <p:pic>
        <p:nvPicPr>
          <p:cNvPr descr="image.png" id="131" name="Google Shape;131;p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2" name="Google Shape;132;p5"/>
          <p:cNvPicPr preferRelativeResize="0"/>
          <p:nvPr/>
        </p:nvPicPr>
        <p:blipFill rotWithShape="1">
          <a:blip r:embed="rId4">
            <a:alphaModFix/>
          </a:blip>
          <a:srcRect b="0" l="0" r="0" t="0"/>
          <a:stretch/>
        </p:blipFill>
        <p:spPr>
          <a:xfrm>
            <a:off x="571500" y="2114550"/>
            <a:ext cx="5238750" cy="3562350"/>
          </a:xfrm>
          <a:prstGeom prst="rect">
            <a:avLst/>
          </a:prstGeom>
          <a:noFill/>
          <a:ln>
            <a:noFill/>
          </a:ln>
        </p:spPr>
      </p:pic>
      <p:pic>
        <p:nvPicPr>
          <p:cNvPr descr="image.png" id="133" name="Google Shape;133;p5"/>
          <p:cNvPicPr preferRelativeResize="0"/>
          <p:nvPr/>
        </p:nvPicPr>
        <p:blipFill rotWithShape="1">
          <a:blip r:embed="rId5">
            <a:alphaModFix/>
          </a:blip>
          <a:srcRect b="0" l="0" r="0" t="0"/>
          <a:stretch/>
        </p:blipFill>
        <p:spPr>
          <a:xfrm>
            <a:off x="6381750" y="2114550"/>
            <a:ext cx="5238750" cy="3562350"/>
          </a:xfrm>
          <a:prstGeom prst="rect">
            <a:avLst/>
          </a:prstGeom>
          <a:noFill/>
          <a:ln>
            <a:noFill/>
          </a:ln>
        </p:spPr>
      </p:pic>
      <p:sp>
        <p:nvSpPr>
          <p:cNvPr id="134" name="Google Shape;134;p5"/>
          <p:cNvSpPr txBox="1"/>
          <p:nvPr/>
        </p:nvSpPr>
        <p:spPr>
          <a:xfrm>
            <a:off x="962025" y="2505075"/>
            <a:ext cx="4680585" cy="3333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0" i="0" lang="en-US" spc="0" sz="2100" u="none" cap="none" strike="noStrike">
                <a:solidFill>
                  <a:srgbClr val="38BDF8"/>
                </a:solidFill>
                <a:latin typeface="Outfit Medium"/>
                <a:ea typeface="Outfit Medium"/>
                <a:cs typeface="Outfit Medium"/>
                <a:sym typeface="Outfit Medium"/>
              </a:rPr>
              <a:t>Sense &amp; Comprehend</a:t>
            </a:r>
            <a:endParaRPr b="0" i="0" spc="0" sz="1400" u="none" cap="none" strike="noStrike">
              <a:solidFill>
                <a:srgbClr val="000000"/>
              </a:solidFill>
              <a:latin typeface="Arial"/>
              <a:ea typeface="Arial"/>
              <a:cs typeface="Arial"/>
              <a:sym typeface="Arial"/>
            </a:endParaRPr>
          </a:p>
        </p:txBody>
      </p:sp>
      <p:sp>
        <p:nvSpPr>
          <p:cNvPr id="135" name="Google Shape;135;p5"/>
          <p:cNvSpPr txBox="1"/>
          <p:nvPr/>
        </p:nvSpPr>
        <p:spPr>
          <a:xfrm>
            <a:off x="962025" y="3028950"/>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Reads text, images and audio.</a:t>
            </a:r>
            <a:endParaRPr b="0" i="0" spc="0" sz="1400" u="none" cap="none" strike="noStrike">
              <a:solidFill>
                <a:srgbClr val="000000"/>
              </a:solidFill>
              <a:latin typeface="Arial"/>
              <a:ea typeface="Arial"/>
              <a:cs typeface="Arial"/>
              <a:sym typeface="Arial"/>
            </a:endParaRPr>
          </a:p>
        </p:txBody>
      </p:sp>
      <p:sp>
        <p:nvSpPr>
          <p:cNvPr id="136" name="Google Shape;136;p5"/>
          <p:cNvSpPr txBox="1"/>
          <p:nvPr/>
        </p:nvSpPr>
        <p:spPr>
          <a:xfrm>
            <a:off x="962025" y="3781425"/>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“This is sick!” Praise or complaint? Context decides.</a:t>
            </a:r>
            <a:endParaRPr b="0" i="0" spc="0" sz="1400" u="none" cap="none" strike="noStrike">
              <a:solidFill>
                <a:srgbClr val="000000"/>
              </a:solidFill>
              <a:latin typeface="Arial"/>
              <a:ea typeface="Arial"/>
              <a:cs typeface="Arial"/>
              <a:sym typeface="Arial"/>
            </a:endParaRPr>
          </a:p>
        </p:txBody>
      </p:sp>
      <p:sp>
        <p:nvSpPr>
          <p:cNvPr id="137" name="Google Shape;137;p5"/>
          <p:cNvSpPr txBox="1"/>
          <p:nvPr/>
        </p:nvSpPr>
        <p:spPr>
          <a:xfrm>
            <a:off x="962025" y="4533900"/>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Understands meaning, not just keywords.</a:t>
            </a:r>
            <a:endParaRPr b="0" i="0" spc="0" sz="1400" u="none" cap="none" strike="noStrike">
              <a:solidFill>
                <a:srgbClr val="000000"/>
              </a:solidFill>
              <a:latin typeface="Arial"/>
              <a:ea typeface="Arial"/>
              <a:cs typeface="Arial"/>
              <a:sym typeface="Arial"/>
            </a:endParaRPr>
          </a:p>
        </p:txBody>
      </p:sp>
      <p:sp>
        <p:nvSpPr>
          <p:cNvPr id="138" name="Google Shape;138;p5"/>
          <p:cNvSpPr txBox="1"/>
          <p:nvPr/>
        </p:nvSpPr>
        <p:spPr>
          <a:xfrm>
            <a:off x="6772275" y="2505075"/>
            <a:ext cx="4680585" cy="3333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0" i="0" lang="en-US" spc="0" sz="2100" u="none" cap="none" strike="noStrike">
                <a:solidFill>
                  <a:srgbClr val="818CF8"/>
                </a:solidFill>
                <a:latin typeface="Outfit Medium"/>
                <a:ea typeface="Outfit Medium"/>
                <a:cs typeface="Outfit Medium"/>
                <a:sym typeface="Outfit Medium"/>
              </a:rPr>
              <a:t>Act &amp; Learn</a:t>
            </a:r>
            <a:endParaRPr b="0" i="0" spc="0" sz="1400" u="none" cap="none" strike="noStrike">
              <a:solidFill>
                <a:srgbClr val="000000"/>
              </a:solidFill>
              <a:latin typeface="Arial"/>
              <a:ea typeface="Arial"/>
              <a:cs typeface="Arial"/>
              <a:sym typeface="Arial"/>
            </a:endParaRPr>
          </a:p>
        </p:txBody>
      </p:sp>
      <p:sp>
        <p:nvSpPr>
          <p:cNvPr id="139" name="Google Shape;139;p5"/>
          <p:cNvSpPr txBox="1"/>
          <p:nvPr/>
        </p:nvSpPr>
        <p:spPr>
          <a:xfrm>
            <a:off x="6772275" y="3028950"/>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Decides, generates or recommends.</a:t>
            </a:r>
            <a:endParaRPr b="0" i="0" spc="0" sz="1400" u="none" cap="none" strike="noStrike">
              <a:solidFill>
                <a:srgbClr val="000000"/>
              </a:solidFill>
              <a:latin typeface="Arial"/>
              <a:ea typeface="Arial"/>
              <a:cs typeface="Arial"/>
              <a:sym typeface="Arial"/>
            </a:endParaRPr>
          </a:p>
        </p:txBody>
      </p:sp>
      <p:sp>
        <p:nvSpPr>
          <p:cNvPr id="140" name="Google Shape;140;p5"/>
          <p:cNvSpPr txBox="1"/>
          <p:nvPr/>
        </p:nvSpPr>
        <p:spPr>
          <a:xfrm>
            <a:off x="6772275" y="3781425"/>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Learns from every song you skip on Spotify.</a:t>
            </a:r>
            <a:endParaRPr b="0" i="0" spc="0" sz="1400" u="none" cap="none" strike="noStrike">
              <a:solidFill>
                <a:srgbClr val="000000"/>
              </a:solidFill>
              <a:latin typeface="Arial"/>
              <a:ea typeface="Arial"/>
              <a:cs typeface="Arial"/>
              <a:sym typeface="Arial"/>
            </a:endParaRPr>
          </a:p>
        </p:txBody>
      </p:sp>
      <p:sp>
        <p:nvSpPr>
          <p:cNvPr id="141" name="Google Shape;141;p5"/>
          <p:cNvSpPr txBox="1"/>
          <p:nvPr/>
        </p:nvSpPr>
        <p:spPr>
          <a:xfrm>
            <a:off x="6772275" y="4533900"/>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A calculator never changes. AI does.</a:t>
            </a:r>
            <a:endParaRPr b="0" i="0" spc="0" sz="1400" u="none" cap="none" strike="noStrike">
              <a:solidFill>
                <a:srgbClr val="000000"/>
              </a:solidFill>
              <a:latin typeface="Arial"/>
              <a:ea typeface="Arial"/>
              <a:cs typeface="Arial"/>
              <a:sym typeface="Arial"/>
            </a:endParaRPr>
          </a:p>
        </p:txBody>
      </p:sp>
      <p:sp>
        <p:nvSpPr>
          <p:cNvPr id="142" name="Google Shape;142;p5"/>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50"/>
              <a:buFont typeface="Arial"/>
              <a:buNone/>
            </a:pPr>
            <a:r>
              <a:rPr b="0" i="0" lang="en-US" spc="0" sz="3450" u="none" cap="none" strike="noStrike">
                <a:solidFill>
                  <a:srgbClr val="38BDF8"/>
                </a:solidFill>
                <a:latin typeface="Outfit SemiBold"/>
                <a:ea typeface="Outfit SemiBold"/>
                <a:cs typeface="Outfit SemiBold"/>
                <a:sym typeface="Outfit SemiBold"/>
              </a:rPr>
              <a:t>Inside the Loop</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46" name="Shape 146"/>
        <p:cNvGrpSpPr/>
        <p:nvPr/>
      </p:nvGrpSpPr>
      <p:grpSpPr>
        <a:xfrm>
          <a:off x="0" y="0"/>
          <a:ext cx="0" cy="0"/>
          <a:chOff x="0" y="0"/>
          <a:chExt cx="0" cy="0"/>
        </a:xfrm>
      </p:grpSpPr>
      <p:pic>
        <p:nvPicPr>
          <p:cNvPr descr="image.png" id="147" name="Google Shape;147;p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8" name="Google Shape;148;p6"/>
          <p:cNvSpPr/>
          <p:nvPr/>
        </p:nvSpPr>
        <p:spPr>
          <a:xfrm>
            <a:off x="571500" y="4114800"/>
            <a:ext cx="11049000" cy="381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sp>
        <p:nvSpPr>
          <p:cNvPr id="149" name="Google Shape;149;p6"/>
          <p:cNvSpPr txBox="1"/>
          <p:nvPr/>
        </p:nvSpPr>
        <p:spPr>
          <a:xfrm>
            <a:off x="507968" y="4467225"/>
            <a:ext cx="2668302" cy="266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50"/>
              <a:buFont typeface="Arial"/>
              <a:buNone/>
            </a:pPr>
            <a:r>
              <a:rPr b="0" i="0" lang="en-US" spc="0" sz="1650" u="none" cap="none" strike="noStrike">
                <a:solidFill>
                  <a:srgbClr val="F8FAFC"/>
                </a:solidFill>
                <a:latin typeface="Outfit Medium"/>
                <a:ea typeface="Outfit Medium"/>
                <a:cs typeface="Outfit Medium"/>
                <a:sym typeface="Outfit Medium"/>
              </a:rPr>
              <a:t>1980s: Rule-Based Systems</a:t>
            </a:r>
            <a:endParaRPr b="0" i="0" spc="0" sz="1400" u="none" cap="none" strike="noStrike">
              <a:solidFill>
                <a:srgbClr val="000000"/>
              </a:solidFill>
              <a:latin typeface="Arial"/>
              <a:ea typeface="Arial"/>
              <a:cs typeface="Arial"/>
              <a:sym typeface="Arial"/>
            </a:endParaRPr>
          </a:p>
        </p:txBody>
      </p:sp>
      <p:sp>
        <p:nvSpPr>
          <p:cNvPr id="150" name="Google Shape;150;p6"/>
          <p:cNvSpPr txBox="1"/>
          <p:nvPr/>
        </p:nvSpPr>
        <p:spPr>
          <a:xfrm>
            <a:off x="571500" y="4876800"/>
            <a:ext cx="2541240" cy="9751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200"/>
              <a:buFont typeface="Arial"/>
              <a:buNone/>
            </a:pPr>
            <a:r>
              <a:rPr b="0" i="0" lang="en-US" spc="0" sz="1200" u="none" cap="none" strike="noStrike">
                <a:solidFill>
                  <a:srgbClr val="94A3B8"/>
                </a:solidFill>
                <a:latin typeface="Inter"/>
                <a:ea typeface="Inter"/>
                <a:cs typeface="Inter"/>
                <a:sym typeface="Inter"/>
              </a:rPr>
              <a:t>Humans write every IF-THEN rule by hand. Rigid and hard to scale.</a:t>
            </a:r>
            <a:endParaRPr b="0" i="0" spc="0" sz="1400" u="none" cap="none" strike="noStrike">
              <a:solidFill>
                <a:srgbClr val="000000"/>
              </a:solidFill>
              <a:latin typeface="Arial"/>
              <a:ea typeface="Arial"/>
              <a:cs typeface="Arial"/>
              <a:sym typeface="Arial"/>
            </a:endParaRPr>
          </a:p>
        </p:txBody>
      </p:sp>
      <p:sp>
        <p:nvSpPr>
          <p:cNvPr id="151" name="Google Shape;151;p6"/>
          <p:cNvSpPr txBox="1"/>
          <p:nvPr/>
        </p:nvSpPr>
        <p:spPr>
          <a:xfrm>
            <a:off x="3343888" y="2272903"/>
            <a:ext cx="2668302" cy="266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50"/>
              <a:buFont typeface="Arial"/>
              <a:buNone/>
            </a:pPr>
            <a:r>
              <a:rPr b="0" i="0" lang="en-US" spc="0" sz="1650" u="none" cap="none" strike="noStrike">
                <a:solidFill>
                  <a:srgbClr val="F8FAFC"/>
                </a:solidFill>
                <a:latin typeface="Outfit Medium"/>
                <a:ea typeface="Outfit Medium"/>
                <a:cs typeface="Outfit Medium"/>
                <a:sym typeface="Outfit Medium"/>
              </a:rPr>
              <a:t>2000s: Machine Learning</a:t>
            </a:r>
            <a:endParaRPr b="0" i="0" spc="0" sz="1400" u="none" cap="none" strike="noStrike">
              <a:solidFill>
                <a:srgbClr val="000000"/>
              </a:solidFill>
              <a:latin typeface="Arial"/>
              <a:ea typeface="Arial"/>
              <a:cs typeface="Arial"/>
              <a:sym typeface="Arial"/>
            </a:endParaRPr>
          </a:p>
        </p:txBody>
      </p:sp>
      <p:sp>
        <p:nvSpPr>
          <p:cNvPr id="152" name="Google Shape;152;p6"/>
          <p:cNvSpPr txBox="1"/>
          <p:nvPr/>
        </p:nvSpPr>
        <p:spPr>
          <a:xfrm>
            <a:off x="3407419" y="2682478"/>
            <a:ext cx="2541240" cy="9751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200"/>
              <a:buFont typeface="Arial"/>
              <a:buNone/>
            </a:pPr>
            <a:r>
              <a:rPr b="0" i="0" lang="en-US" spc="0" sz="1200" u="none" cap="none" strike="noStrike">
                <a:solidFill>
                  <a:srgbClr val="94A3B8"/>
                </a:solidFill>
                <a:latin typeface="Inter"/>
                <a:ea typeface="Inter"/>
                <a:cs typeface="Inter"/>
                <a:sym typeface="Inter"/>
              </a:rPr>
              <a:t>Machines start learning patterns from data, not hand-written rules.</a:t>
            </a:r>
            <a:endParaRPr b="0" i="0" spc="0" sz="1400" u="none" cap="none" strike="noStrike">
              <a:solidFill>
                <a:srgbClr val="000000"/>
              </a:solidFill>
              <a:latin typeface="Arial"/>
              <a:ea typeface="Arial"/>
              <a:cs typeface="Arial"/>
              <a:sym typeface="Arial"/>
            </a:endParaRPr>
          </a:p>
        </p:txBody>
      </p:sp>
      <p:sp>
        <p:nvSpPr>
          <p:cNvPr id="153" name="Google Shape;153;p6"/>
          <p:cNvSpPr txBox="1"/>
          <p:nvPr/>
        </p:nvSpPr>
        <p:spPr>
          <a:xfrm>
            <a:off x="6179808" y="4467225"/>
            <a:ext cx="2668302" cy="266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50"/>
              <a:buFont typeface="Arial"/>
              <a:buNone/>
            </a:pPr>
            <a:r>
              <a:rPr b="0" i="0" lang="en-US" spc="0" sz="1650" u="none" cap="none" strike="noStrike">
                <a:solidFill>
                  <a:srgbClr val="F8FAFC"/>
                </a:solidFill>
                <a:latin typeface="Outfit Medium"/>
                <a:ea typeface="Outfit Medium"/>
                <a:cs typeface="Outfit Medium"/>
                <a:sym typeface="Outfit Medium"/>
              </a:rPr>
              <a:t>2010s: Deep Learning</a:t>
            </a:r>
            <a:endParaRPr b="0" i="0" spc="0" sz="1400" u="none" cap="none" strike="noStrike">
              <a:solidFill>
                <a:srgbClr val="000000"/>
              </a:solidFill>
              <a:latin typeface="Arial"/>
              <a:ea typeface="Arial"/>
              <a:cs typeface="Arial"/>
              <a:sym typeface="Arial"/>
            </a:endParaRPr>
          </a:p>
        </p:txBody>
      </p:sp>
      <p:sp>
        <p:nvSpPr>
          <p:cNvPr id="154" name="Google Shape;154;p6"/>
          <p:cNvSpPr txBox="1"/>
          <p:nvPr/>
        </p:nvSpPr>
        <p:spPr>
          <a:xfrm>
            <a:off x="6243339" y="4876800"/>
            <a:ext cx="2541240" cy="9751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200"/>
              <a:buFont typeface="Arial"/>
              <a:buNone/>
            </a:pPr>
            <a:r>
              <a:rPr b="0" i="0" lang="en-US" spc="0" sz="1200" u="none" cap="none" strike="noStrike">
                <a:solidFill>
                  <a:srgbClr val="94A3B8"/>
                </a:solidFill>
                <a:latin typeface="Inter"/>
                <a:ea typeface="Inter"/>
                <a:cs typeface="Inter"/>
                <a:sym typeface="Inter"/>
              </a:rPr>
              <a:t>Many-layered neural networks master images and speech.</a:t>
            </a:r>
            <a:endParaRPr b="0" i="0" spc="0" sz="1400" u="none" cap="none" strike="noStrike">
              <a:solidFill>
                <a:srgbClr val="000000"/>
              </a:solidFill>
              <a:latin typeface="Arial"/>
              <a:ea typeface="Arial"/>
              <a:cs typeface="Arial"/>
              <a:sym typeface="Arial"/>
            </a:endParaRPr>
          </a:p>
        </p:txBody>
      </p:sp>
      <p:sp>
        <p:nvSpPr>
          <p:cNvPr id="155" name="Google Shape;155;p6"/>
          <p:cNvSpPr txBox="1"/>
          <p:nvPr/>
        </p:nvSpPr>
        <p:spPr>
          <a:xfrm>
            <a:off x="9015728" y="2272903"/>
            <a:ext cx="2668302" cy="266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650"/>
              <a:buFont typeface="Arial"/>
              <a:buNone/>
            </a:pPr>
            <a:r>
              <a:rPr b="0" i="0" lang="en-US" spc="0" sz="1650" u="none" cap="none" strike="noStrike">
                <a:solidFill>
                  <a:srgbClr val="F8FAFC"/>
                </a:solidFill>
                <a:latin typeface="Outfit Medium"/>
                <a:ea typeface="Outfit Medium"/>
                <a:cs typeface="Outfit Medium"/>
                <a:sym typeface="Outfit Medium"/>
              </a:rPr>
              <a:t>2020s: Generative AI</a:t>
            </a:r>
            <a:endParaRPr b="0" i="0" spc="0" sz="1400" u="none" cap="none" strike="noStrike">
              <a:solidFill>
                <a:srgbClr val="000000"/>
              </a:solidFill>
              <a:latin typeface="Arial"/>
              <a:ea typeface="Arial"/>
              <a:cs typeface="Arial"/>
              <a:sym typeface="Arial"/>
            </a:endParaRPr>
          </a:p>
        </p:txBody>
      </p:sp>
      <p:sp>
        <p:nvSpPr>
          <p:cNvPr id="156" name="Google Shape;156;p6"/>
          <p:cNvSpPr txBox="1"/>
          <p:nvPr/>
        </p:nvSpPr>
        <p:spPr>
          <a:xfrm>
            <a:off x="9079259" y="2682478"/>
            <a:ext cx="2541240" cy="9751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200"/>
              <a:buFont typeface="Arial"/>
              <a:buNone/>
            </a:pPr>
            <a:r>
              <a:rPr b="0" i="0" lang="en-US" spc="0" sz="1200" u="none" cap="none" strike="noStrike">
                <a:solidFill>
                  <a:srgbClr val="94A3B8"/>
                </a:solidFill>
                <a:latin typeface="Inter"/>
                <a:ea typeface="Inter"/>
                <a:cs typeface="Inter"/>
                <a:sym typeface="Inter"/>
              </a:rPr>
              <a:t>Foundation models (LLMs) don’t just classify. They create new text, code and images.</a:t>
            </a:r>
            <a:endParaRPr b="0" i="0" spc="0" sz="1400" u="none" cap="none" strike="noStrike">
              <a:solidFill>
                <a:srgbClr val="000000"/>
              </a:solidFill>
              <a:latin typeface="Arial"/>
              <a:ea typeface="Arial"/>
              <a:cs typeface="Arial"/>
              <a:sym typeface="Arial"/>
            </a:endParaRPr>
          </a:p>
        </p:txBody>
      </p:sp>
      <p:sp>
        <p:nvSpPr>
          <p:cNvPr id="157" name="Google Shape;157;p6"/>
          <p:cNvSpPr/>
          <p:nvPr/>
        </p:nvSpPr>
        <p:spPr>
          <a:xfrm>
            <a:off x="1746870" y="4038600"/>
            <a:ext cx="190500" cy="190500"/>
          </a:xfrm>
          <a:prstGeom prst="roundRect">
            <a:avLst>
              <a:gd fmla="val 50000" name="adj"/>
            </a:avLst>
          </a:prstGeom>
          <a:solidFill>
            <a:srgbClr val="0F172A"/>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sp>
        <p:nvSpPr>
          <p:cNvPr id="158" name="Google Shape;158;p6"/>
          <p:cNvSpPr/>
          <p:nvPr/>
        </p:nvSpPr>
        <p:spPr>
          <a:xfrm>
            <a:off x="4582790" y="4038600"/>
            <a:ext cx="190500" cy="190500"/>
          </a:xfrm>
          <a:prstGeom prst="roundRect">
            <a:avLst>
              <a:gd fmla="val 50000" name="adj"/>
            </a:avLst>
          </a:prstGeom>
          <a:solidFill>
            <a:srgbClr val="0F172A"/>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sp>
        <p:nvSpPr>
          <p:cNvPr id="159" name="Google Shape;159;p6"/>
          <p:cNvSpPr/>
          <p:nvPr/>
        </p:nvSpPr>
        <p:spPr>
          <a:xfrm>
            <a:off x="7418709" y="4038600"/>
            <a:ext cx="190500" cy="190500"/>
          </a:xfrm>
          <a:prstGeom prst="roundRect">
            <a:avLst>
              <a:gd fmla="val 50000" name="adj"/>
            </a:avLst>
          </a:prstGeom>
          <a:solidFill>
            <a:srgbClr val="0F172A"/>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sp>
        <p:nvSpPr>
          <p:cNvPr id="160" name="Google Shape;160;p6"/>
          <p:cNvSpPr/>
          <p:nvPr/>
        </p:nvSpPr>
        <p:spPr>
          <a:xfrm>
            <a:off x="10254629" y="4038600"/>
            <a:ext cx="190500" cy="190500"/>
          </a:xfrm>
          <a:prstGeom prst="roundRect">
            <a:avLst>
              <a:gd fmla="val 50000" name="adj"/>
            </a:avLst>
          </a:prstGeom>
          <a:solidFill>
            <a:srgbClr val="0F172A"/>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sp>
        <p:nvSpPr>
          <p:cNvPr id="161" name="Google Shape;161;p6"/>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50"/>
              <a:buFont typeface="Arial"/>
              <a:buNone/>
            </a:pPr>
            <a:r>
              <a:rPr b="0" i="0" lang="en-US" spc="0" sz="3450" u="none" cap="none" strike="noStrike">
                <a:solidFill>
                  <a:srgbClr val="38BDF8"/>
                </a:solidFill>
                <a:latin typeface="Outfit SemiBold"/>
                <a:ea typeface="Outfit SemiBold"/>
                <a:cs typeface="Outfit SemiBold"/>
                <a:sym typeface="Outfit SemiBold"/>
              </a:rPr>
              <a:t>The Evolution of AI</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65" name="Shape 165"/>
        <p:cNvGrpSpPr/>
        <p:nvPr/>
      </p:nvGrpSpPr>
      <p:grpSpPr>
        <a:xfrm>
          <a:off x="0" y="0"/>
          <a:ext cx="0" cy="0"/>
          <a:chOff x="0" y="0"/>
          <a:chExt cx="0" cy="0"/>
        </a:xfrm>
      </p:grpSpPr>
      <p:pic>
        <p:nvPicPr>
          <p:cNvPr descr="image.png" id="166" name="Google Shape;166;p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7" name="Google Shape;167;p7"/>
          <p:cNvPicPr preferRelativeResize="0"/>
          <p:nvPr/>
        </p:nvPicPr>
        <p:blipFill rotWithShape="1">
          <a:blip r:embed="rId4">
            <a:alphaModFix/>
          </a:blip>
          <a:srcRect b="0" l="0" r="0" t="0"/>
          <a:stretch/>
        </p:blipFill>
        <p:spPr>
          <a:xfrm>
            <a:off x="571500" y="2114550"/>
            <a:ext cx="5238750" cy="3562350"/>
          </a:xfrm>
          <a:prstGeom prst="rect">
            <a:avLst/>
          </a:prstGeom>
          <a:noFill/>
          <a:ln>
            <a:noFill/>
          </a:ln>
        </p:spPr>
      </p:pic>
      <p:pic>
        <p:nvPicPr>
          <p:cNvPr descr="image.png" id="168" name="Google Shape;168;p7"/>
          <p:cNvPicPr preferRelativeResize="0"/>
          <p:nvPr/>
        </p:nvPicPr>
        <p:blipFill rotWithShape="1">
          <a:blip r:embed="rId5">
            <a:alphaModFix/>
          </a:blip>
          <a:srcRect b="0" l="0" r="0" t="0"/>
          <a:stretch/>
        </p:blipFill>
        <p:spPr>
          <a:xfrm>
            <a:off x="6381750" y="2114550"/>
            <a:ext cx="5238750" cy="3562350"/>
          </a:xfrm>
          <a:prstGeom prst="rect">
            <a:avLst/>
          </a:prstGeom>
          <a:noFill/>
          <a:ln>
            <a:noFill/>
          </a:ln>
        </p:spPr>
      </p:pic>
      <p:sp>
        <p:nvSpPr>
          <p:cNvPr id="169" name="Google Shape;169;p7"/>
          <p:cNvSpPr txBox="1"/>
          <p:nvPr/>
        </p:nvSpPr>
        <p:spPr>
          <a:xfrm>
            <a:off x="962025" y="2505075"/>
            <a:ext cx="4680585" cy="3333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0" i="0" lang="en-US" spc="0" sz="2100" u="none" cap="none" strike="noStrike">
                <a:solidFill>
                  <a:srgbClr val="38BDF8"/>
                </a:solidFill>
                <a:latin typeface="Outfit Medium"/>
                <a:ea typeface="Outfit Medium"/>
                <a:cs typeface="Outfit Medium"/>
                <a:sym typeface="Outfit Medium"/>
              </a:rPr>
              <a:t>Rule-Based Filter (1980s)</a:t>
            </a:r>
            <a:endParaRPr b="0" i="0" spc="0" sz="1400" u="none" cap="none" strike="noStrike">
              <a:solidFill>
                <a:srgbClr val="000000"/>
              </a:solidFill>
              <a:latin typeface="Arial"/>
              <a:ea typeface="Arial"/>
              <a:cs typeface="Arial"/>
              <a:sym typeface="Arial"/>
            </a:endParaRPr>
          </a:p>
        </p:txBody>
      </p:sp>
      <p:sp>
        <p:nvSpPr>
          <p:cNvPr id="170" name="Google Shape;170;p7"/>
          <p:cNvSpPr txBox="1"/>
          <p:nvPr/>
        </p:nvSpPr>
        <p:spPr>
          <a:xfrm>
            <a:off x="962025" y="3028950"/>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IF email says “FREE MONEY”, THEN spam.</a:t>
            </a:r>
            <a:endParaRPr b="0" i="0" spc="0" sz="1400" u="none" cap="none" strike="noStrike">
              <a:solidFill>
                <a:srgbClr val="000000"/>
              </a:solidFill>
              <a:latin typeface="Arial"/>
              <a:ea typeface="Arial"/>
              <a:cs typeface="Arial"/>
              <a:sym typeface="Arial"/>
            </a:endParaRPr>
          </a:p>
        </p:txBody>
      </p:sp>
      <p:sp>
        <p:nvSpPr>
          <p:cNvPr id="171" name="Google Shape;171;p7"/>
          <p:cNvSpPr txBox="1"/>
          <p:nvPr/>
        </p:nvSpPr>
        <p:spPr>
          <a:xfrm>
            <a:off x="962025" y="3781425"/>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“FR33 M0NEY” slips straight past it.</a:t>
            </a:r>
            <a:endParaRPr b="0" i="0" spc="0" sz="1400" u="none" cap="none" strike="noStrike">
              <a:solidFill>
                <a:srgbClr val="000000"/>
              </a:solidFill>
              <a:latin typeface="Arial"/>
              <a:ea typeface="Arial"/>
              <a:cs typeface="Arial"/>
              <a:sym typeface="Arial"/>
            </a:endParaRPr>
          </a:p>
        </p:txBody>
      </p:sp>
      <p:sp>
        <p:nvSpPr>
          <p:cNvPr id="172" name="Google Shape;172;p7"/>
          <p:cNvSpPr txBox="1"/>
          <p:nvPr/>
        </p:nvSpPr>
        <p:spPr>
          <a:xfrm>
            <a:off x="962025" y="4533900"/>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Every new trick needs a new hand-written rule.</a:t>
            </a:r>
            <a:endParaRPr b="0" i="0" spc="0" sz="1400" u="none" cap="none" strike="noStrike">
              <a:solidFill>
                <a:srgbClr val="000000"/>
              </a:solidFill>
              <a:latin typeface="Arial"/>
              <a:ea typeface="Arial"/>
              <a:cs typeface="Arial"/>
              <a:sym typeface="Arial"/>
            </a:endParaRPr>
          </a:p>
        </p:txBody>
      </p:sp>
      <p:sp>
        <p:nvSpPr>
          <p:cNvPr id="173" name="Google Shape;173;p7"/>
          <p:cNvSpPr txBox="1"/>
          <p:nvPr/>
        </p:nvSpPr>
        <p:spPr>
          <a:xfrm>
            <a:off x="6772275" y="2505075"/>
            <a:ext cx="4680585" cy="3333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0" i="0" lang="en-US" spc="0" sz="2100" u="none" cap="none" strike="noStrike">
                <a:solidFill>
                  <a:srgbClr val="818CF8"/>
                </a:solidFill>
                <a:latin typeface="Outfit Medium"/>
                <a:ea typeface="Outfit Medium"/>
                <a:cs typeface="Outfit Medium"/>
                <a:sym typeface="Outfit Medium"/>
              </a:rPr>
              <a:t>Deep Learning Filter (2010s)</a:t>
            </a:r>
            <a:endParaRPr b="0" i="0" spc="0" sz="1400" u="none" cap="none" strike="noStrike">
              <a:solidFill>
                <a:srgbClr val="000000"/>
              </a:solidFill>
              <a:latin typeface="Arial"/>
              <a:ea typeface="Arial"/>
              <a:cs typeface="Arial"/>
              <a:sym typeface="Arial"/>
            </a:endParaRPr>
          </a:p>
        </p:txBody>
      </p:sp>
      <p:sp>
        <p:nvSpPr>
          <p:cNvPr id="174" name="Google Shape;174;p7"/>
          <p:cNvSpPr txBox="1"/>
          <p:nvPr/>
        </p:nvSpPr>
        <p:spPr>
          <a:xfrm>
            <a:off x="6772275" y="3028950"/>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Learns from a million labelled emails.</a:t>
            </a:r>
            <a:endParaRPr b="0" i="0" spc="0" sz="1400" u="none" cap="none" strike="noStrike">
              <a:solidFill>
                <a:srgbClr val="000000"/>
              </a:solidFill>
              <a:latin typeface="Arial"/>
              <a:ea typeface="Arial"/>
              <a:cs typeface="Arial"/>
              <a:sym typeface="Arial"/>
            </a:endParaRPr>
          </a:p>
        </p:txBody>
      </p:sp>
      <p:sp>
        <p:nvSpPr>
          <p:cNvPr id="175" name="Google Shape;175;p7"/>
          <p:cNvSpPr txBox="1"/>
          <p:nvPr/>
        </p:nvSpPr>
        <p:spPr>
          <a:xfrm>
            <a:off x="6772275" y="3781425"/>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Finds patterns nobody wrote down.</a:t>
            </a:r>
            <a:endParaRPr b="0" i="0" spc="0" sz="1400" u="none" cap="none" strike="noStrike">
              <a:solidFill>
                <a:srgbClr val="000000"/>
              </a:solidFill>
              <a:latin typeface="Arial"/>
              <a:ea typeface="Arial"/>
              <a:cs typeface="Arial"/>
              <a:sym typeface="Arial"/>
            </a:endParaRPr>
          </a:p>
        </p:txBody>
      </p:sp>
      <p:sp>
        <p:nvSpPr>
          <p:cNvPr id="176" name="Google Shape;176;p7"/>
          <p:cNvSpPr txBox="1"/>
          <p:nvPr/>
        </p:nvSpPr>
        <p:spPr>
          <a:xfrm>
            <a:off x="6772275" y="4533900"/>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Retrain it when spammers change tactics.</a:t>
            </a:r>
            <a:endParaRPr b="0" i="0" spc="0" sz="1400" u="none" cap="none" strike="noStrike">
              <a:solidFill>
                <a:srgbClr val="000000"/>
              </a:solidFill>
              <a:latin typeface="Arial"/>
              <a:ea typeface="Arial"/>
              <a:cs typeface="Arial"/>
              <a:sym typeface="Arial"/>
            </a:endParaRPr>
          </a:p>
        </p:txBody>
      </p:sp>
      <p:sp>
        <p:nvSpPr>
          <p:cNvPr id="177" name="Google Shape;177;p7"/>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50"/>
              <a:buFont typeface="Arial"/>
              <a:buNone/>
            </a:pPr>
            <a:r>
              <a:rPr b="0" i="0" lang="en-US" spc="0" sz="3450" u="none" cap="none" strike="noStrike">
                <a:solidFill>
                  <a:srgbClr val="38BDF8"/>
                </a:solidFill>
                <a:latin typeface="Outfit SemiBold"/>
                <a:ea typeface="Outfit SemiBold"/>
                <a:cs typeface="Outfit SemiBold"/>
                <a:sym typeface="Outfit SemiBold"/>
              </a:rPr>
              <a:t>Rules vs Learning: The Spam Filter Test</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81" name="Shape 181"/>
        <p:cNvGrpSpPr/>
        <p:nvPr/>
      </p:nvGrpSpPr>
      <p:grpSpPr>
        <a:xfrm>
          <a:off x="0" y="0"/>
          <a:ext cx="0" cy="0"/>
          <a:chOff x="0" y="0"/>
          <a:chExt cx="0" cy="0"/>
        </a:xfrm>
      </p:grpSpPr>
      <p:pic>
        <p:nvPicPr>
          <p:cNvPr descr="image.png" id="182" name="Google Shape;182;p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3" name="Google Shape;183;p8"/>
          <p:cNvPicPr preferRelativeResize="0"/>
          <p:nvPr/>
        </p:nvPicPr>
        <p:blipFill rotWithShape="1">
          <a:blip r:embed="rId4">
            <a:alphaModFix/>
          </a:blip>
          <a:srcRect b="0" l="0" r="0" t="0"/>
          <a:stretch/>
        </p:blipFill>
        <p:spPr>
          <a:xfrm>
            <a:off x="6381750" y="1990725"/>
            <a:ext cx="5238750" cy="3810000"/>
          </a:xfrm>
          <a:prstGeom prst="rect">
            <a:avLst/>
          </a:prstGeom>
          <a:noFill/>
          <a:ln>
            <a:noFill/>
          </a:ln>
        </p:spPr>
      </p:pic>
      <p:sp>
        <p:nvSpPr>
          <p:cNvPr id="184" name="Google Shape;184;p8"/>
          <p:cNvSpPr txBox="1"/>
          <p:nvPr/>
        </p:nvSpPr>
        <p:spPr>
          <a:xfrm>
            <a:off x="857250" y="1837943"/>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F8FAFC"/>
                </a:solidFill>
                <a:latin typeface="Inter"/>
                <a:ea typeface="Inter"/>
                <a:cs typeface="Inter"/>
                <a:sym typeface="Inter"/>
              </a:rPr>
              <a:t>Before:</a:t>
            </a:r>
            <a:r>
              <a:rPr b="0" i="0" lang="en-US" spc="0" sz="1500" u="none" cap="none" strike="noStrike">
                <a:solidFill>
                  <a:srgbClr val="94A3B8"/>
                </a:solidFill>
                <a:latin typeface="Inter"/>
                <a:ea typeface="Inter"/>
                <a:cs typeface="Inter"/>
                <a:sym typeface="Inter"/>
              </a:rPr>
              <a:t> AI classified or predicted. A photo becomes “cat”, a transaction becomes “fraud”.</a:t>
            </a:r>
            <a:endParaRPr b="0" i="0" spc="0" sz="1400" u="none" cap="none" strike="noStrike">
              <a:solidFill>
                <a:srgbClr val="000000"/>
              </a:solidFill>
              <a:latin typeface="Arial"/>
              <a:ea typeface="Arial"/>
              <a:cs typeface="Arial"/>
              <a:sym typeface="Arial"/>
            </a:endParaRPr>
          </a:p>
        </p:txBody>
      </p:sp>
      <p:sp>
        <p:nvSpPr>
          <p:cNvPr id="185" name="Google Shape;185;p8"/>
          <p:cNvSpPr txBox="1"/>
          <p:nvPr/>
        </p:nvSpPr>
        <p:spPr>
          <a:xfrm>
            <a:off x="857250" y="2944368"/>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F8FAFC"/>
                </a:solidFill>
                <a:latin typeface="Inter"/>
                <a:ea typeface="Inter"/>
                <a:cs typeface="Inter"/>
                <a:sym typeface="Inter"/>
              </a:rPr>
              <a:t>Now:</a:t>
            </a:r>
            <a:r>
              <a:rPr b="0" i="0" lang="en-US" spc="0" sz="1500" u="none" cap="none" strike="noStrike">
                <a:solidFill>
                  <a:srgbClr val="94A3B8"/>
                </a:solidFill>
                <a:latin typeface="Inter"/>
                <a:ea typeface="Inter"/>
                <a:cs typeface="Inter"/>
                <a:sym typeface="Inter"/>
              </a:rPr>
              <a:t> AI generates. “Summarise this report” becomes a brand-new summary.</a:t>
            </a:r>
            <a:endParaRPr b="0" i="0" spc="0" sz="1400" u="none" cap="none" strike="noStrike">
              <a:solidFill>
                <a:srgbClr val="000000"/>
              </a:solidFill>
              <a:latin typeface="Arial"/>
              <a:ea typeface="Arial"/>
              <a:cs typeface="Arial"/>
              <a:sym typeface="Arial"/>
            </a:endParaRPr>
          </a:p>
        </p:txBody>
      </p:sp>
      <p:sp>
        <p:nvSpPr>
          <p:cNvPr id="186" name="Google Shape;186;p8"/>
          <p:cNvSpPr txBox="1"/>
          <p:nvPr/>
        </p:nvSpPr>
        <p:spPr>
          <a:xfrm>
            <a:off x="857250" y="4050791"/>
            <a:ext cx="4953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F8FAFC"/>
                </a:solidFill>
                <a:latin typeface="Inter"/>
                <a:ea typeface="Inter"/>
                <a:cs typeface="Inter"/>
                <a:sym typeface="Inter"/>
              </a:rPr>
              <a:t>Foundation models:</a:t>
            </a:r>
            <a:r>
              <a:rPr b="0" i="0" lang="en-US" spc="0" sz="1500" u="none" cap="none" strike="noStrike">
                <a:solidFill>
                  <a:srgbClr val="94A3B8"/>
                </a:solidFill>
                <a:latin typeface="Inter"/>
                <a:ea typeface="Inter"/>
                <a:cs typeface="Inter"/>
                <a:sym typeface="Inter"/>
              </a:rPr>
              <a:t> LLMs are trained to predict the next word. One model, thousands of uses.</a:t>
            </a:r>
            <a:endParaRPr b="0" i="0" spc="0" sz="1400" u="none" cap="none" strike="noStrike">
              <a:solidFill>
                <a:srgbClr val="000000"/>
              </a:solidFill>
              <a:latin typeface="Arial"/>
              <a:ea typeface="Arial"/>
              <a:cs typeface="Arial"/>
              <a:sym typeface="Arial"/>
            </a:endParaRPr>
          </a:p>
        </p:txBody>
      </p:sp>
      <p:sp>
        <p:nvSpPr>
          <p:cNvPr id="187" name="Google Shape;187;p8"/>
          <p:cNvSpPr txBox="1"/>
          <p:nvPr/>
        </p:nvSpPr>
        <p:spPr>
          <a:xfrm>
            <a:off x="857250" y="5157216"/>
            <a:ext cx="4953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F8FAFC"/>
                </a:solidFill>
                <a:latin typeface="Inter"/>
                <a:ea typeface="Inter"/>
                <a:cs typeface="Inter"/>
                <a:sym typeface="Inter"/>
              </a:rPr>
              <a:t>Watch out:</a:t>
            </a:r>
            <a:r>
              <a:rPr b="0" i="0" lang="en-US" spc="0" sz="1500" u="none" cap="none" strike="noStrike">
                <a:solidFill>
                  <a:srgbClr val="94A3B8"/>
                </a:solidFill>
                <a:latin typeface="Inter"/>
                <a:ea typeface="Inter"/>
                <a:cs typeface="Inter"/>
                <a:sym typeface="Inter"/>
              </a:rPr>
              <a:t> AI can hallucinate. Plausible isn’t the same as true, so keep a check in the loop.</a:t>
            </a:r>
            <a:endParaRPr b="0" i="0" spc="0" sz="1400" u="none" cap="none" strike="noStrike">
              <a:solidFill>
                <a:srgbClr val="000000"/>
              </a:solidFill>
              <a:latin typeface="Arial"/>
              <a:ea typeface="Arial"/>
              <a:cs typeface="Arial"/>
              <a:sym typeface="Arial"/>
            </a:endParaRPr>
          </a:p>
        </p:txBody>
      </p:sp>
      <p:pic>
        <p:nvPicPr>
          <p:cNvPr descr="image.png" id="188" name="Google Shape;188;p8"/>
          <p:cNvPicPr preferRelativeResize="0"/>
          <p:nvPr/>
        </p:nvPicPr>
        <p:blipFill rotWithShape="1">
          <a:blip r:embed="rId5">
            <a:alphaModFix/>
          </a:blip>
          <a:srcRect b="0" l="0" r="0" t="0"/>
          <a:stretch/>
        </p:blipFill>
        <p:spPr>
          <a:xfrm>
            <a:off x="6391275" y="2000250"/>
            <a:ext cx="5219700" cy="3790950"/>
          </a:xfrm>
          <a:prstGeom prst="rect">
            <a:avLst/>
          </a:prstGeom>
          <a:noFill/>
          <a:ln>
            <a:noFill/>
          </a:ln>
        </p:spPr>
      </p:pic>
      <p:sp>
        <p:nvSpPr>
          <p:cNvPr id="189" name="Google Shape;189;p8"/>
          <p:cNvSpPr txBox="1"/>
          <p:nvPr/>
        </p:nvSpPr>
        <p:spPr>
          <a:xfrm>
            <a:off x="571500" y="1837943"/>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0EA5E9"/>
                </a:solidFill>
                <a:latin typeface="Inter"/>
                <a:ea typeface="Inter"/>
                <a:cs typeface="Inter"/>
                <a:sym typeface="Inter"/>
              </a:rPr>
              <a:t>→</a:t>
            </a:r>
            <a:endParaRPr b="0" i="0" spc="0" sz="1400" u="none" cap="none" strike="noStrike">
              <a:solidFill>
                <a:srgbClr val="000000"/>
              </a:solidFill>
              <a:latin typeface="Arial"/>
              <a:ea typeface="Arial"/>
              <a:cs typeface="Arial"/>
              <a:sym typeface="Arial"/>
            </a:endParaRPr>
          </a:p>
        </p:txBody>
      </p:sp>
      <p:sp>
        <p:nvSpPr>
          <p:cNvPr id="190" name="Google Shape;190;p8"/>
          <p:cNvSpPr txBox="1"/>
          <p:nvPr/>
        </p:nvSpPr>
        <p:spPr>
          <a:xfrm>
            <a:off x="571500" y="2944368"/>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0EA5E9"/>
                </a:solidFill>
                <a:latin typeface="Inter"/>
                <a:ea typeface="Inter"/>
                <a:cs typeface="Inter"/>
                <a:sym typeface="Inter"/>
              </a:rPr>
              <a:t>→</a:t>
            </a:r>
            <a:endParaRPr b="0" i="0" spc="0" sz="1400" u="none" cap="none" strike="noStrike">
              <a:solidFill>
                <a:srgbClr val="000000"/>
              </a:solidFill>
              <a:latin typeface="Arial"/>
              <a:ea typeface="Arial"/>
              <a:cs typeface="Arial"/>
              <a:sym typeface="Arial"/>
            </a:endParaRPr>
          </a:p>
        </p:txBody>
      </p:sp>
      <p:sp>
        <p:nvSpPr>
          <p:cNvPr id="191" name="Google Shape;191;p8"/>
          <p:cNvSpPr txBox="1"/>
          <p:nvPr/>
        </p:nvSpPr>
        <p:spPr>
          <a:xfrm>
            <a:off x="571500" y="4050791"/>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0EA5E9"/>
                </a:solidFill>
                <a:latin typeface="Inter"/>
                <a:ea typeface="Inter"/>
                <a:cs typeface="Inter"/>
                <a:sym typeface="Inter"/>
              </a:rPr>
              <a:t>→</a:t>
            </a:r>
            <a:endParaRPr b="0" i="0" spc="0" sz="1400" u="none" cap="none" strike="noStrike">
              <a:solidFill>
                <a:srgbClr val="000000"/>
              </a:solidFill>
              <a:latin typeface="Arial"/>
              <a:ea typeface="Arial"/>
              <a:cs typeface="Arial"/>
              <a:sym typeface="Arial"/>
            </a:endParaRPr>
          </a:p>
        </p:txBody>
      </p:sp>
      <p:sp>
        <p:nvSpPr>
          <p:cNvPr id="192" name="Google Shape;192;p8"/>
          <p:cNvSpPr txBox="1"/>
          <p:nvPr/>
        </p:nvSpPr>
        <p:spPr>
          <a:xfrm>
            <a:off x="571500" y="5157216"/>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0EA5E9"/>
                </a:solidFill>
                <a:latin typeface="Inter"/>
                <a:ea typeface="Inter"/>
                <a:cs typeface="Inter"/>
                <a:sym typeface="Inter"/>
              </a:rPr>
              <a:t>→</a:t>
            </a:r>
            <a:endParaRPr b="0" i="0" spc="0" sz="1400" u="none" cap="none" strike="noStrike">
              <a:solidFill>
                <a:srgbClr val="000000"/>
              </a:solidFill>
              <a:latin typeface="Arial"/>
              <a:ea typeface="Arial"/>
              <a:cs typeface="Arial"/>
              <a:sym typeface="Arial"/>
            </a:endParaRPr>
          </a:p>
        </p:txBody>
      </p:sp>
      <p:sp>
        <p:nvSpPr>
          <p:cNvPr id="193" name="Google Shape;193;p8"/>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50"/>
              <a:buFont typeface="Arial"/>
              <a:buNone/>
            </a:pPr>
            <a:r>
              <a:rPr b="0" i="0" lang="en-US" spc="0" sz="3450" u="none" cap="none" strike="noStrike">
                <a:solidFill>
                  <a:srgbClr val="38BDF8"/>
                </a:solidFill>
                <a:latin typeface="Outfit SemiBold"/>
                <a:ea typeface="Outfit SemiBold"/>
                <a:cs typeface="Outfit SemiBold"/>
                <a:sym typeface="Outfit SemiBold"/>
              </a:rPr>
              <a:t>The Generative AI Leap</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97" name="Shape 197"/>
        <p:cNvGrpSpPr/>
        <p:nvPr/>
      </p:nvGrpSpPr>
      <p:grpSpPr>
        <a:xfrm>
          <a:off x="0" y="0"/>
          <a:ext cx="0" cy="0"/>
          <a:chOff x="0" y="0"/>
          <a:chExt cx="0" cy="0"/>
        </a:xfrm>
      </p:grpSpPr>
      <p:pic>
        <p:nvPicPr>
          <p:cNvPr descr="image.png" id="198" name="Google Shape;198;p9"/>
          <p:cNvPicPr preferRelativeResize="0"/>
          <p:nvPr/>
        </p:nvPicPr>
        <p:blipFill rotWithShape="1">
          <a:blip r:embed="rId3">
            <a:alphaModFix/>
          </a:blip>
          <a:srcRect b="0" l="0" r="0" t="0"/>
          <a:stretch/>
        </p:blipFill>
        <p:spPr>
          <a:xfrm>
            <a:off x="0" y="571500"/>
            <a:ext cx="12192000" cy="6858000"/>
          </a:xfrm>
          <a:prstGeom prst="rect">
            <a:avLst/>
          </a:prstGeom>
          <a:noFill/>
          <a:ln>
            <a:noFill/>
          </a:ln>
        </p:spPr>
      </p:pic>
      <p:pic>
        <p:nvPicPr>
          <p:cNvPr descr="image.png" id="199" name="Google Shape;199;p9"/>
          <p:cNvPicPr preferRelativeResize="0"/>
          <p:nvPr/>
        </p:nvPicPr>
        <p:blipFill rotWithShape="1">
          <a:blip r:embed="rId4">
            <a:alphaModFix/>
          </a:blip>
          <a:srcRect b="0" l="0" r="0" t="0"/>
          <a:stretch/>
        </p:blipFill>
        <p:spPr>
          <a:xfrm>
            <a:off x="571500" y="2081212"/>
            <a:ext cx="3492549" cy="3629025"/>
          </a:xfrm>
          <a:prstGeom prst="rect">
            <a:avLst/>
          </a:prstGeom>
          <a:noFill/>
          <a:ln>
            <a:noFill/>
          </a:ln>
        </p:spPr>
      </p:pic>
      <p:pic>
        <p:nvPicPr>
          <p:cNvPr descr="image.png" id="200" name="Google Shape;200;p9"/>
          <p:cNvPicPr preferRelativeResize="0"/>
          <p:nvPr/>
        </p:nvPicPr>
        <p:blipFill rotWithShape="1">
          <a:blip r:embed="rId5">
            <a:alphaModFix/>
          </a:blip>
          <a:srcRect b="0" l="0" r="0" t="0"/>
          <a:stretch/>
        </p:blipFill>
        <p:spPr>
          <a:xfrm>
            <a:off x="4349799" y="2081212"/>
            <a:ext cx="3492549" cy="3629025"/>
          </a:xfrm>
          <a:prstGeom prst="rect">
            <a:avLst/>
          </a:prstGeom>
          <a:noFill/>
          <a:ln>
            <a:noFill/>
          </a:ln>
        </p:spPr>
      </p:pic>
      <p:pic>
        <p:nvPicPr>
          <p:cNvPr descr="image.png" id="201" name="Google Shape;201;p9"/>
          <p:cNvPicPr preferRelativeResize="0"/>
          <p:nvPr/>
        </p:nvPicPr>
        <p:blipFill rotWithShape="1">
          <a:blip r:embed="rId6">
            <a:alphaModFix/>
          </a:blip>
          <a:srcRect b="0" l="0" r="0" t="0"/>
          <a:stretch/>
        </p:blipFill>
        <p:spPr>
          <a:xfrm>
            <a:off x="8128099" y="2081212"/>
            <a:ext cx="3492549" cy="3629025"/>
          </a:xfrm>
          <a:prstGeom prst="rect">
            <a:avLst/>
          </a:prstGeom>
          <a:noFill/>
          <a:ln>
            <a:noFill/>
          </a:ln>
        </p:spPr>
      </p:pic>
      <p:sp>
        <p:nvSpPr>
          <p:cNvPr id="202" name="Google Shape;202;p9"/>
          <p:cNvSpPr txBox="1"/>
          <p:nvPr/>
        </p:nvSpPr>
        <p:spPr>
          <a:xfrm>
            <a:off x="866775" y="3176587"/>
            <a:ext cx="3047100" cy="323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0" i="0" lang="en-US" spc="0" sz="2100" u="none" cap="none" strike="noStrike">
                <a:solidFill>
                  <a:srgbClr val="F1F5F9"/>
                </a:solidFill>
                <a:latin typeface="Outfit Medium"/>
                <a:ea typeface="Outfit Medium"/>
                <a:cs typeface="Outfit Medium"/>
                <a:sym typeface="Outfit Medium"/>
              </a:rPr>
              <a:t>Machine Learning (ML)</a:t>
            </a:r>
            <a:endParaRPr b="0" i="0" spc="0" sz="1400" u="none" cap="none" strike="noStrike">
              <a:solidFill>
                <a:srgbClr val="000000"/>
              </a:solidFill>
              <a:latin typeface="Arial"/>
              <a:ea typeface="Arial"/>
              <a:cs typeface="Arial"/>
              <a:sym typeface="Arial"/>
            </a:endParaRPr>
          </a:p>
        </p:txBody>
      </p:sp>
      <p:sp>
        <p:nvSpPr>
          <p:cNvPr id="203" name="Google Shape;203;p9"/>
          <p:cNvSpPr txBox="1"/>
          <p:nvPr/>
        </p:nvSpPr>
        <p:spPr>
          <a:xfrm>
            <a:off x="866775" y="3652837"/>
            <a:ext cx="2901900" cy="1708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Finds patterns in historical data to make predictions. E.g. predicting which customers will cancel.</a:t>
            </a:r>
            <a:endParaRPr b="0" i="0" spc="0" sz="1400" u="none" cap="none" strike="noStrike">
              <a:solidFill>
                <a:srgbClr val="000000"/>
              </a:solidFill>
              <a:latin typeface="Arial"/>
              <a:ea typeface="Arial"/>
              <a:cs typeface="Arial"/>
              <a:sym typeface="Arial"/>
            </a:endParaRPr>
          </a:p>
        </p:txBody>
      </p:sp>
      <p:sp>
        <p:nvSpPr>
          <p:cNvPr id="204" name="Google Shape;204;p9"/>
          <p:cNvSpPr txBox="1"/>
          <p:nvPr/>
        </p:nvSpPr>
        <p:spPr>
          <a:xfrm>
            <a:off x="4645074" y="3176587"/>
            <a:ext cx="3047100" cy="323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0" i="0" lang="en-US" spc="0" sz="2100" u="none" cap="none" strike="noStrike">
                <a:solidFill>
                  <a:srgbClr val="F1F5F9"/>
                </a:solidFill>
                <a:latin typeface="Outfit Medium"/>
                <a:ea typeface="Outfit Medium"/>
                <a:cs typeface="Outfit Medium"/>
                <a:sym typeface="Outfit Medium"/>
              </a:rPr>
              <a:t>Deep Learning</a:t>
            </a:r>
            <a:endParaRPr b="0" i="0" spc="0" sz="1400" u="none" cap="none" strike="noStrike">
              <a:solidFill>
                <a:srgbClr val="000000"/>
              </a:solidFill>
              <a:latin typeface="Arial"/>
              <a:ea typeface="Arial"/>
              <a:cs typeface="Arial"/>
              <a:sym typeface="Arial"/>
            </a:endParaRPr>
          </a:p>
        </p:txBody>
      </p:sp>
      <p:sp>
        <p:nvSpPr>
          <p:cNvPr id="205" name="Google Shape;205;p9"/>
          <p:cNvSpPr txBox="1"/>
          <p:nvPr/>
        </p:nvSpPr>
        <p:spPr>
          <a:xfrm>
            <a:off x="4645074" y="3652837"/>
            <a:ext cx="2901900" cy="1708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A subset of ML using many-layered neural networks for messy data. E.g. Face ID, speech-to-text.</a:t>
            </a:r>
            <a:endParaRPr b="0" i="0" spc="0" sz="1400" u="none" cap="none" strike="noStrike">
              <a:solidFill>
                <a:srgbClr val="000000"/>
              </a:solidFill>
              <a:latin typeface="Arial"/>
              <a:ea typeface="Arial"/>
              <a:cs typeface="Arial"/>
              <a:sym typeface="Arial"/>
            </a:endParaRPr>
          </a:p>
        </p:txBody>
      </p:sp>
      <p:sp>
        <p:nvSpPr>
          <p:cNvPr id="206" name="Google Shape;206;p9"/>
          <p:cNvSpPr txBox="1"/>
          <p:nvPr/>
        </p:nvSpPr>
        <p:spPr>
          <a:xfrm>
            <a:off x="8423374" y="3176587"/>
            <a:ext cx="3047100" cy="323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0" i="0" lang="en-US" spc="0" sz="2100" u="none" cap="none" strike="noStrike">
                <a:solidFill>
                  <a:srgbClr val="F1F5F9"/>
                </a:solidFill>
                <a:latin typeface="Outfit Medium"/>
                <a:ea typeface="Outfit Medium"/>
                <a:cs typeface="Outfit Medium"/>
                <a:sym typeface="Outfit Medium"/>
              </a:rPr>
              <a:t>Generative AI</a:t>
            </a:r>
            <a:endParaRPr b="0" i="0" spc="0" sz="1400" u="none" cap="none" strike="noStrike">
              <a:solidFill>
                <a:srgbClr val="000000"/>
              </a:solidFill>
              <a:latin typeface="Arial"/>
              <a:ea typeface="Arial"/>
              <a:cs typeface="Arial"/>
              <a:sym typeface="Arial"/>
            </a:endParaRPr>
          </a:p>
        </p:txBody>
      </p:sp>
      <p:sp>
        <p:nvSpPr>
          <p:cNvPr id="207" name="Google Shape;207;p9"/>
          <p:cNvSpPr txBox="1"/>
          <p:nvPr/>
        </p:nvSpPr>
        <p:spPr>
          <a:xfrm>
            <a:off x="8423374" y="3652837"/>
            <a:ext cx="2901900" cy="1708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A subset of deep learning that creates new content from a prompt. E.g. chatbots, image generators.</a:t>
            </a:r>
            <a:endParaRPr b="0" i="0" spc="0" sz="1400" u="none" cap="none" strike="noStrike">
              <a:solidFill>
                <a:srgbClr val="000000"/>
              </a:solidFill>
              <a:latin typeface="Arial"/>
              <a:ea typeface="Arial"/>
              <a:cs typeface="Arial"/>
              <a:sym typeface="Arial"/>
            </a:endParaRPr>
          </a:p>
        </p:txBody>
      </p:sp>
      <p:pic>
        <p:nvPicPr>
          <p:cNvPr descr="image.png" id="208" name="Google Shape;208;p9"/>
          <p:cNvPicPr preferRelativeResize="0"/>
          <p:nvPr/>
        </p:nvPicPr>
        <p:blipFill rotWithShape="1">
          <a:blip r:embed="rId7">
            <a:alphaModFix/>
          </a:blip>
          <a:srcRect b="0" l="0" r="0" t="0"/>
          <a:stretch/>
        </p:blipFill>
        <p:spPr>
          <a:xfrm>
            <a:off x="4645074" y="2509837"/>
            <a:ext cx="381000" cy="381000"/>
          </a:xfrm>
          <a:prstGeom prst="rect">
            <a:avLst/>
          </a:prstGeom>
          <a:noFill/>
          <a:ln>
            <a:noFill/>
          </a:ln>
        </p:spPr>
      </p:pic>
      <p:sp>
        <p:nvSpPr>
          <p:cNvPr id="209" name="Google Shape;209;p9"/>
          <p:cNvSpPr txBox="1"/>
          <p:nvPr/>
        </p:nvSpPr>
        <p:spPr>
          <a:xfrm>
            <a:off x="571500" y="571500"/>
            <a:ext cx="11601600" cy="5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50"/>
              <a:buFont typeface="Arial"/>
              <a:buNone/>
            </a:pPr>
            <a:r>
              <a:rPr b="0" i="0" lang="en-US" spc="0" sz="3450" u="none" cap="none" strike="noStrike">
                <a:solidFill>
                  <a:srgbClr val="38BDF8"/>
                </a:solidFill>
                <a:latin typeface="Outfit SemiBold"/>
                <a:ea typeface="Outfit SemiBold"/>
                <a:cs typeface="Outfit SemiBold"/>
                <a:sym typeface="Outfit SemiBold"/>
              </a:rPr>
              <a:t>Three Pillars of Modern AI</a:t>
            </a:r>
            <a:endParaRPr b="0" i="0" spc="0" sz="1400" u="none" cap="none" strike="noStrike">
              <a:solidFill>
                <a:srgbClr val="000000"/>
              </a:solidFill>
              <a:latin typeface="Arial"/>
              <a:ea typeface="Arial"/>
              <a:cs typeface="Arial"/>
              <a:sym typeface="Arial"/>
            </a:endParaRPr>
          </a:p>
        </p:txBody>
      </p:sp>
      <p:pic>
        <p:nvPicPr>
          <p:cNvPr id="210" name="Google Shape;210;p9"/>
          <p:cNvPicPr preferRelativeResize="0"/>
          <p:nvPr/>
        </p:nvPicPr>
        <p:blipFill rotWithShape="1">
          <a:blip r:embed="rId8">
            <a:alphaModFix/>
          </a:blip>
          <a:srcRect b="0" l="0" r="0" t="0"/>
          <a:stretch/>
        </p:blipFill>
        <p:spPr>
          <a:xfrm>
            <a:off x="8206203" y="2358897"/>
            <a:ext cx="914937" cy="753478"/>
          </a:xfrm>
          <a:prstGeom prst="rect">
            <a:avLst/>
          </a:prstGeom>
          <a:noFill/>
          <a:ln>
            <a:noFill/>
          </a:ln>
        </p:spPr>
      </p:pic>
      <p:pic>
        <p:nvPicPr>
          <p:cNvPr id="211" name="Google Shape;211;p9"/>
          <p:cNvPicPr preferRelativeResize="0"/>
          <p:nvPr/>
        </p:nvPicPr>
        <p:blipFill rotWithShape="1">
          <a:blip r:embed="rId9">
            <a:alphaModFix/>
          </a:blip>
          <a:srcRect b="0" l="0" r="0" t="0"/>
          <a:stretch/>
        </p:blipFill>
        <p:spPr>
          <a:xfrm>
            <a:off x="571352" y="2445625"/>
            <a:ext cx="747568" cy="666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15" name="Shape 215"/>
        <p:cNvGrpSpPr/>
        <p:nvPr/>
      </p:nvGrpSpPr>
      <p:grpSpPr>
        <a:xfrm>
          <a:off x="0" y="0"/>
          <a:ext cx="0" cy="0"/>
          <a:chOff x="0" y="0"/>
          <a:chExt cx="0" cy="0"/>
        </a:xfrm>
      </p:grpSpPr>
      <p:pic>
        <p:nvPicPr>
          <p:cNvPr descr="image.png" id="216" name="Google Shape;216;p1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7" name="Google Shape;217;p10"/>
          <p:cNvPicPr preferRelativeResize="0"/>
          <p:nvPr/>
        </p:nvPicPr>
        <p:blipFill rotWithShape="1">
          <a:blip r:embed="rId4">
            <a:alphaModFix/>
          </a:blip>
          <a:srcRect b="0" l="0" r="0" t="0"/>
          <a:stretch/>
        </p:blipFill>
        <p:spPr>
          <a:xfrm>
            <a:off x="571500" y="2607915"/>
            <a:ext cx="5238750" cy="2575470"/>
          </a:xfrm>
          <a:prstGeom prst="rect">
            <a:avLst/>
          </a:prstGeom>
          <a:noFill/>
          <a:ln>
            <a:noFill/>
          </a:ln>
        </p:spPr>
      </p:pic>
      <p:sp>
        <p:nvSpPr>
          <p:cNvPr id="218" name="Google Shape;218;p10"/>
          <p:cNvSpPr txBox="1"/>
          <p:nvPr/>
        </p:nvSpPr>
        <p:spPr>
          <a:xfrm>
            <a:off x="1057275" y="3093690"/>
            <a:ext cx="4267200" cy="114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0"/>
              <a:buFont typeface="Arial"/>
              <a:buNone/>
            </a:pPr>
            <a:r>
              <a:rPr b="1" i="0" lang="en-US" spc="0" sz="9000" u="none" cap="none" strike="noStrike">
                <a:solidFill>
                  <a:srgbClr val="38BDF8"/>
                </a:solidFill>
                <a:latin typeface="Outfit"/>
                <a:ea typeface="Outfit"/>
                <a:cs typeface="Outfit"/>
                <a:sym typeface="Outfit"/>
              </a:rPr>
              <a:t>91%</a:t>
            </a:r>
            <a:endParaRPr b="0" i="0" spc="0" sz="1400" u="none" cap="none" strike="noStrike">
              <a:solidFill>
                <a:srgbClr val="000000"/>
              </a:solidFill>
              <a:latin typeface="Arial"/>
              <a:ea typeface="Arial"/>
              <a:cs typeface="Arial"/>
              <a:sym typeface="Arial"/>
            </a:endParaRPr>
          </a:p>
        </p:txBody>
      </p:sp>
      <p:sp>
        <p:nvSpPr>
          <p:cNvPr id="219" name="Google Shape;219;p10"/>
          <p:cNvSpPr txBox="1"/>
          <p:nvPr/>
        </p:nvSpPr>
        <p:spPr>
          <a:xfrm>
            <a:off x="1057275" y="4331940"/>
            <a:ext cx="42672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Clr>
                <a:srgbClr val="000000"/>
              </a:buClr>
              <a:buSzPts val="1800"/>
              <a:buFont typeface="Arial"/>
              <a:buNone/>
            </a:pPr>
            <a:r>
              <a:rPr b="0" i="0" lang="en-US" spc="0" sz="1800" u="none" cap="none" strike="noStrike">
                <a:solidFill>
                  <a:srgbClr val="F1F5F9"/>
                </a:solidFill>
                <a:latin typeface="Inter Medium"/>
                <a:ea typeface="Inter Medium"/>
                <a:cs typeface="Inter Medium"/>
                <a:sym typeface="Inter Medium"/>
              </a:rPr>
              <a:t>of businesses use AI</a:t>
            </a:r>
            <a:endParaRPr b="0" i="0" spc="0" sz="1400" u="none" cap="none" strike="noStrike">
              <a:solidFill>
                <a:srgbClr val="000000"/>
              </a:solidFill>
              <a:latin typeface="Arial"/>
              <a:ea typeface="Arial"/>
              <a:cs typeface="Arial"/>
              <a:sym typeface="Arial"/>
            </a:endParaRPr>
          </a:p>
        </p:txBody>
      </p:sp>
      <p:sp>
        <p:nvSpPr>
          <p:cNvPr id="220" name="Google Shape;220;p10"/>
          <p:cNvSpPr txBox="1"/>
          <p:nvPr/>
        </p:nvSpPr>
        <p:spPr>
          <a:xfrm>
            <a:off x="6381750" y="2704951"/>
            <a:ext cx="5500687" cy="38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0" i="0" lang="en-US" spc="0" sz="2400" u="none" cap="none" strike="noStrike">
                <a:solidFill>
                  <a:srgbClr val="F8FAFC"/>
                </a:solidFill>
                <a:latin typeface="Outfit Medium"/>
                <a:ea typeface="Outfit Medium"/>
                <a:cs typeface="Outfit Medium"/>
                <a:sym typeface="Outfit Medium"/>
              </a:rPr>
              <a:t>AI is now the standard.</a:t>
            </a:r>
            <a:endParaRPr b="0" i="0" spc="0" sz="1400" u="none" cap="none" strike="noStrike">
              <a:solidFill>
                <a:srgbClr val="000000"/>
              </a:solidFill>
              <a:latin typeface="Arial"/>
              <a:ea typeface="Arial"/>
              <a:cs typeface="Arial"/>
              <a:sym typeface="Arial"/>
            </a:endParaRPr>
          </a:p>
        </p:txBody>
      </p:sp>
      <p:sp>
        <p:nvSpPr>
          <p:cNvPr id="221" name="Google Shape;221;p10"/>
          <p:cNvSpPr txBox="1"/>
          <p:nvPr/>
        </p:nvSpPr>
        <p:spPr>
          <a:xfrm>
            <a:off x="6381750" y="3276451"/>
            <a:ext cx="52387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91% of businesses use AI in at least one way, and the global AI market has passed $514 billion.</a:t>
            </a:r>
            <a:endParaRPr b="0" i="0" spc="0" sz="1400" u="none" cap="none" strike="noStrike">
              <a:solidFill>
                <a:srgbClr val="000000"/>
              </a:solidFill>
              <a:latin typeface="Arial"/>
              <a:ea typeface="Arial"/>
              <a:cs typeface="Arial"/>
              <a:sym typeface="Arial"/>
            </a:endParaRPr>
          </a:p>
        </p:txBody>
      </p:sp>
      <p:sp>
        <p:nvSpPr>
          <p:cNvPr id="222" name="Google Shape;222;p10"/>
          <p:cNvSpPr txBox="1"/>
          <p:nvPr/>
        </p:nvSpPr>
        <p:spPr>
          <a:xfrm>
            <a:off x="6381750" y="4333726"/>
            <a:ext cx="523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When 9 in 10 businesses do something, it stops being an advantage. It becomes the baseline.</a:t>
            </a:r>
            <a:endParaRPr b="0" i="0" spc="0" sz="1400" u="none" cap="none" strike="noStrike">
              <a:solidFill>
                <a:srgbClr val="000000"/>
              </a:solidFill>
              <a:latin typeface="Arial"/>
              <a:ea typeface="Arial"/>
              <a:cs typeface="Arial"/>
              <a:sym typeface="Arial"/>
            </a:endParaRPr>
          </a:p>
        </p:txBody>
      </p:sp>
      <p:sp>
        <p:nvSpPr>
          <p:cNvPr id="223" name="Google Shape;223;p10"/>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50"/>
              <a:buFont typeface="Arial"/>
              <a:buNone/>
            </a:pPr>
            <a:r>
              <a:rPr b="0" i="0" lang="en-US" spc="0" sz="3450" u="none" cap="none" strike="noStrike">
                <a:solidFill>
                  <a:srgbClr val="38BDF8"/>
                </a:solidFill>
                <a:latin typeface="Outfit SemiBold"/>
                <a:ea typeface="Outfit SemiBold"/>
                <a:cs typeface="Outfit SemiBold"/>
                <a:sym typeface="Outfit SemiBold"/>
              </a:rPr>
              <a:t>The Current Landscape (2026)</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27" name="Shape 227"/>
        <p:cNvGrpSpPr/>
        <p:nvPr/>
      </p:nvGrpSpPr>
      <p:grpSpPr>
        <a:xfrm>
          <a:off x="0" y="0"/>
          <a:ext cx="0" cy="0"/>
          <a:chOff x="0" y="0"/>
          <a:chExt cx="0" cy="0"/>
        </a:xfrm>
      </p:grpSpPr>
      <p:pic>
        <p:nvPicPr>
          <p:cNvPr descr="image.png" id="228" name="Google Shape;228;p1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9" name="Google Shape;229;p11"/>
          <p:cNvSpPr txBox="1"/>
          <p:nvPr/>
        </p:nvSpPr>
        <p:spPr>
          <a:xfrm>
            <a:off x="1069848" y="2206079"/>
            <a:ext cx="100584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800"/>
              <a:buFont typeface="Arial"/>
              <a:buNone/>
            </a:pPr>
            <a:r>
              <a:rPr b="1" i="0" lang="en-US" spc="0" sz="4800" u="none" cap="none" strike="noStrike">
                <a:solidFill>
                  <a:srgbClr val="F8FAFC"/>
                </a:solidFill>
                <a:latin typeface="Outfit"/>
                <a:ea typeface="Outfit"/>
                <a:cs typeface="Outfit"/>
                <a:sym typeface="Outfit"/>
              </a:rPr>
              <a:t>The Question Changed</a:t>
            </a:r>
            <a:endParaRPr b="0" i="0" spc="0" sz="1400" u="none" cap="none" strike="noStrike">
              <a:solidFill>
                <a:srgbClr val="000000"/>
              </a:solidFill>
              <a:latin typeface="Arial"/>
              <a:ea typeface="Arial"/>
              <a:cs typeface="Arial"/>
              <a:sym typeface="Arial"/>
            </a:endParaRPr>
          </a:p>
        </p:txBody>
      </p:sp>
      <p:sp>
        <p:nvSpPr>
          <p:cNvPr id="230" name="Google Shape;230;p11"/>
          <p:cNvSpPr/>
          <p:nvPr/>
        </p:nvSpPr>
        <p:spPr>
          <a:xfrm>
            <a:off x="5619750" y="3453854"/>
            <a:ext cx="952500" cy="3810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sp>
        <p:nvSpPr>
          <p:cNvPr id="231" name="Google Shape;231;p11"/>
          <p:cNvSpPr txBox="1"/>
          <p:nvPr/>
        </p:nvSpPr>
        <p:spPr>
          <a:xfrm>
            <a:off x="2762250" y="3777704"/>
            <a:ext cx="6667500" cy="731341"/>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Clr>
                <a:srgbClr val="000000"/>
              </a:buClr>
              <a:buSzPts val="1800"/>
              <a:buFont typeface="Arial"/>
              <a:buNone/>
            </a:pPr>
            <a:r>
              <a:rPr b="0" i="0" lang="en-US" spc="0" sz="1800" u="none" cap="none" strike="noStrike">
                <a:solidFill>
                  <a:srgbClr val="CBD5E1"/>
                </a:solidFill>
                <a:latin typeface="Inter"/>
                <a:ea typeface="Inter"/>
                <a:cs typeface="Inter"/>
                <a:sym typeface="Inter"/>
              </a:rPr>
              <a:t>Then: “Should we adopt AI?”  Now: “How do we measure ROI and scale it?”  Discuss in groups of three for 90 seconds.</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35" name="Shape 235"/>
        <p:cNvGrpSpPr/>
        <p:nvPr/>
      </p:nvGrpSpPr>
      <p:grpSpPr>
        <a:xfrm>
          <a:off x="0" y="0"/>
          <a:ext cx="0" cy="0"/>
          <a:chOff x="0" y="0"/>
          <a:chExt cx="0" cy="0"/>
        </a:xfrm>
      </p:grpSpPr>
      <p:pic>
        <p:nvPicPr>
          <p:cNvPr descr="image.png" id="236" name="Google Shape;236;p1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7" name="Google Shape;237;p12"/>
          <p:cNvSpPr txBox="1"/>
          <p:nvPr/>
        </p:nvSpPr>
        <p:spPr>
          <a:xfrm>
            <a:off x="857250" y="1691640"/>
            <a:ext cx="1024128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F8FAFC"/>
                </a:solidFill>
                <a:latin typeface="Inter"/>
                <a:ea typeface="Inter"/>
                <a:cs typeface="Inter"/>
                <a:sym typeface="Inter"/>
              </a:rPr>
              <a:t>Everyone has it:</a:t>
            </a:r>
            <a:r>
              <a:rPr b="0" i="0" lang="en-US" spc="0" sz="1500" u="none" cap="none" strike="noStrike">
                <a:solidFill>
                  <a:srgbClr val="94A3B8"/>
                </a:solidFill>
                <a:latin typeface="Inter"/>
                <a:ea typeface="Inter"/>
                <a:cs typeface="Inter"/>
                <a:sym typeface="Inter"/>
              </a:rPr>
              <a:t> Using AI isn’t special anymore. Getting results from it is.</a:t>
            </a:r>
            <a:endParaRPr b="0" i="0" spc="0" sz="1400" u="none" cap="none" strike="noStrike">
              <a:solidFill>
                <a:srgbClr val="000000"/>
              </a:solidFill>
              <a:latin typeface="Arial"/>
              <a:ea typeface="Arial"/>
              <a:cs typeface="Arial"/>
              <a:sym typeface="Arial"/>
            </a:endParaRPr>
          </a:p>
        </p:txBody>
      </p:sp>
      <p:sp>
        <p:nvSpPr>
          <p:cNvPr id="238" name="Google Shape;238;p12"/>
          <p:cNvSpPr txBox="1"/>
          <p:nvPr/>
        </p:nvSpPr>
        <p:spPr>
          <a:xfrm>
            <a:off x="857250" y="2560320"/>
            <a:ext cx="1024128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F8FAFC"/>
                </a:solidFill>
                <a:latin typeface="Inter"/>
                <a:ea typeface="Inter"/>
                <a:cs typeface="Inter"/>
                <a:sym typeface="Inter"/>
              </a:rPr>
              <a:t>Pilots stalled:</a:t>
            </a:r>
            <a:r>
              <a:rPr b="0" i="0" lang="en-US" spc="0" sz="1500" u="none" cap="none" strike="noStrike">
                <a:solidFill>
                  <a:srgbClr val="94A3B8"/>
                </a:solidFill>
                <a:latin typeface="Inter"/>
                <a:ea typeface="Inter"/>
                <a:cs typeface="Inter"/>
                <a:sym typeface="Inter"/>
              </a:rPr>
              <a:t> Many AI trials never got past the demo, so bosses want proof.</a:t>
            </a:r>
            <a:endParaRPr b="0" i="0" spc="0" sz="1400" u="none" cap="none" strike="noStrike">
              <a:solidFill>
                <a:srgbClr val="000000"/>
              </a:solidFill>
              <a:latin typeface="Arial"/>
              <a:ea typeface="Arial"/>
              <a:cs typeface="Arial"/>
              <a:sym typeface="Arial"/>
            </a:endParaRPr>
          </a:p>
        </p:txBody>
      </p:sp>
      <p:sp>
        <p:nvSpPr>
          <p:cNvPr id="239" name="Google Shape;239;p12"/>
          <p:cNvSpPr txBox="1"/>
          <p:nvPr/>
        </p:nvSpPr>
        <p:spPr>
          <a:xfrm>
            <a:off x="857250" y="3429000"/>
            <a:ext cx="1024128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F8FAFC"/>
                </a:solidFill>
                <a:latin typeface="Inter"/>
                <a:ea typeface="Inter"/>
                <a:cs typeface="Inter"/>
                <a:sym typeface="Inter"/>
              </a:rPr>
              <a:t>It costs real money:</a:t>
            </a:r>
            <a:r>
              <a:rPr b="0" i="0" lang="en-US" spc="0" sz="1500" u="none" cap="none" strike="noStrike">
                <a:solidFill>
                  <a:srgbClr val="94A3B8"/>
                </a:solidFill>
                <a:latin typeface="Inter"/>
                <a:ea typeface="Inter"/>
                <a:cs typeface="Inter"/>
                <a:sym typeface="Inter"/>
              </a:rPr>
              <a:t> Computing power, licences, skilled people and data clean-up.</a:t>
            </a:r>
            <a:endParaRPr b="0" i="0" spc="0" sz="1400" u="none" cap="none" strike="noStrike">
              <a:solidFill>
                <a:srgbClr val="000000"/>
              </a:solidFill>
              <a:latin typeface="Arial"/>
              <a:ea typeface="Arial"/>
              <a:cs typeface="Arial"/>
              <a:sym typeface="Arial"/>
            </a:endParaRPr>
          </a:p>
        </p:txBody>
      </p:sp>
      <p:sp>
        <p:nvSpPr>
          <p:cNvPr id="240" name="Google Shape;240;p12"/>
          <p:cNvSpPr txBox="1"/>
          <p:nvPr/>
        </p:nvSpPr>
        <p:spPr>
          <a:xfrm>
            <a:off x="857250" y="4297680"/>
            <a:ext cx="1024128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F8FAFC"/>
                </a:solidFill>
                <a:latin typeface="Inter"/>
                <a:ea typeface="Inter"/>
                <a:cs typeface="Inter"/>
                <a:sym typeface="Inter"/>
              </a:rPr>
              <a:t>Scaling is hard:</a:t>
            </a:r>
            <a:r>
              <a:rPr b="0" i="0" lang="en-US" spc="0" sz="1500" u="none" cap="none" strike="noStrike">
                <a:solidFill>
                  <a:srgbClr val="94A3B8"/>
                </a:solidFill>
                <a:latin typeface="Inter"/>
                <a:ea typeface="Inter"/>
                <a:cs typeface="Inter"/>
                <a:sym typeface="Inter"/>
              </a:rPr>
              <a:t> A demo takes an afternoon. Rolling AI out company-wide takes months.</a:t>
            </a:r>
            <a:endParaRPr b="0" i="0" spc="0" sz="1400" u="none" cap="none" strike="noStrike">
              <a:solidFill>
                <a:srgbClr val="000000"/>
              </a:solidFill>
              <a:latin typeface="Arial"/>
              <a:ea typeface="Arial"/>
              <a:cs typeface="Arial"/>
              <a:sym typeface="Arial"/>
            </a:endParaRPr>
          </a:p>
        </p:txBody>
      </p:sp>
      <p:sp>
        <p:nvSpPr>
          <p:cNvPr id="241" name="Google Shape;241;p12"/>
          <p:cNvSpPr txBox="1"/>
          <p:nvPr/>
        </p:nvSpPr>
        <p:spPr>
          <a:xfrm>
            <a:off x="857250" y="5166360"/>
            <a:ext cx="1024128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F8FAFC"/>
                </a:solidFill>
                <a:latin typeface="Inter"/>
                <a:ea typeface="Inter"/>
                <a:cs typeface="Inter"/>
                <a:sym typeface="Inter"/>
              </a:rPr>
              <a:t>Risk:</a:t>
            </a:r>
            <a:r>
              <a:rPr b="0" i="0" lang="en-US" spc="0" sz="1500" u="none" cap="none" strike="noStrike">
                <a:solidFill>
                  <a:srgbClr val="94A3B8"/>
                </a:solidFill>
                <a:latin typeface="Inter"/>
                <a:ea typeface="Inter"/>
                <a:cs typeface="Inter"/>
                <a:sym typeface="Inter"/>
              </a:rPr>
              <a:t> Mistakes, privacy and regulation all need rules to scale safely.</a:t>
            </a:r>
            <a:endParaRPr b="0" i="0" spc="0" sz="1400" u="none" cap="none" strike="noStrike">
              <a:solidFill>
                <a:srgbClr val="000000"/>
              </a:solidFill>
              <a:latin typeface="Arial"/>
              <a:ea typeface="Arial"/>
              <a:cs typeface="Arial"/>
              <a:sym typeface="Arial"/>
            </a:endParaRPr>
          </a:p>
        </p:txBody>
      </p:sp>
      <p:sp>
        <p:nvSpPr>
          <p:cNvPr id="242" name="Google Shape;242;p12"/>
          <p:cNvSpPr txBox="1"/>
          <p:nvPr/>
        </p:nvSpPr>
        <p:spPr>
          <a:xfrm>
            <a:off x="571500" y="169164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0EA5E9"/>
                </a:solidFill>
                <a:latin typeface="Inter"/>
                <a:ea typeface="Inter"/>
                <a:cs typeface="Inter"/>
                <a:sym typeface="Inter"/>
              </a:rPr>
              <a:t>→</a:t>
            </a:r>
            <a:endParaRPr b="0" i="0" spc="0" sz="1400" u="none" cap="none" strike="noStrike">
              <a:solidFill>
                <a:srgbClr val="000000"/>
              </a:solidFill>
              <a:latin typeface="Arial"/>
              <a:ea typeface="Arial"/>
              <a:cs typeface="Arial"/>
              <a:sym typeface="Arial"/>
            </a:endParaRPr>
          </a:p>
        </p:txBody>
      </p:sp>
      <p:sp>
        <p:nvSpPr>
          <p:cNvPr id="243" name="Google Shape;243;p12"/>
          <p:cNvSpPr txBox="1"/>
          <p:nvPr/>
        </p:nvSpPr>
        <p:spPr>
          <a:xfrm>
            <a:off x="571500" y="256032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0EA5E9"/>
                </a:solidFill>
                <a:latin typeface="Inter"/>
                <a:ea typeface="Inter"/>
                <a:cs typeface="Inter"/>
                <a:sym typeface="Inter"/>
              </a:rPr>
              <a:t>→</a:t>
            </a:r>
            <a:endParaRPr b="0" i="0" spc="0" sz="1400" u="none" cap="none" strike="noStrike">
              <a:solidFill>
                <a:srgbClr val="000000"/>
              </a:solidFill>
              <a:latin typeface="Arial"/>
              <a:ea typeface="Arial"/>
              <a:cs typeface="Arial"/>
              <a:sym typeface="Arial"/>
            </a:endParaRPr>
          </a:p>
        </p:txBody>
      </p:sp>
      <p:sp>
        <p:nvSpPr>
          <p:cNvPr id="244" name="Google Shape;244;p12"/>
          <p:cNvSpPr txBox="1"/>
          <p:nvPr/>
        </p:nvSpPr>
        <p:spPr>
          <a:xfrm>
            <a:off x="571500" y="342900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0EA5E9"/>
                </a:solidFill>
                <a:latin typeface="Inter"/>
                <a:ea typeface="Inter"/>
                <a:cs typeface="Inter"/>
                <a:sym typeface="Inter"/>
              </a:rPr>
              <a:t>→</a:t>
            </a:r>
            <a:endParaRPr b="0" i="0" spc="0" sz="1400" u="none" cap="none" strike="noStrike">
              <a:solidFill>
                <a:srgbClr val="000000"/>
              </a:solidFill>
              <a:latin typeface="Arial"/>
              <a:ea typeface="Arial"/>
              <a:cs typeface="Arial"/>
              <a:sym typeface="Arial"/>
            </a:endParaRPr>
          </a:p>
        </p:txBody>
      </p:sp>
      <p:sp>
        <p:nvSpPr>
          <p:cNvPr id="245" name="Google Shape;245;p12"/>
          <p:cNvSpPr txBox="1"/>
          <p:nvPr/>
        </p:nvSpPr>
        <p:spPr>
          <a:xfrm>
            <a:off x="571500" y="429768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0EA5E9"/>
                </a:solidFill>
                <a:latin typeface="Inter"/>
                <a:ea typeface="Inter"/>
                <a:cs typeface="Inter"/>
                <a:sym typeface="Inter"/>
              </a:rPr>
              <a:t>→</a:t>
            </a:r>
            <a:endParaRPr b="0" i="0" spc="0" sz="1400" u="none" cap="none" strike="noStrike">
              <a:solidFill>
                <a:srgbClr val="000000"/>
              </a:solidFill>
              <a:latin typeface="Arial"/>
              <a:ea typeface="Arial"/>
              <a:cs typeface="Arial"/>
              <a:sym typeface="Arial"/>
            </a:endParaRPr>
          </a:p>
        </p:txBody>
      </p:sp>
      <p:sp>
        <p:nvSpPr>
          <p:cNvPr id="246" name="Google Shape;246;p12"/>
          <p:cNvSpPr txBox="1"/>
          <p:nvPr/>
        </p:nvSpPr>
        <p:spPr>
          <a:xfrm>
            <a:off x="571500" y="516636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0EA5E9"/>
                </a:solidFill>
                <a:latin typeface="Inter"/>
                <a:ea typeface="Inter"/>
                <a:cs typeface="Inter"/>
                <a:sym typeface="Inter"/>
              </a:rPr>
              <a:t>→</a:t>
            </a:r>
            <a:endParaRPr b="0" i="0" spc="0" sz="1400" u="none" cap="none" strike="noStrike">
              <a:solidFill>
                <a:srgbClr val="000000"/>
              </a:solidFill>
              <a:latin typeface="Arial"/>
              <a:ea typeface="Arial"/>
              <a:cs typeface="Arial"/>
              <a:sym typeface="Arial"/>
            </a:endParaRPr>
          </a:p>
        </p:txBody>
      </p:sp>
      <p:sp>
        <p:nvSpPr>
          <p:cNvPr id="247" name="Google Shape;247;p12"/>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50"/>
              <a:buFont typeface="Arial"/>
              <a:buNone/>
            </a:pPr>
            <a:r>
              <a:rPr b="0" i="0" lang="en-US" spc="0" sz="3450" u="none" cap="none" strike="noStrike">
                <a:solidFill>
                  <a:srgbClr val="38BDF8"/>
                </a:solidFill>
                <a:latin typeface="Outfit SemiBold"/>
                <a:ea typeface="Outfit SemiBold"/>
                <a:cs typeface="Outfit SemiBold"/>
                <a:sym typeface="Outfit SemiBold"/>
              </a:rPr>
              <a:t>Why the Question Changed</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51" name="Shape 251"/>
        <p:cNvGrpSpPr/>
        <p:nvPr/>
      </p:nvGrpSpPr>
      <p:grpSpPr>
        <a:xfrm>
          <a:off x="0" y="0"/>
          <a:ext cx="0" cy="0"/>
          <a:chOff x="0" y="0"/>
          <a:chExt cx="0" cy="0"/>
        </a:xfrm>
      </p:grpSpPr>
      <p:pic>
        <p:nvPicPr>
          <p:cNvPr descr="image.png" id="252" name="Google Shape;252;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3" name="Google Shape;253;p13"/>
          <p:cNvSpPr txBox="1"/>
          <p:nvPr/>
        </p:nvSpPr>
        <p:spPr>
          <a:xfrm>
            <a:off x="857250" y="1837943"/>
            <a:ext cx="1024128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F8FAFC"/>
                </a:solidFill>
                <a:latin typeface="Inter"/>
                <a:ea typeface="Inter"/>
                <a:cs typeface="Inter"/>
                <a:sym typeface="Inter"/>
              </a:rPr>
              <a:t>AI is a loop:</a:t>
            </a:r>
            <a:r>
              <a:rPr b="0" i="0" lang="en-US" spc="0" sz="1500" u="none" cap="none" strike="noStrike">
                <a:solidFill>
                  <a:srgbClr val="94A3B8"/>
                </a:solidFill>
                <a:latin typeface="Inter"/>
                <a:ea typeface="Inter"/>
                <a:cs typeface="Inter"/>
                <a:sym typeface="Inter"/>
              </a:rPr>
              <a:t> Sense, comprehend, act, learn.</a:t>
            </a:r>
            <a:endParaRPr b="0" i="0" spc="0" sz="1400" u="none" cap="none" strike="noStrike">
              <a:solidFill>
                <a:srgbClr val="000000"/>
              </a:solidFill>
              <a:latin typeface="Arial"/>
              <a:ea typeface="Arial"/>
              <a:cs typeface="Arial"/>
              <a:sym typeface="Arial"/>
            </a:endParaRPr>
          </a:p>
        </p:txBody>
      </p:sp>
      <p:sp>
        <p:nvSpPr>
          <p:cNvPr id="254" name="Google Shape;254;p13"/>
          <p:cNvSpPr txBox="1"/>
          <p:nvPr/>
        </p:nvSpPr>
        <p:spPr>
          <a:xfrm>
            <a:off x="857250" y="2944368"/>
            <a:ext cx="1024128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F8FAFC"/>
                </a:solidFill>
                <a:latin typeface="Inter"/>
                <a:ea typeface="Inter"/>
                <a:cs typeface="Inter"/>
                <a:sym typeface="Inter"/>
              </a:rPr>
              <a:t>It evolved:</a:t>
            </a:r>
            <a:r>
              <a:rPr b="0" i="0" lang="en-US" spc="0" sz="1500" u="none" cap="none" strike="noStrike">
                <a:solidFill>
                  <a:srgbClr val="94A3B8"/>
                </a:solidFill>
                <a:latin typeface="Inter"/>
                <a:ea typeface="Inter"/>
                <a:cs typeface="Inter"/>
                <a:sym typeface="Inter"/>
              </a:rPr>
              <a:t> From humans writing rules, to machines learning patterns, to machines creating content.</a:t>
            </a:r>
            <a:endParaRPr b="0" i="0" spc="0" sz="1400" u="none" cap="none" strike="noStrike">
              <a:solidFill>
                <a:srgbClr val="000000"/>
              </a:solidFill>
              <a:latin typeface="Arial"/>
              <a:ea typeface="Arial"/>
              <a:cs typeface="Arial"/>
              <a:sym typeface="Arial"/>
            </a:endParaRPr>
          </a:p>
        </p:txBody>
      </p:sp>
      <p:sp>
        <p:nvSpPr>
          <p:cNvPr id="255" name="Google Shape;255;p13"/>
          <p:cNvSpPr txBox="1"/>
          <p:nvPr/>
        </p:nvSpPr>
        <p:spPr>
          <a:xfrm>
            <a:off x="857250" y="4050791"/>
            <a:ext cx="1024128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F8FAFC"/>
                </a:solidFill>
                <a:latin typeface="Inter"/>
                <a:ea typeface="Inter"/>
                <a:cs typeface="Inter"/>
                <a:sym typeface="Inter"/>
              </a:rPr>
              <a:t>Three pillars:</a:t>
            </a:r>
            <a:r>
              <a:rPr b="0" i="0" lang="en-US" spc="0" sz="1500" u="none" cap="none" strike="noStrike">
                <a:solidFill>
                  <a:srgbClr val="94A3B8"/>
                </a:solidFill>
                <a:latin typeface="Inter"/>
                <a:ea typeface="Inter"/>
                <a:cs typeface="Inter"/>
                <a:sym typeface="Inter"/>
              </a:rPr>
              <a:t> Machine learning, deep learning and generative AI, each one a subset of the last.</a:t>
            </a:r>
            <a:endParaRPr b="0" i="0" spc="0" sz="1400" u="none" cap="none" strike="noStrike">
              <a:solidFill>
                <a:srgbClr val="000000"/>
              </a:solidFill>
              <a:latin typeface="Arial"/>
              <a:ea typeface="Arial"/>
              <a:cs typeface="Arial"/>
              <a:sym typeface="Arial"/>
            </a:endParaRPr>
          </a:p>
        </p:txBody>
      </p:sp>
      <p:sp>
        <p:nvSpPr>
          <p:cNvPr id="256" name="Google Shape;256;p13"/>
          <p:cNvSpPr txBox="1"/>
          <p:nvPr/>
        </p:nvSpPr>
        <p:spPr>
          <a:xfrm>
            <a:off x="857250" y="5157216"/>
            <a:ext cx="1024128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F8FAFC"/>
                </a:solidFill>
                <a:latin typeface="Inter"/>
                <a:ea typeface="Inter"/>
                <a:cs typeface="Inter"/>
                <a:sym typeface="Inter"/>
              </a:rPr>
              <a:t>Business moved on:</a:t>
            </a:r>
            <a:r>
              <a:rPr b="0" i="0" lang="en-US" spc="0" sz="1500" u="none" cap="none" strike="noStrike">
                <a:solidFill>
                  <a:srgbClr val="94A3B8"/>
                </a:solidFill>
                <a:latin typeface="Inter"/>
                <a:ea typeface="Inter"/>
                <a:cs typeface="Inter"/>
                <a:sym typeface="Inter"/>
              </a:rPr>
              <a:t> From “should we adopt AI?” to “is it paying off, and how do we scale it?”</a:t>
            </a:r>
            <a:endParaRPr b="0" i="0" spc="0" sz="1400" u="none" cap="none" strike="noStrike">
              <a:solidFill>
                <a:srgbClr val="000000"/>
              </a:solidFill>
              <a:latin typeface="Arial"/>
              <a:ea typeface="Arial"/>
              <a:cs typeface="Arial"/>
              <a:sym typeface="Arial"/>
            </a:endParaRPr>
          </a:p>
        </p:txBody>
      </p:sp>
      <p:sp>
        <p:nvSpPr>
          <p:cNvPr id="257" name="Google Shape;257;p13"/>
          <p:cNvSpPr txBox="1"/>
          <p:nvPr/>
        </p:nvSpPr>
        <p:spPr>
          <a:xfrm>
            <a:off x="571500" y="1837943"/>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0EA5E9"/>
                </a:solidFill>
                <a:latin typeface="Inter"/>
                <a:ea typeface="Inter"/>
                <a:cs typeface="Inter"/>
                <a:sym typeface="Inter"/>
              </a:rPr>
              <a:t>→</a:t>
            </a:r>
            <a:endParaRPr b="0" i="0" spc="0" sz="1400" u="none" cap="none" strike="noStrike">
              <a:solidFill>
                <a:srgbClr val="000000"/>
              </a:solidFill>
              <a:latin typeface="Arial"/>
              <a:ea typeface="Arial"/>
              <a:cs typeface="Arial"/>
              <a:sym typeface="Arial"/>
            </a:endParaRPr>
          </a:p>
        </p:txBody>
      </p:sp>
      <p:sp>
        <p:nvSpPr>
          <p:cNvPr id="258" name="Google Shape;258;p13"/>
          <p:cNvSpPr txBox="1"/>
          <p:nvPr/>
        </p:nvSpPr>
        <p:spPr>
          <a:xfrm>
            <a:off x="571500" y="2944368"/>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0EA5E9"/>
                </a:solidFill>
                <a:latin typeface="Inter"/>
                <a:ea typeface="Inter"/>
                <a:cs typeface="Inter"/>
                <a:sym typeface="Inter"/>
              </a:rPr>
              <a:t>→</a:t>
            </a:r>
            <a:endParaRPr b="0" i="0" spc="0" sz="1400" u="none" cap="none" strike="noStrike">
              <a:solidFill>
                <a:srgbClr val="000000"/>
              </a:solidFill>
              <a:latin typeface="Arial"/>
              <a:ea typeface="Arial"/>
              <a:cs typeface="Arial"/>
              <a:sym typeface="Arial"/>
            </a:endParaRPr>
          </a:p>
        </p:txBody>
      </p:sp>
      <p:sp>
        <p:nvSpPr>
          <p:cNvPr id="259" name="Google Shape;259;p13"/>
          <p:cNvSpPr txBox="1"/>
          <p:nvPr/>
        </p:nvSpPr>
        <p:spPr>
          <a:xfrm>
            <a:off x="571500" y="4050791"/>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0EA5E9"/>
                </a:solidFill>
                <a:latin typeface="Inter"/>
                <a:ea typeface="Inter"/>
                <a:cs typeface="Inter"/>
                <a:sym typeface="Inter"/>
              </a:rPr>
              <a:t>→</a:t>
            </a:r>
            <a:endParaRPr b="0" i="0" spc="0" sz="1400" u="none" cap="none" strike="noStrike">
              <a:solidFill>
                <a:srgbClr val="000000"/>
              </a:solidFill>
              <a:latin typeface="Arial"/>
              <a:ea typeface="Arial"/>
              <a:cs typeface="Arial"/>
              <a:sym typeface="Arial"/>
            </a:endParaRPr>
          </a:p>
        </p:txBody>
      </p:sp>
      <p:sp>
        <p:nvSpPr>
          <p:cNvPr id="260" name="Google Shape;260;p13"/>
          <p:cNvSpPr txBox="1"/>
          <p:nvPr/>
        </p:nvSpPr>
        <p:spPr>
          <a:xfrm>
            <a:off x="571500" y="5157216"/>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pc="0" sz="1500" u="none" cap="none" strike="noStrike">
                <a:solidFill>
                  <a:srgbClr val="0EA5E9"/>
                </a:solidFill>
                <a:latin typeface="Inter"/>
                <a:ea typeface="Inter"/>
                <a:cs typeface="Inter"/>
                <a:sym typeface="Inter"/>
              </a:rPr>
              <a:t>→</a:t>
            </a:r>
            <a:endParaRPr b="0" i="0" spc="0" sz="1400" u="none" cap="none" strike="noStrike">
              <a:solidFill>
                <a:srgbClr val="000000"/>
              </a:solidFill>
              <a:latin typeface="Arial"/>
              <a:ea typeface="Arial"/>
              <a:cs typeface="Arial"/>
              <a:sym typeface="Arial"/>
            </a:endParaRPr>
          </a:p>
        </p:txBody>
      </p:sp>
      <p:sp>
        <p:nvSpPr>
          <p:cNvPr id="261" name="Google Shape;261;p13"/>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50"/>
              <a:buFont typeface="Arial"/>
              <a:buNone/>
            </a:pPr>
            <a:r>
              <a:rPr b="0" i="0" lang="en-US" spc="0" sz="3450" u="none" cap="none" strike="noStrike">
                <a:solidFill>
                  <a:srgbClr val="38BDF8"/>
                </a:solidFill>
                <a:latin typeface="Outfit SemiBold"/>
                <a:ea typeface="Outfit SemiBold"/>
                <a:cs typeface="Outfit SemiBold"/>
                <a:sym typeface="Outfit SemiBold"/>
              </a:rPr>
              <a:t>Four Things to Remember</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65" name="Shape 265"/>
        <p:cNvGrpSpPr/>
        <p:nvPr/>
      </p:nvGrpSpPr>
      <p:grpSpPr>
        <a:xfrm>
          <a:off x="0" y="0"/>
          <a:ext cx="0" cy="0"/>
          <a:chOff x="0" y="0"/>
          <a:chExt cx="0" cy="0"/>
        </a:xfrm>
      </p:grpSpPr>
      <p:pic>
        <p:nvPicPr>
          <p:cNvPr descr="image.png" id="266" name="Google Shape;266;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7" name="Google Shape;267;p14"/>
          <p:cNvSpPr txBox="1"/>
          <p:nvPr/>
        </p:nvSpPr>
        <p:spPr>
          <a:xfrm>
            <a:off x="1915477" y="2206079"/>
            <a:ext cx="8361045" cy="77152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800"/>
              <a:buFont typeface="Arial"/>
              <a:buNone/>
            </a:pPr>
            <a:r>
              <a:rPr b="1" i="0" lang="en-US" spc="0" sz="4800" u="none" cap="none" strike="noStrike">
                <a:solidFill>
                  <a:srgbClr val="F8FAFC"/>
                </a:solidFill>
                <a:latin typeface="Outfit"/>
                <a:ea typeface="Outfit"/>
                <a:cs typeface="Outfit"/>
                <a:sym typeface="Outfit"/>
              </a:rPr>
              <a:t>Part 2: Workflow Automation</a:t>
            </a:r>
            <a:endParaRPr b="0" i="0" spc="0" sz="1400" u="none" cap="none" strike="noStrike">
              <a:solidFill>
                <a:srgbClr val="000000"/>
              </a:solidFill>
              <a:latin typeface="Arial"/>
              <a:ea typeface="Arial"/>
              <a:cs typeface="Arial"/>
              <a:sym typeface="Arial"/>
            </a:endParaRPr>
          </a:p>
        </p:txBody>
      </p:sp>
      <p:sp>
        <p:nvSpPr>
          <p:cNvPr id="268" name="Google Shape;268;p14"/>
          <p:cNvSpPr/>
          <p:nvPr/>
        </p:nvSpPr>
        <p:spPr>
          <a:xfrm>
            <a:off x="5619750" y="3453854"/>
            <a:ext cx="952500" cy="3810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sp>
        <p:nvSpPr>
          <p:cNvPr id="269" name="Google Shape;269;p14"/>
          <p:cNvSpPr txBox="1"/>
          <p:nvPr/>
        </p:nvSpPr>
        <p:spPr>
          <a:xfrm>
            <a:off x="2762250" y="3777704"/>
            <a:ext cx="6667500" cy="731341"/>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Clr>
                <a:srgbClr val="000000"/>
              </a:buClr>
              <a:buSzPts val="1800"/>
              <a:buFont typeface="Arial"/>
              <a:buNone/>
            </a:pPr>
            <a:r>
              <a:rPr b="0" i="0" lang="en-US" spc="0" sz="1800" u="none" cap="none" strike="noStrike">
                <a:solidFill>
                  <a:srgbClr val="CBD5E1"/>
                </a:solidFill>
                <a:latin typeface="Inter"/>
                <a:ea typeface="Inter"/>
                <a:cs typeface="Inter"/>
                <a:sym typeface="Inter"/>
              </a:rPr>
              <a:t>Moving from manual, repetitive tasks to seamless, automated execution.</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73" name="Shape 273"/>
        <p:cNvGrpSpPr/>
        <p:nvPr/>
      </p:nvGrpSpPr>
      <p:grpSpPr>
        <a:xfrm>
          <a:off x="0" y="0"/>
          <a:ext cx="0" cy="0"/>
          <a:chOff x="0" y="0"/>
          <a:chExt cx="0" cy="0"/>
        </a:xfrm>
      </p:grpSpPr>
      <p:pic>
        <p:nvPicPr>
          <p:cNvPr descr="image.png" id="274" name="Google Shape;274;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5" name="Google Shape;275;p15"/>
          <p:cNvSpPr txBox="1"/>
          <p:nvPr/>
        </p:nvSpPr>
        <p:spPr>
          <a:xfrm>
            <a:off x="762000" y="762000"/>
            <a:ext cx="5350668" cy="110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50"/>
              <a:buFont typeface="Arial"/>
              <a:buNone/>
            </a:pPr>
            <a:r>
              <a:rPr b="0" i="0" lang="en-US" spc="0" sz="3450" u="none" cap="none" strike="noStrike">
                <a:solidFill>
                  <a:srgbClr val="38BDF8"/>
                </a:solidFill>
                <a:latin typeface="Outfit SemiBold"/>
                <a:ea typeface="Outfit SemiBold"/>
                <a:cs typeface="Outfit SemiBold"/>
                <a:sym typeface="Outfit SemiBold"/>
              </a:rPr>
              <a:t>What is Workflow Automation?</a:t>
            </a:r>
            <a:endParaRPr b="0" i="0" spc="0" sz="1400" u="none" cap="none" strike="noStrike">
              <a:solidFill>
                <a:srgbClr val="000000"/>
              </a:solidFill>
              <a:latin typeface="Arial"/>
              <a:ea typeface="Arial"/>
              <a:cs typeface="Arial"/>
              <a:sym typeface="Arial"/>
            </a:endParaRPr>
          </a:p>
        </p:txBody>
      </p:sp>
      <p:pic>
        <p:nvPicPr>
          <p:cNvPr descr="image.png" id="276" name="Google Shape;276;p15"/>
          <p:cNvPicPr preferRelativeResize="0"/>
          <p:nvPr/>
        </p:nvPicPr>
        <p:blipFill rotWithShape="1">
          <a:blip r:embed="rId4">
            <a:alphaModFix/>
          </a:blip>
          <a:srcRect b="0" l="0" r="0" t="0"/>
          <a:stretch/>
        </p:blipFill>
        <p:spPr>
          <a:xfrm>
            <a:off x="6334125" y="0"/>
            <a:ext cx="5857875" cy="6858000"/>
          </a:xfrm>
          <a:prstGeom prst="rect">
            <a:avLst/>
          </a:prstGeom>
          <a:noFill/>
          <a:ln>
            <a:noFill/>
          </a:ln>
        </p:spPr>
      </p:pic>
      <p:sp>
        <p:nvSpPr>
          <p:cNvPr id="277" name="Google Shape;277;p15"/>
          <p:cNvSpPr txBox="1"/>
          <p:nvPr/>
        </p:nvSpPr>
        <p:spPr>
          <a:xfrm>
            <a:off x="762000" y="2947987"/>
            <a:ext cx="5350668" cy="3333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0" i="0" lang="en-US" spc="0" sz="2100" u="none" cap="none" strike="noStrike">
                <a:solidFill>
                  <a:srgbClr val="F8FAFC"/>
                </a:solidFill>
                <a:latin typeface="Outfit Medium"/>
                <a:ea typeface="Outfit Medium"/>
                <a:cs typeface="Outfit Medium"/>
                <a:sym typeface="Outfit Medium"/>
              </a:rPr>
              <a:t>Beyond Basic Task Execution</a:t>
            </a:r>
            <a:endParaRPr b="0" i="0" spc="0" sz="1400" u="none" cap="none" strike="noStrike">
              <a:solidFill>
                <a:srgbClr val="000000"/>
              </a:solidFill>
              <a:latin typeface="Arial"/>
              <a:ea typeface="Arial"/>
              <a:cs typeface="Arial"/>
              <a:sym typeface="Arial"/>
            </a:endParaRPr>
          </a:p>
        </p:txBody>
      </p:sp>
      <p:sp>
        <p:nvSpPr>
          <p:cNvPr id="278" name="Google Shape;278;p15"/>
          <p:cNvSpPr txBox="1"/>
          <p:nvPr/>
        </p:nvSpPr>
        <p:spPr>
          <a:xfrm>
            <a:off x="762000" y="3471862"/>
            <a:ext cx="50958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Workflow automation replaces manual processes with rule-based software logic.</a:t>
            </a:r>
            <a:endParaRPr b="0" i="0" spc="0" sz="1400" u="none" cap="none" strike="noStrike">
              <a:solidFill>
                <a:srgbClr val="000000"/>
              </a:solidFill>
              <a:latin typeface="Arial"/>
              <a:ea typeface="Arial"/>
              <a:cs typeface="Arial"/>
              <a:sym typeface="Arial"/>
            </a:endParaRPr>
          </a:p>
        </p:txBody>
      </p:sp>
      <p:sp>
        <p:nvSpPr>
          <p:cNvPr id="279" name="Google Shape;279;p15"/>
          <p:cNvSpPr txBox="1"/>
          <p:nvPr/>
        </p:nvSpPr>
        <p:spPr>
          <a:xfrm>
            <a:off x="762000" y="4224337"/>
            <a:ext cx="50958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It seamlessly routes data, triggers actions across disparate systems, and eliminates bottlenecks with minimal human intervention, ensuring operational consistency and speed.</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83" name="Shape 283"/>
        <p:cNvGrpSpPr/>
        <p:nvPr/>
      </p:nvGrpSpPr>
      <p:grpSpPr>
        <a:xfrm>
          <a:off x="0" y="0"/>
          <a:ext cx="0" cy="0"/>
          <a:chOff x="0" y="0"/>
          <a:chExt cx="0" cy="0"/>
        </a:xfrm>
      </p:grpSpPr>
      <p:pic>
        <p:nvPicPr>
          <p:cNvPr descr="image.png" id="284" name="Google Shape;284;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85" name="Google Shape;285;p16"/>
          <p:cNvPicPr preferRelativeResize="0"/>
          <p:nvPr/>
        </p:nvPicPr>
        <p:blipFill rotWithShape="1">
          <a:blip r:embed="rId4">
            <a:alphaModFix/>
          </a:blip>
          <a:srcRect b="0" l="0" r="0" t="0"/>
          <a:stretch/>
        </p:blipFill>
        <p:spPr>
          <a:xfrm>
            <a:off x="571500" y="1504950"/>
            <a:ext cx="11049000" cy="4781550"/>
          </a:xfrm>
          <a:prstGeom prst="rect">
            <a:avLst/>
          </a:prstGeom>
          <a:noFill/>
          <a:ln>
            <a:noFill/>
          </a:ln>
        </p:spPr>
      </p:pic>
      <p:sp>
        <p:nvSpPr>
          <p:cNvPr id="286" name="Google Shape;286;p16"/>
          <p:cNvSpPr txBox="1"/>
          <p:nvPr/>
        </p:nvSpPr>
        <p:spPr>
          <a:xfrm>
            <a:off x="571500" y="5519737"/>
            <a:ext cx="11049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By automating repetitive workflows, professionals (like marketers and developers) are saving an average of 6+ hours weekly, inverting the traditional time model to focus primarily on high-value, strategic work.</a:t>
            </a:r>
            <a:endParaRPr b="0" i="0" spc="0" sz="1400" u="none" cap="none" strike="noStrike">
              <a:solidFill>
                <a:srgbClr val="000000"/>
              </a:solidFill>
              <a:latin typeface="Arial"/>
              <a:ea typeface="Arial"/>
              <a:cs typeface="Arial"/>
              <a:sym typeface="Arial"/>
            </a:endParaRPr>
          </a:p>
        </p:txBody>
      </p:sp>
      <p:sp>
        <p:nvSpPr>
          <p:cNvPr id="287" name="Google Shape;287;p16"/>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50"/>
              <a:buFont typeface="Arial"/>
              <a:buNone/>
            </a:pPr>
            <a:r>
              <a:rPr b="0" i="0" lang="en-US" spc="0" sz="3450" u="none" cap="none" strike="noStrike">
                <a:solidFill>
                  <a:srgbClr val="38BDF8"/>
                </a:solidFill>
                <a:latin typeface="Outfit SemiBold"/>
                <a:ea typeface="Outfit SemiBold"/>
                <a:cs typeface="Outfit SemiBold"/>
                <a:sym typeface="Outfit SemiBold"/>
              </a:rPr>
              <a:t>The ROI of Automation: Time Shift</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91" name="Shape 291"/>
        <p:cNvGrpSpPr/>
        <p:nvPr/>
      </p:nvGrpSpPr>
      <p:grpSpPr>
        <a:xfrm>
          <a:off x="0" y="0"/>
          <a:ext cx="0" cy="0"/>
          <a:chOff x="0" y="0"/>
          <a:chExt cx="0" cy="0"/>
        </a:xfrm>
      </p:grpSpPr>
      <p:pic>
        <p:nvPicPr>
          <p:cNvPr descr="image.png" id="292" name="Google Shape;292;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93" name="Google Shape;293;p17"/>
          <p:cNvPicPr preferRelativeResize="0"/>
          <p:nvPr/>
        </p:nvPicPr>
        <p:blipFill rotWithShape="1">
          <a:blip r:embed="rId4">
            <a:alphaModFix/>
          </a:blip>
          <a:srcRect b="0" l="0" r="0" t="0"/>
          <a:stretch/>
        </p:blipFill>
        <p:spPr>
          <a:xfrm>
            <a:off x="571500" y="2114550"/>
            <a:ext cx="5238750" cy="3562350"/>
          </a:xfrm>
          <a:prstGeom prst="rect">
            <a:avLst/>
          </a:prstGeom>
          <a:noFill/>
          <a:ln>
            <a:noFill/>
          </a:ln>
        </p:spPr>
      </p:pic>
      <p:pic>
        <p:nvPicPr>
          <p:cNvPr descr="image.png" id="294" name="Google Shape;294;p17"/>
          <p:cNvPicPr preferRelativeResize="0"/>
          <p:nvPr/>
        </p:nvPicPr>
        <p:blipFill rotWithShape="1">
          <a:blip r:embed="rId5">
            <a:alphaModFix/>
          </a:blip>
          <a:srcRect b="0" l="0" r="0" t="0"/>
          <a:stretch/>
        </p:blipFill>
        <p:spPr>
          <a:xfrm>
            <a:off x="6381750" y="2114550"/>
            <a:ext cx="5238750" cy="3562350"/>
          </a:xfrm>
          <a:prstGeom prst="rect">
            <a:avLst/>
          </a:prstGeom>
          <a:noFill/>
          <a:ln>
            <a:noFill/>
          </a:ln>
        </p:spPr>
      </p:pic>
      <p:sp>
        <p:nvSpPr>
          <p:cNvPr id="295" name="Google Shape;295;p17"/>
          <p:cNvSpPr txBox="1"/>
          <p:nvPr/>
        </p:nvSpPr>
        <p:spPr>
          <a:xfrm>
            <a:off x="962025" y="2505075"/>
            <a:ext cx="4680585" cy="3333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0" i="0" lang="en-US" spc="0" sz="2100" u="none" cap="none" strike="noStrike">
                <a:solidFill>
                  <a:srgbClr val="38BDF8"/>
                </a:solidFill>
                <a:latin typeface="Outfit Medium"/>
                <a:ea typeface="Outfit Medium"/>
                <a:cs typeface="Outfit Medium"/>
                <a:sym typeface="Outfit Medium"/>
              </a:rPr>
              <a:t>Traditional Automation (RPA)</a:t>
            </a:r>
            <a:endParaRPr b="0" i="0" spc="0" sz="1400" u="none" cap="none" strike="noStrike">
              <a:solidFill>
                <a:srgbClr val="000000"/>
              </a:solidFill>
              <a:latin typeface="Arial"/>
              <a:ea typeface="Arial"/>
              <a:cs typeface="Arial"/>
              <a:sym typeface="Arial"/>
            </a:endParaRPr>
          </a:p>
        </p:txBody>
      </p:sp>
      <p:sp>
        <p:nvSpPr>
          <p:cNvPr id="296" name="Google Shape;296;p17"/>
          <p:cNvSpPr txBox="1"/>
          <p:nvPr/>
        </p:nvSpPr>
        <p:spPr>
          <a:xfrm>
            <a:off x="962025" y="3028950"/>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Relies on strict, inflexible rules ("If this, then that").</a:t>
            </a:r>
            <a:endParaRPr b="0" i="0" spc="0" sz="1400" u="none" cap="none" strike="noStrike">
              <a:solidFill>
                <a:srgbClr val="000000"/>
              </a:solidFill>
              <a:latin typeface="Arial"/>
              <a:ea typeface="Arial"/>
              <a:cs typeface="Arial"/>
              <a:sym typeface="Arial"/>
            </a:endParaRPr>
          </a:p>
        </p:txBody>
      </p:sp>
      <p:sp>
        <p:nvSpPr>
          <p:cNvPr id="297" name="Google Shape;297;p17"/>
          <p:cNvSpPr txBox="1"/>
          <p:nvPr/>
        </p:nvSpPr>
        <p:spPr>
          <a:xfrm>
            <a:off x="962025" y="3781425"/>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Works only with highly structured data in predictable environments.</a:t>
            </a:r>
            <a:endParaRPr b="0" i="0" spc="0" sz="1400" u="none" cap="none" strike="noStrike">
              <a:solidFill>
                <a:srgbClr val="000000"/>
              </a:solidFill>
              <a:latin typeface="Arial"/>
              <a:ea typeface="Arial"/>
              <a:cs typeface="Arial"/>
              <a:sym typeface="Arial"/>
            </a:endParaRPr>
          </a:p>
        </p:txBody>
      </p:sp>
      <p:sp>
        <p:nvSpPr>
          <p:cNvPr id="298" name="Google Shape;298;p17"/>
          <p:cNvSpPr txBox="1"/>
          <p:nvPr/>
        </p:nvSpPr>
        <p:spPr>
          <a:xfrm>
            <a:off x="962025" y="4533900"/>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Breaks easily if the underlying application interface changes.</a:t>
            </a:r>
            <a:endParaRPr b="0" i="0" spc="0" sz="1400" u="none" cap="none" strike="noStrike">
              <a:solidFill>
                <a:srgbClr val="000000"/>
              </a:solidFill>
              <a:latin typeface="Arial"/>
              <a:ea typeface="Arial"/>
              <a:cs typeface="Arial"/>
              <a:sym typeface="Arial"/>
            </a:endParaRPr>
          </a:p>
        </p:txBody>
      </p:sp>
      <p:sp>
        <p:nvSpPr>
          <p:cNvPr id="299" name="Google Shape;299;p17"/>
          <p:cNvSpPr txBox="1"/>
          <p:nvPr/>
        </p:nvSpPr>
        <p:spPr>
          <a:xfrm>
            <a:off x="6772275" y="2505075"/>
            <a:ext cx="4680585" cy="3333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0" i="0" lang="en-US" spc="0" sz="2100" u="none" cap="none" strike="noStrike">
                <a:solidFill>
                  <a:srgbClr val="818CF8"/>
                </a:solidFill>
                <a:latin typeface="Outfit Medium"/>
                <a:ea typeface="Outfit Medium"/>
                <a:cs typeface="Outfit Medium"/>
                <a:sym typeface="Outfit Medium"/>
              </a:rPr>
              <a:t>Intelligent Automation (AI + RPA)</a:t>
            </a:r>
            <a:endParaRPr b="0" i="0" spc="0" sz="1400" u="none" cap="none" strike="noStrike">
              <a:solidFill>
                <a:srgbClr val="000000"/>
              </a:solidFill>
              <a:latin typeface="Arial"/>
              <a:ea typeface="Arial"/>
              <a:cs typeface="Arial"/>
              <a:sym typeface="Arial"/>
            </a:endParaRPr>
          </a:p>
        </p:txBody>
      </p:sp>
      <p:sp>
        <p:nvSpPr>
          <p:cNvPr id="300" name="Google Shape;300;p17"/>
          <p:cNvSpPr txBox="1"/>
          <p:nvPr/>
        </p:nvSpPr>
        <p:spPr>
          <a:xfrm>
            <a:off x="6772275" y="3028950"/>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Incorporates machine learning to adapt to exceptions and changing data.</a:t>
            </a:r>
            <a:endParaRPr b="0" i="0" spc="0" sz="1400" u="none" cap="none" strike="noStrike">
              <a:solidFill>
                <a:srgbClr val="000000"/>
              </a:solidFill>
              <a:latin typeface="Arial"/>
              <a:ea typeface="Arial"/>
              <a:cs typeface="Arial"/>
              <a:sym typeface="Arial"/>
            </a:endParaRPr>
          </a:p>
        </p:txBody>
      </p:sp>
      <p:sp>
        <p:nvSpPr>
          <p:cNvPr id="301" name="Google Shape;301;p17"/>
          <p:cNvSpPr txBox="1"/>
          <p:nvPr/>
        </p:nvSpPr>
        <p:spPr>
          <a:xfrm>
            <a:off x="6772275" y="3781425"/>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Can parse and process unstructured data (emails, PDFs, images) on the fly.</a:t>
            </a:r>
            <a:endParaRPr b="0" i="0" spc="0" sz="1400" u="none" cap="none" strike="noStrike">
              <a:solidFill>
                <a:srgbClr val="000000"/>
              </a:solidFill>
              <a:latin typeface="Arial"/>
              <a:ea typeface="Arial"/>
              <a:cs typeface="Arial"/>
              <a:sym typeface="Arial"/>
            </a:endParaRPr>
          </a:p>
        </p:txBody>
      </p:sp>
      <p:sp>
        <p:nvSpPr>
          <p:cNvPr id="302" name="Google Shape;302;p17"/>
          <p:cNvSpPr txBox="1"/>
          <p:nvPr/>
        </p:nvSpPr>
        <p:spPr>
          <a:xfrm>
            <a:off x="6772275" y="4533900"/>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Continuously improves accuracy based on human-in-the-loop feedback.</a:t>
            </a:r>
            <a:endParaRPr b="0" i="0" spc="0" sz="1400" u="none" cap="none" strike="noStrike">
              <a:solidFill>
                <a:srgbClr val="000000"/>
              </a:solidFill>
              <a:latin typeface="Arial"/>
              <a:ea typeface="Arial"/>
              <a:cs typeface="Arial"/>
              <a:sym typeface="Arial"/>
            </a:endParaRPr>
          </a:p>
        </p:txBody>
      </p:sp>
      <p:sp>
        <p:nvSpPr>
          <p:cNvPr id="303" name="Google Shape;303;p17"/>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50"/>
              <a:buFont typeface="Arial"/>
              <a:buNone/>
            </a:pPr>
            <a:r>
              <a:rPr b="0" i="0" lang="en-US" spc="0" sz="3450" u="none" cap="none" strike="noStrike">
                <a:solidFill>
                  <a:srgbClr val="38BDF8"/>
                </a:solidFill>
                <a:latin typeface="Outfit SemiBold"/>
                <a:ea typeface="Outfit SemiBold"/>
                <a:cs typeface="Outfit SemiBold"/>
                <a:sym typeface="Outfit SemiBold"/>
              </a:rPr>
              <a:t>The Paradigm Shift: Intelligent Automation</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07" name="Shape 307"/>
        <p:cNvGrpSpPr/>
        <p:nvPr/>
      </p:nvGrpSpPr>
      <p:grpSpPr>
        <a:xfrm>
          <a:off x="0" y="0"/>
          <a:ext cx="0" cy="0"/>
          <a:chOff x="0" y="0"/>
          <a:chExt cx="0" cy="0"/>
        </a:xfrm>
      </p:grpSpPr>
      <p:pic>
        <p:nvPicPr>
          <p:cNvPr descr="image.png" id="308" name="Google Shape;308;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A clean, modern enterprise data dashboard interface showing colorful charts, graphs, and analytics metrics, in a dark mode style that blends with a dark blue theme." id="309" name="Google Shape;309;p18"/>
          <p:cNvPicPr preferRelativeResize="0"/>
          <p:nvPr/>
        </p:nvPicPr>
        <p:blipFill rotWithShape="1">
          <a:blip r:embed="rId4">
            <a:alphaModFix/>
          </a:blip>
          <a:srcRect b="13636" l="0" r="0" t="13636"/>
          <a:stretch/>
        </p:blipFill>
        <p:spPr>
          <a:xfrm>
            <a:off x="571500" y="1962150"/>
            <a:ext cx="3492600" cy="1905000"/>
          </a:xfrm>
          <a:prstGeom prst="roundRect">
            <a:avLst>
              <a:gd fmla="val 6000" name="adj"/>
            </a:avLst>
          </a:prstGeom>
          <a:noFill/>
          <a:ln>
            <a:noFill/>
          </a:ln>
        </p:spPr>
      </p:pic>
      <p:pic>
        <p:nvPicPr>
          <p:cNvPr descr="image.png" id="310" name="Google Shape;310;p18"/>
          <p:cNvPicPr preferRelativeResize="0"/>
          <p:nvPr/>
        </p:nvPicPr>
        <p:blipFill rotWithShape="1">
          <a:blip r:embed="rId5">
            <a:alphaModFix/>
          </a:blip>
          <a:srcRect b="0" l="0" r="0" t="0"/>
          <a:stretch/>
        </p:blipFill>
        <p:spPr>
          <a:xfrm>
            <a:off x="4349799" y="1962150"/>
            <a:ext cx="3492549" cy="1905000"/>
          </a:xfrm>
          <a:prstGeom prst="rect">
            <a:avLst/>
          </a:prstGeom>
          <a:noFill/>
          <a:ln>
            <a:noFill/>
          </a:ln>
        </p:spPr>
      </p:pic>
      <p:pic>
        <p:nvPicPr>
          <p:cNvPr descr="image.png" id="311" name="Google Shape;311;p18"/>
          <p:cNvPicPr preferRelativeResize="0"/>
          <p:nvPr/>
        </p:nvPicPr>
        <p:blipFill rotWithShape="1">
          <a:blip r:embed="rId6">
            <a:alphaModFix/>
          </a:blip>
          <a:srcRect b="0" l="0" r="0" t="0"/>
          <a:stretch/>
        </p:blipFill>
        <p:spPr>
          <a:xfrm>
            <a:off x="8128099" y="1962150"/>
            <a:ext cx="3492549" cy="1905000"/>
          </a:xfrm>
          <a:prstGeom prst="rect">
            <a:avLst/>
          </a:prstGeom>
          <a:noFill/>
          <a:ln>
            <a:noFill/>
          </a:ln>
        </p:spPr>
      </p:pic>
      <p:sp>
        <p:nvSpPr>
          <p:cNvPr id="312" name="Google Shape;312;p18"/>
          <p:cNvSpPr txBox="1"/>
          <p:nvPr/>
        </p:nvSpPr>
        <p:spPr>
          <a:xfrm>
            <a:off x="571500" y="4105275"/>
            <a:ext cx="3667200" cy="2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0" i="0" lang="en-US" spc="0" sz="1650" u="none" cap="none" strike="noStrike">
                <a:solidFill>
                  <a:srgbClr val="F8FAFC"/>
                </a:solidFill>
                <a:latin typeface="Outfit Medium"/>
                <a:ea typeface="Outfit Medium"/>
                <a:cs typeface="Outfit Medium"/>
                <a:sym typeface="Outfit Medium"/>
              </a:rPr>
              <a:t>Data Operations</a:t>
            </a:r>
            <a:endParaRPr b="0" i="0" spc="0" sz="1400" u="none" cap="none" strike="noStrike">
              <a:solidFill>
                <a:srgbClr val="000000"/>
              </a:solidFill>
              <a:latin typeface="Arial"/>
              <a:ea typeface="Arial"/>
              <a:cs typeface="Arial"/>
              <a:sym typeface="Arial"/>
            </a:endParaRPr>
          </a:p>
        </p:txBody>
      </p:sp>
      <p:sp>
        <p:nvSpPr>
          <p:cNvPr id="313" name="Google Shape;313;p18"/>
          <p:cNvSpPr txBox="1"/>
          <p:nvPr/>
        </p:nvSpPr>
        <p:spPr>
          <a:xfrm>
            <a:off x="571500" y="4467225"/>
            <a:ext cx="34926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AI automatically extracts key metrics from unstructured reports and populates dashboards instantly.</a:t>
            </a:r>
            <a:endParaRPr b="0" i="0" spc="0" sz="1400" u="none" cap="none" strike="noStrike">
              <a:solidFill>
                <a:srgbClr val="000000"/>
              </a:solidFill>
              <a:latin typeface="Arial"/>
              <a:ea typeface="Arial"/>
              <a:cs typeface="Arial"/>
              <a:sym typeface="Arial"/>
            </a:endParaRPr>
          </a:p>
        </p:txBody>
      </p:sp>
      <p:sp>
        <p:nvSpPr>
          <p:cNvPr id="314" name="Google Shape;314;p18"/>
          <p:cNvSpPr txBox="1"/>
          <p:nvPr/>
        </p:nvSpPr>
        <p:spPr>
          <a:xfrm>
            <a:off x="4349799" y="4105275"/>
            <a:ext cx="3667200" cy="2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0" i="0" lang="en-US" spc="0" sz="1650" u="none" cap="none" strike="noStrike">
                <a:solidFill>
                  <a:srgbClr val="F8FAFC"/>
                </a:solidFill>
                <a:latin typeface="Outfit Medium"/>
                <a:ea typeface="Outfit Medium"/>
                <a:cs typeface="Outfit Medium"/>
                <a:sym typeface="Outfit Medium"/>
              </a:rPr>
              <a:t>Customer Success</a:t>
            </a:r>
            <a:endParaRPr b="0" i="0" spc="0" sz="1400" u="none" cap="none" strike="noStrike">
              <a:solidFill>
                <a:srgbClr val="000000"/>
              </a:solidFill>
              <a:latin typeface="Arial"/>
              <a:ea typeface="Arial"/>
              <a:cs typeface="Arial"/>
              <a:sym typeface="Arial"/>
            </a:endParaRPr>
          </a:p>
        </p:txBody>
      </p:sp>
      <p:sp>
        <p:nvSpPr>
          <p:cNvPr id="315" name="Google Shape;315;p18"/>
          <p:cNvSpPr txBox="1"/>
          <p:nvPr/>
        </p:nvSpPr>
        <p:spPr>
          <a:xfrm>
            <a:off x="4349799" y="4467225"/>
            <a:ext cx="34926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Intelligent routing categorizes support tickets by sentiment and drafts personalized initial responses.</a:t>
            </a:r>
            <a:endParaRPr b="0" i="0" spc="0" sz="1400" u="none" cap="none" strike="noStrike">
              <a:solidFill>
                <a:srgbClr val="000000"/>
              </a:solidFill>
              <a:latin typeface="Arial"/>
              <a:ea typeface="Arial"/>
              <a:cs typeface="Arial"/>
              <a:sym typeface="Arial"/>
            </a:endParaRPr>
          </a:p>
        </p:txBody>
      </p:sp>
      <p:sp>
        <p:nvSpPr>
          <p:cNvPr id="316" name="Google Shape;316;p18"/>
          <p:cNvSpPr txBox="1"/>
          <p:nvPr/>
        </p:nvSpPr>
        <p:spPr>
          <a:xfrm>
            <a:off x="8128099" y="4105275"/>
            <a:ext cx="3667200" cy="2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50"/>
              <a:buFont typeface="Arial"/>
              <a:buNone/>
            </a:pPr>
            <a:r>
              <a:rPr b="0" i="0" lang="en-US" spc="0" sz="1650" u="none" cap="none" strike="noStrike">
                <a:solidFill>
                  <a:srgbClr val="F8FAFC"/>
                </a:solidFill>
                <a:latin typeface="Outfit Medium"/>
                <a:ea typeface="Outfit Medium"/>
                <a:cs typeface="Outfit Medium"/>
                <a:sym typeface="Outfit Medium"/>
              </a:rPr>
              <a:t>HR Onboarding</a:t>
            </a:r>
            <a:endParaRPr b="0" i="0" spc="0" sz="1400" u="none" cap="none" strike="noStrike">
              <a:solidFill>
                <a:srgbClr val="000000"/>
              </a:solidFill>
              <a:latin typeface="Arial"/>
              <a:ea typeface="Arial"/>
              <a:cs typeface="Arial"/>
              <a:sym typeface="Arial"/>
            </a:endParaRPr>
          </a:p>
        </p:txBody>
      </p:sp>
      <p:sp>
        <p:nvSpPr>
          <p:cNvPr id="317" name="Google Shape;317;p18"/>
          <p:cNvSpPr txBox="1"/>
          <p:nvPr/>
        </p:nvSpPr>
        <p:spPr>
          <a:xfrm>
            <a:off x="8128099" y="4467225"/>
            <a:ext cx="34926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Automated workflows provision software accounts, schedule meetings, and guide new hires dynamically.</a:t>
            </a:r>
            <a:endParaRPr b="0" i="0" spc="0" sz="1400" u="none" cap="none" strike="noStrike">
              <a:solidFill>
                <a:srgbClr val="000000"/>
              </a:solidFill>
              <a:latin typeface="Arial"/>
              <a:ea typeface="Arial"/>
              <a:cs typeface="Arial"/>
              <a:sym typeface="Arial"/>
            </a:endParaRPr>
          </a:p>
        </p:txBody>
      </p:sp>
      <p:pic>
        <p:nvPicPr>
          <p:cNvPr descr="image.png" id="318" name="Google Shape;318;p18"/>
          <p:cNvPicPr preferRelativeResize="0"/>
          <p:nvPr/>
        </p:nvPicPr>
        <p:blipFill rotWithShape="1">
          <a:blip r:embed="rId7">
            <a:alphaModFix/>
          </a:blip>
          <a:srcRect b="0" l="0" r="0" t="0"/>
          <a:stretch/>
        </p:blipFill>
        <p:spPr>
          <a:xfrm>
            <a:off x="4359324" y="1971675"/>
            <a:ext cx="3473499" cy="1885950"/>
          </a:xfrm>
          <a:prstGeom prst="rect">
            <a:avLst/>
          </a:prstGeom>
          <a:noFill/>
          <a:ln>
            <a:noFill/>
          </a:ln>
        </p:spPr>
      </p:pic>
      <p:pic>
        <p:nvPicPr>
          <p:cNvPr descr="image.png" id="319" name="Google Shape;319;p18"/>
          <p:cNvPicPr preferRelativeResize="0"/>
          <p:nvPr/>
        </p:nvPicPr>
        <p:blipFill rotWithShape="1">
          <a:blip r:embed="rId8">
            <a:alphaModFix/>
          </a:blip>
          <a:srcRect b="0" l="0" r="0" t="0"/>
          <a:stretch/>
        </p:blipFill>
        <p:spPr>
          <a:xfrm>
            <a:off x="8137624" y="1971675"/>
            <a:ext cx="3473499" cy="1885950"/>
          </a:xfrm>
          <a:prstGeom prst="rect">
            <a:avLst/>
          </a:prstGeom>
          <a:noFill/>
          <a:ln>
            <a:noFill/>
          </a:ln>
        </p:spPr>
      </p:pic>
      <p:sp>
        <p:nvSpPr>
          <p:cNvPr id="320" name="Google Shape;320;p18"/>
          <p:cNvSpPr txBox="1"/>
          <p:nvPr/>
        </p:nvSpPr>
        <p:spPr>
          <a:xfrm>
            <a:off x="571500" y="571500"/>
            <a:ext cx="11601600" cy="5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450"/>
              <a:buFont typeface="Arial"/>
              <a:buNone/>
            </a:pPr>
            <a:r>
              <a:rPr b="0" i="0" lang="en-US" spc="0" sz="3450" u="none" cap="none" strike="noStrike">
                <a:solidFill>
                  <a:srgbClr val="38BDF8"/>
                </a:solidFill>
                <a:latin typeface="Outfit SemiBold"/>
                <a:ea typeface="Outfit SemiBold"/>
                <a:cs typeface="Outfit SemiBold"/>
                <a:sym typeface="Outfit SemiBold"/>
              </a:rPr>
              <a:t>Real-World Enterprise Applications</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24" name="Shape 324"/>
        <p:cNvGrpSpPr/>
        <p:nvPr/>
      </p:nvGrpSpPr>
      <p:grpSpPr>
        <a:xfrm>
          <a:off x="0" y="0"/>
          <a:ext cx="0" cy="0"/>
          <a:chOff x="0" y="0"/>
          <a:chExt cx="0" cy="0"/>
        </a:xfrm>
      </p:grpSpPr>
      <p:pic>
        <p:nvPicPr>
          <p:cNvPr descr="image.png" id="325" name="Google Shape;325;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26" name="Google Shape;326;p19"/>
          <p:cNvSpPr txBox="1"/>
          <p:nvPr/>
        </p:nvSpPr>
        <p:spPr>
          <a:xfrm>
            <a:off x="2800588" y="2206079"/>
            <a:ext cx="6590823" cy="77152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800"/>
              <a:buFont typeface="Arial"/>
              <a:buNone/>
            </a:pPr>
            <a:r>
              <a:rPr b="1" i="0" lang="en-US" spc="0" sz="4800" u="none" cap="none" strike="noStrike">
                <a:solidFill>
                  <a:srgbClr val="F8FAFC"/>
                </a:solidFill>
                <a:latin typeface="Outfit"/>
                <a:ea typeface="Outfit"/>
                <a:cs typeface="Outfit"/>
                <a:sym typeface="Outfit"/>
              </a:rPr>
              <a:t>Part 3: Interactive Labs</a:t>
            </a:r>
            <a:endParaRPr b="0" i="0" spc="0" sz="1400" u="none" cap="none" strike="noStrike">
              <a:solidFill>
                <a:srgbClr val="000000"/>
              </a:solidFill>
              <a:latin typeface="Arial"/>
              <a:ea typeface="Arial"/>
              <a:cs typeface="Arial"/>
              <a:sym typeface="Arial"/>
            </a:endParaRPr>
          </a:p>
        </p:txBody>
      </p:sp>
      <p:sp>
        <p:nvSpPr>
          <p:cNvPr id="327" name="Google Shape;327;p19"/>
          <p:cNvSpPr/>
          <p:nvPr/>
        </p:nvSpPr>
        <p:spPr>
          <a:xfrm>
            <a:off x="5619750" y="3453854"/>
            <a:ext cx="952500" cy="38100"/>
          </a:xfrm>
          <a:prstGeom prst="rect">
            <a:avLst/>
          </a:prstGeom>
          <a:solidFill>
            <a:srgbClr val="0EA5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sp>
        <p:nvSpPr>
          <p:cNvPr id="328" name="Google Shape;328;p19"/>
          <p:cNvSpPr txBox="1"/>
          <p:nvPr/>
        </p:nvSpPr>
        <p:spPr>
          <a:xfrm>
            <a:off x="2762250" y="3777704"/>
            <a:ext cx="6667500" cy="731341"/>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Clr>
                <a:srgbClr val="000000"/>
              </a:buClr>
              <a:buSzPts val="1800"/>
              <a:buFont typeface="Arial"/>
              <a:buNone/>
            </a:pPr>
            <a:r>
              <a:rPr b="0" i="0" lang="en-US" spc="0" sz="1800" u="none" cap="none" strike="noStrike">
                <a:solidFill>
                  <a:srgbClr val="CBD5E1"/>
                </a:solidFill>
                <a:latin typeface="Inter"/>
                <a:ea typeface="Inter"/>
                <a:cs typeface="Inter"/>
                <a:sym typeface="Inter"/>
              </a:rPr>
              <a:t>Transitioning from theory to practice with hands-on exercises.</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32" name="Shape 332"/>
        <p:cNvGrpSpPr/>
        <p:nvPr/>
      </p:nvGrpSpPr>
      <p:grpSpPr>
        <a:xfrm>
          <a:off x="0" y="0"/>
          <a:ext cx="0" cy="0"/>
          <a:chOff x="0" y="0"/>
          <a:chExt cx="0" cy="0"/>
        </a:xfrm>
      </p:grpSpPr>
      <p:pic>
        <p:nvPicPr>
          <p:cNvPr descr="image.png" id="333" name="Google Shape;333;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4" name="Google Shape;334;p20"/>
          <p:cNvSpPr txBox="1"/>
          <p:nvPr/>
        </p:nvSpPr>
        <p:spPr>
          <a:xfrm>
            <a:off x="2860595" y="2717452"/>
            <a:ext cx="6470808" cy="62865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4500"/>
              <a:buFont typeface="Arial"/>
              <a:buNone/>
            </a:pPr>
            <a:r>
              <a:rPr b="1" i="0" lang="en-US" spc="0" sz="4500" u="none" cap="none" strike="noStrike">
                <a:solidFill>
                  <a:srgbClr val="F8FAFC"/>
                </a:solidFill>
                <a:latin typeface="Outfit"/>
                <a:ea typeface="Outfit"/>
                <a:cs typeface="Outfit"/>
                <a:sym typeface="Outfit"/>
              </a:rPr>
              <a:t>Lab 1: </a:t>
            </a:r>
            <a:r>
              <a:rPr b="1" i="0" lang="en-US" spc="0" sz="4500" u="none" cap="none" strike="noStrike">
                <a:solidFill>
                  <a:srgbClr val="38BDF8"/>
                </a:solidFill>
                <a:latin typeface="Outfit"/>
                <a:ea typeface="Outfit"/>
                <a:cs typeface="Outfit"/>
                <a:sym typeface="Outfit"/>
              </a:rPr>
              <a:t>AI in Action</a:t>
            </a:r>
            <a:endParaRPr b="0" i="0" spc="0" sz="1400" u="none" cap="none" strike="noStrike">
              <a:solidFill>
                <a:srgbClr val="000000"/>
              </a:solidFill>
              <a:latin typeface="Arial"/>
              <a:ea typeface="Arial"/>
              <a:cs typeface="Arial"/>
              <a:sym typeface="Arial"/>
            </a:endParaRPr>
          </a:p>
        </p:txBody>
      </p:sp>
      <p:sp>
        <p:nvSpPr>
          <p:cNvPr id="335" name="Google Shape;335;p20"/>
          <p:cNvSpPr txBox="1"/>
          <p:nvPr/>
        </p:nvSpPr>
        <p:spPr>
          <a:xfrm>
            <a:off x="3014662" y="3631852"/>
            <a:ext cx="616267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Clr>
                <a:srgbClr val="000000"/>
              </a:buClr>
              <a:buSzPts val="1800"/>
              <a:buFont typeface="Arial"/>
              <a:buNone/>
            </a:pPr>
            <a:r>
              <a:rPr b="0" i="0" lang="en-US" spc="0" sz="1800" u="none" cap="none" strike="noStrike">
                <a:solidFill>
                  <a:srgbClr val="CBD5E1"/>
                </a:solidFill>
                <a:latin typeface="Inter"/>
                <a:ea typeface="Inter"/>
                <a:cs typeface="Inter"/>
                <a:sym typeface="Inter"/>
              </a:rPr>
              <a:t>Experiencing unstructured data extraction and synthesis.</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39" name="Shape 339"/>
        <p:cNvGrpSpPr/>
        <p:nvPr/>
      </p:nvGrpSpPr>
      <p:grpSpPr>
        <a:xfrm>
          <a:off x="0" y="0"/>
          <a:ext cx="0" cy="0"/>
          <a:chOff x="0" y="0"/>
          <a:chExt cx="0" cy="0"/>
        </a:xfrm>
      </p:grpSpPr>
      <p:pic>
        <p:nvPicPr>
          <p:cNvPr descr="image.png" id="340" name="Google Shape;340;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1" name="Google Shape;341;p21"/>
          <p:cNvSpPr txBox="1"/>
          <p:nvPr/>
        </p:nvSpPr>
        <p:spPr>
          <a:xfrm>
            <a:off x="2150506" y="2717452"/>
            <a:ext cx="7890986" cy="62865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4500"/>
              <a:buFont typeface="Arial"/>
              <a:buNone/>
            </a:pPr>
            <a:r>
              <a:rPr b="1" i="0" lang="en-US" spc="0" sz="4500" u="none" cap="none" strike="noStrike">
                <a:solidFill>
                  <a:srgbClr val="F8FAFC"/>
                </a:solidFill>
                <a:latin typeface="Outfit"/>
                <a:ea typeface="Outfit"/>
                <a:cs typeface="Outfit"/>
                <a:sym typeface="Outfit"/>
              </a:rPr>
              <a:t>Lab 2: </a:t>
            </a:r>
            <a:r>
              <a:rPr b="1" i="0" lang="en-US" spc="0" sz="4500" u="none" cap="none" strike="noStrike">
                <a:solidFill>
                  <a:srgbClr val="38BDF8"/>
                </a:solidFill>
                <a:latin typeface="Outfit"/>
                <a:ea typeface="Outfit"/>
                <a:cs typeface="Outfit"/>
                <a:sym typeface="Outfit"/>
              </a:rPr>
              <a:t>Automating Workflows</a:t>
            </a:r>
            <a:endParaRPr b="0" i="0" spc="0" sz="1400" u="none" cap="none" strike="noStrike">
              <a:solidFill>
                <a:srgbClr val="000000"/>
              </a:solidFill>
              <a:latin typeface="Arial"/>
              <a:ea typeface="Arial"/>
              <a:cs typeface="Arial"/>
              <a:sym typeface="Arial"/>
            </a:endParaRPr>
          </a:p>
        </p:txBody>
      </p:sp>
      <p:sp>
        <p:nvSpPr>
          <p:cNvPr id="342" name="Google Shape;342;p21"/>
          <p:cNvSpPr txBox="1"/>
          <p:nvPr/>
        </p:nvSpPr>
        <p:spPr>
          <a:xfrm>
            <a:off x="2338387" y="3631852"/>
            <a:ext cx="751522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Clr>
                <a:srgbClr val="000000"/>
              </a:buClr>
              <a:buSzPts val="1800"/>
              <a:buFont typeface="Arial"/>
              <a:buNone/>
            </a:pPr>
            <a:r>
              <a:rPr b="0" i="0" lang="en-US" spc="0" sz="1800" u="none" cap="none" strike="noStrike">
                <a:solidFill>
                  <a:srgbClr val="CBD5E1"/>
                </a:solidFill>
                <a:latin typeface="Inter"/>
                <a:ea typeface="Inter"/>
                <a:cs typeface="Inter"/>
                <a:sym typeface="Inter"/>
              </a:rPr>
              <a:t>Connecting applications to trigger intelligent actions.</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46" name="Shape 346"/>
        <p:cNvGrpSpPr/>
        <p:nvPr/>
      </p:nvGrpSpPr>
      <p:grpSpPr>
        <a:xfrm>
          <a:off x="0" y="0"/>
          <a:ext cx="0" cy="0"/>
          <a:chOff x="0" y="0"/>
          <a:chExt cx="0" cy="0"/>
        </a:xfrm>
      </p:grpSpPr>
      <p:pic>
        <p:nvPicPr>
          <p:cNvPr descr="image.png" id="347" name="Google Shape;347;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48" name="Google Shape;348;p22"/>
          <p:cNvPicPr preferRelativeResize="0"/>
          <p:nvPr/>
        </p:nvPicPr>
        <p:blipFill rotWithShape="1">
          <a:blip r:embed="rId4">
            <a:alphaModFix/>
          </a:blip>
          <a:srcRect b="0" l="0" r="0" t="0"/>
          <a:stretch/>
        </p:blipFill>
        <p:spPr>
          <a:xfrm>
            <a:off x="4071937" y="4205287"/>
            <a:ext cx="4048125" cy="523875"/>
          </a:xfrm>
          <a:prstGeom prst="rect">
            <a:avLst/>
          </a:prstGeom>
          <a:noFill/>
          <a:ln>
            <a:noFill/>
          </a:ln>
        </p:spPr>
      </p:pic>
      <p:sp>
        <p:nvSpPr>
          <p:cNvPr id="349" name="Google Shape;349;p22"/>
          <p:cNvSpPr txBox="1"/>
          <p:nvPr/>
        </p:nvSpPr>
        <p:spPr>
          <a:xfrm>
            <a:off x="295275" y="2128837"/>
            <a:ext cx="11601450" cy="96202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000"/>
              <a:buFont typeface="Arial"/>
              <a:buNone/>
            </a:pPr>
            <a:r>
              <a:rPr b="1" i="0" lang="en-US" spc="0" sz="6000" u="none" cap="none" strike="noStrike">
                <a:solidFill>
                  <a:srgbClr val="38BDF8"/>
                </a:solidFill>
                <a:latin typeface="Outfit"/>
                <a:ea typeface="Outfit"/>
                <a:cs typeface="Outfit"/>
                <a:sym typeface="Outfit"/>
              </a:rPr>
              <a:t>Questions &amp; Discussion</a:t>
            </a:r>
            <a:endParaRPr b="0" i="0" spc="0" sz="1400" u="none" cap="none" strike="noStrike">
              <a:solidFill>
                <a:srgbClr val="000000"/>
              </a:solidFill>
              <a:latin typeface="Arial"/>
              <a:ea typeface="Arial"/>
              <a:cs typeface="Arial"/>
              <a:sym typeface="Arial"/>
            </a:endParaRPr>
          </a:p>
        </p:txBody>
      </p:sp>
      <p:sp>
        <p:nvSpPr>
          <p:cNvPr id="350" name="Google Shape;350;p22"/>
          <p:cNvSpPr txBox="1"/>
          <p:nvPr/>
        </p:nvSpPr>
        <p:spPr>
          <a:xfrm>
            <a:off x="571500" y="3281362"/>
            <a:ext cx="110490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500"/>
              <a:buFont typeface="Arial"/>
              <a:buNone/>
            </a:pPr>
            <a:r>
              <a:rPr b="0" i="0" lang="en-US" spc="0" sz="1500" u="none" cap="none" strike="noStrike">
                <a:solidFill>
                  <a:srgbClr val="94A3B8"/>
                </a:solidFill>
                <a:latin typeface="Inter"/>
                <a:ea typeface="Inter"/>
                <a:cs typeface="Inter"/>
                <a:sym typeface="Inter"/>
              </a:rPr>
              <a:t>Thank you for attending Session 1.</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