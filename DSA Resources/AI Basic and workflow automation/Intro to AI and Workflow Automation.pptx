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Inter"/>
      <p:regular r:id="rId21"/>
      <p:bold r:id="rId22"/>
      <p:italic r:id="rId23"/>
      <p:boldItalic r:id="rId24"/>
    </p:embeddedFont>
    <p:embeddedFont>
      <p:font typeface="Outfit"/>
      <p:regular r:id="rId25"/>
      <p:bold r:id="rId26"/>
    </p:embeddedFont>
    <p:embeddedFont>
      <p:font typeface="Outfit SemiBold"/>
      <p:regular r:id="rId27"/>
      <p:bold r:id="rId28"/>
    </p:embeddedFont>
    <p:embeddedFont>
      <p:font typeface="Outfit Medium"/>
      <p:regular r:id="rId29"/>
      <p:bold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utfit-bold.fntdata"/><Relationship Id="rId25" Type="http://schemas.openxmlformats.org/officeDocument/2006/relationships/font" Target="fonts/Outfit-regular.fntdata"/><Relationship Id="rId28" Type="http://schemas.openxmlformats.org/officeDocument/2006/relationships/font" Target="fonts/OutfitSemiBold-bold.fntdata"/><Relationship Id="rId27" Type="http://schemas.openxmlformats.org/officeDocument/2006/relationships/font" Target="fonts/Outfi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utfi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regular.fntdata"/><Relationship Id="rId30" Type="http://schemas.openxmlformats.org/officeDocument/2006/relationships/font" Target="fonts/OutfitMedium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7.jp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241202"/>
            <a:ext cx="9001125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Introduction to </a:t>
            </a:r>
            <a:r>
              <a:rPr b="1" i="0" lang="en-US" sz="6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AI</a:t>
            </a:r>
            <a:r>
              <a:rPr b="1" i="0" lang="en-US" sz="6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&amp; </a:t>
            </a:r>
            <a:r>
              <a:rPr b="1" i="0" lang="en-US" sz="6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Workflow Automation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108102"/>
            <a:ext cx="857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875597" y="2206079"/>
            <a:ext cx="644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Part 1: </a:t>
            </a:r>
            <a:r>
              <a:rPr b="1" lang="en-US" sz="4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What is</a:t>
            </a:r>
            <a:r>
              <a:rPr b="1" i="0" lang="en-US" sz="4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AI?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453854"/>
            <a:ext cx="952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762250" y="3777704"/>
            <a:ext cx="6667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Understanding the core concepts, evolution, and current impact of Artificial Intelligence.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857250" y="18383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core definition: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AI refers to computer systems capable of performing tasks that typically require human intelligence.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57250" y="29432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Sense &amp; Comprehend: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Algorithms process massive amounts of unstructured data (text, vision, audio) to understand context.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57250" y="40481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Act &amp; Learn: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Systems make decisions, generate content, and adapt their models over time based on feedback and new data.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51530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Not just science fiction: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AI is a practical utility actively reshaping industries from healthcare to finance.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0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18383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29432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40481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51530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What is Artificial Intelligence?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571500" y="411480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07968" y="4467225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1980s: Rule-Based Systems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4876800"/>
            <a:ext cx="2541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"Expert Systems" programmed with explicit IF-THEN rules by humans. Rigid and difficult to scale.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3343888" y="2272903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2000s: Machine Learning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3407419" y="2682478"/>
            <a:ext cx="2541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Algorithms begin learning patterns from structured data without being explicitly programmed for every scenario.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179808" y="4467225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2010s: Deep Learning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243339" y="4876800"/>
            <a:ext cx="2541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Multi-layered neural networks process complex, unstructured data (like images and human speech) with high accuracy.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015728" y="2272903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2020s: Generative AI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079259" y="2682478"/>
            <a:ext cx="2541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Advanced foundation models (LLMs) that don't just classify data, but synthesize entirely new text, code, and imagery.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1746870" y="40386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582790" y="40386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7418709" y="40386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10254629" y="40386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Evolution of AI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1212"/>
            <a:ext cx="3492549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81212"/>
            <a:ext cx="3492549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81212"/>
            <a:ext cx="3492549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66775" y="3176587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Medium"/>
                <a:ea typeface="Outfit Medium"/>
                <a:cs typeface="Outfit Medium"/>
                <a:sym typeface="Outfit Medium"/>
              </a:rPr>
              <a:t>Machine Learning (ML)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66775" y="3652837"/>
            <a:ext cx="290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foundation. Training algorithms to find patterns in historical data to make predictions or decisions on new, unseen data.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45074" y="3176587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Medium"/>
                <a:ea typeface="Outfit Medium"/>
                <a:cs typeface="Outfit Medium"/>
                <a:sym typeface="Outfit Medium"/>
              </a:rPr>
              <a:t>Deep Learning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645074" y="3652837"/>
            <a:ext cx="290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subset of ML utilizing artificial neural networks with multiple layers. It excels at complex tasks like image and speech recognition.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23374" y="3176587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Medium"/>
                <a:ea typeface="Outfit Medium"/>
                <a:cs typeface="Outfit Medium"/>
                <a:sym typeface="Outfit Medium"/>
              </a:rPr>
              <a:t>Generative AI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423374" y="3652837"/>
            <a:ext cx="290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Models trained on vast datasets that create novel, high-quality content (text, audio, code, images) based on natural language prompts.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5074" y="25098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Three Pillars of Modern AI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66775" y="2553653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memory</a:t>
            </a:r>
            <a:endParaRPr sz="300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8423377" y="2553653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auto_awesome</a:t>
            </a:r>
            <a:endParaRPr sz="300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7915"/>
            <a:ext cx="5238750" cy="257547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1057275" y="3093690"/>
            <a:ext cx="426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91%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057275" y="4331940"/>
            <a:ext cx="4267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Enterprise Adoption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381750" y="2704951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AI is now the standard.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81750" y="3276451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 2026, 91% of businesses are utilizing AI in at least one capacity, up significantly from previous years. The global AI market revenue has surpassed $514 Billion.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381750" y="433372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focus has shifted entirely from "Should we adopt?" to "How do we measure ROI and scale integration?"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Current Landscape (2026)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1915477" y="2206079"/>
            <a:ext cx="836104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Part 2: Workflow Automation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619750" y="3453854"/>
            <a:ext cx="952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2762250" y="3777704"/>
            <a:ext cx="6667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Moving from manual, repetitive tasks to seamless, automated execution.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762000" y="762000"/>
            <a:ext cx="5350668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What is Workflow Automation?</a:t>
            </a:r>
            <a:endParaRPr/>
          </a:p>
        </p:txBody>
      </p:sp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762000" y="2947987"/>
            <a:ext cx="535066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Beyond Basic Task Execution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62000" y="3471862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Workflow automation replaces manual processes with rule-based software logic.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762000" y="4224337"/>
            <a:ext cx="50958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 seamlessly routes data, triggers actions across disparate systems, and eliminates bottlenecks with minimal human intervention, ensuring operational consistency and speed.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571500" y="551973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automating repetitive workflows, professionals (like marketers and developers) are saving an average of 6+ hours weekly, inverting the traditional time model to focus primarily on high-value, strategic work.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ROI of Automation: Time Shift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4550"/>
            <a:ext cx="523875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14550"/>
            <a:ext cx="523875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962025" y="250507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Medium"/>
                <a:ea typeface="Outfit Medium"/>
                <a:cs typeface="Outfit Medium"/>
                <a:sym typeface="Outfit Medium"/>
              </a:rPr>
              <a:t>Traditional Automation (RPA)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962025" y="30289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Relies on strict, inflexible rules ("If this, then that").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962025" y="378142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Works only with highly structured data in predictable environments.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962025" y="45339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Breaks easily if the underlying application interface changes.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6772275" y="250507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Intelligent Automation (AI + RPA)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772275" y="30289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Incorporates machine learning to adapt to exceptions and changing data.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6772275" y="378142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Can parse and process unstructured data (emails, PDFs, images) on the fly.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6772275" y="45339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Continuously improves accuracy based on human-in-the-loop feedback.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Paradigm Shift: Intelligent Automation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ean, modern enterprise data dashboard interface showing colorful charts, graphs, and analytics metrics, in a dark mode style that blends with a dark blue theme." id="207" name="Google Shape;207;p23"/>
          <p:cNvPicPr preferRelativeResize="0"/>
          <p:nvPr/>
        </p:nvPicPr>
        <p:blipFill rotWithShape="1">
          <a:blip r:embed="rId4">
            <a:alphaModFix/>
          </a:blip>
          <a:srcRect b="13636" l="0" r="0" t="13636"/>
          <a:stretch/>
        </p:blipFill>
        <p:spPr>
          <a:xfrm>
            <a:off x="571500" y="1962150"/>
            <a:ext cx="3492600" cy="1905000"/>
          </a:xfrm>
          <a:prstGeom prst="roundRect">
            <a:avLst>
              <a:gd fmla="val 6000" name="adj"/>
            </a:avLst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62150"/>
            <a:ext cx="34925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62150"/>
            <a:ext cx="349254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571500" y="4105275"/>
            <a:ext cx="366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Data Operations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4467225"/>
            <a:ext cx="3492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automatically extracts key metrics from unstructured reports and populates dashboards instantly.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4349799" y="4105275"/>
            <a:ext cx="366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Customer Success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4349799" y="4467225"/>
            <a:ext cx="3492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Intelligent routing categorizes support tickets by sentiment and drafts personalized initial responses.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8128099" y="4105275"/>
            <a:ext cx="366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HR Onboarding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8128099" y="4467225"/>
            <a:ext cx="3492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workflows provision software accounts, schedule meetings, and guide new hires dynamically.</a:t>
            </a:r>
            <a:endParaRPr/>
          </a:p>
        </p:txBody>
      </p:sp>
      <p:pic>
        <p:nvPicPr>
          <p:cNvPr descr="image.png" id="216" name="Google Shape;21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59324" y="1971675"/>
            <a:ext cx="347349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37624" y="1971675"/>
            <a:ext cx="3473499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571500" y="571500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Real-World Enterprise Applications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2800588" y="2206079"/>
            <a:ext cx="659082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Part 3: Interactive Labs</a:t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5619750" y="3453854"/>
            <a:ext cx="952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2762250" y="3777704"/>
            <a:ext cx="6667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Transitioning from theory to practice with hands-on exercises.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2860595" y="2717452"/>
            <a:ext cx="6470808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Lab 1: </a:t>
            </a: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AI in Action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3014662" y="3631852"/>
            <a:ext cx="61626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Experiencing unstructured data extraction and synthesis.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 txBox="1"/>
          <p:nvPr/>
        </p:nvSpPr>
        <p:spPr>
          <a:xfrm>
            <a:off x="2150506" y="2717452"/>
            <a:ext cx="7890986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Lab 2: </a:t>
            </a: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Automating Workflows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2338387" y="3631852"/>
            <a:ext cx="75152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Connecting applications to trigger intelligent actions.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1937" y="4205287"/>
            <a:ext cx="404812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 txBox="1"/>
          <p:nvPr/>
        </p:nvSpPr>
        <p:spPr>
          <a:xfrm>
            <a:off x="295275" y="2128837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Questions &amp; Discussion</a:t>
            </a:r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571500" y="32813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attending Session 1.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